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Frequency</c:v>
                </c:pt>
              </c:strCache>
            </c:strRef>
          </c:tx>
          <c:spPr>
            <a:solidFill>
              <a:srgbClr val="38BDF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18–24</c:v>
                  </c:pt>
                  <c:pt idx="1">
                    <c:v>25–34</c:v>
                  </c:pt>
                  <c:pt idx="2">
                    <c:v>35–44</c:v>
                  </c:pt>
                  <c:pt idx="3">
                    <c:v>45–54</c:v>
                  </c:pt>
                  <c:pt idx="4">
                    <c:v>55–64</c:v>
                  </c:pt>
                  <c:pt idx="5">
                    <c:v>65–74</c:v>
                  </c:pt>
                  <c:pt idx="6">
                    <c:v>75+</c:v>
                  </c:pt>
                </c:lvl>
              </c:multiLvlStrCache>
            </c:multiLvlStrRef>
          </c:cat>
          <c:val>
            <c:numRef>
              <c:f>Sheet1!$B$2:$B$8</c:f>
              <c:numCache>
                <c:formatCode>General</c:formatCode>
                <c:ptCount val="7"/>
                <c:pt idx="0">
                  <c:v>2.4</c:v>
                </c:pt>
                <c:pt idx="1">
                  <c:v>1.5</c:v>
                </c:pt>
                <c:pt idx="2">
                  <c:v>-2.7</c:v>
                </c:pt>
                <c:pt idx="3">
                  <c:v>-0.1</c:v>
                </c:pt>
                <c:pt idx="4">
                  <c:v>1.1</c:v>
                </c:pt>
                <c:pt idx="5">
                  <c:v>5.2</c:v>
                </c:pt>
                <c:pt idx="6">
                  <c:v>-11.6</c:v>
                </c:pt>
              </c:numCache>
            </c:numRef>
          </c:val>
        </c:ser>
        <c:ser>
          <c:idx val="1"/>
          <c:order val="1"/>
          <c:tx>
            <c:strRef>
              <c:f>Sheet1!$C$1</c:f>
              <c:strCache>
                <c:ptCount val="1"/>
                <c:pt idx="0">
                  <c:v>Severity</c:v>
                </c:pt>
              </c:strCache>
            </c:strRef>
          </c:tx>
          <c:spPr>
            <a:solidFill>
              <a:srgbClr val="A78BF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18–24</c:v>
                  </c:pt>
                  <c:pt idx="1">
                    <c:v>25–34</c:v>
                  </c:pt>
                  <c:pt idx="2">
                    <c:v>35–44</c:v>
                  </c:pt>
                  <c:pt idx="3">
                    <c:v>45–54</c:v>
                  </c:pt>
                  <c:pt idx="4">
                    <c:v>55–64</c:v>
                  </c:pt>
                  <c:pt idx="5">
                    <c:v>65–74</c:v>
                  </c:pt>
                  <c:pt idx="6">
                    <c:v>75+</c:v>
                  </c:pt>
                </c:lvl>
              </c:multiLvlStrCache>
            </c:multiLvlStrRef>
          </c:cat>
          <c:val>
            <c:numRef>
              <c:f>Sheet1!$C$2:$C$8</c:f>
              <c:numCache>
                <c:formatCode>General</c:formatCode>
                <c:ptCount val="7"/>
                <c:pt idx="0">
                  <c:v>74.3</c:v>
                </c:pt>
                <c:pt idx="1">
                  <c:v>16.7</c:v>
                </c:pt>
                <c:pt idx="2">
                  <c:v>-2.2</c:v>
                </c:pt>
                <c:pt idx="3">
                  <c:v>-16.4</c:v>
                </c:pt>
                <c:pt idx="4">
                  <c:v>31.5</c:v>
                </c:pt>
                <c:pt idx="5">
                  <c:v>6.8</c:v>
                </c:pt>
                <c:pt idx="6">
                  <c:v>-45.2</c:v>
                </c:pt>
              </c:numCache>
            </c:numRef>
          </c:val>
        </c:ser>
        <c:ser>
          <c:idx val="2"/>
          <c:order val="2"/>
          <c:tx>
            <c:strRef>
              <c:f>Sheet1!$D$1</c:f>
              <c:strCache>
                <c:ptCount val="1"/>
                <c:pt idx="0">
                  <c:v>Tweedie</c:v>
                </c:pt>
              </c:strCache>
            </c:strRef>
          </c:tx>
          <c:spPr>
            <a:solidFill>
              <a:srgbClr val="2DD4B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18–24</c:v>
                  </c:pt>
                  <c:pt idx="1">
                    <c:v>25–34</c:v>
                  </c:pt>
                  <c:pt idx="2">
                    <c:v>35–44</c:v>
                  </c:pt>
                  <c:pt idx="3">
                    <c:v>45–54</c:v>
                  </c:pt>
                  <c:pt idx="4">
                    <c:v>55–64</c:v>
                  </c:pt>
                  <c:pt idx="5">
                    <c:v>65–74</c:v>
                  </c:pt>
                  <c:pt idx="6">
                    <c:v>75+</c:v>
                  </c:pt>
                </c:lvl>
              </c:multiLvlStrCache>
            </c:multiLvlStrRef>
          </c:cat>
          <c:val>
            <c:numRef>
              <c:f>Sheet1!$D$2:$D$8</c:f>
              <c:numCache>
                <c:formatCode>General</c:formatCode>
                <c:ptCount val="7"/>
                <c:pt idx="0">
                  <c:v>114.2</c:v>
                </c:pt>
                <c:pt idx="1">
                  <c:v>4.1</c:v>
                </c:pt>
                <c:pt idx="2">
                  <c:v>-1.3</c:v>
                </c:pt>
                <c:pt idx="3">
                  <c:v>-12.8</c:v>
                </c:pt>
                <c:pt idx="4">
                  <c:v>33.2</c:v>
                </c:pt>
                <c:pt idx="5">
                  <c:v>16.1</c:v>
                </c:pt>
                <c:pt idx="6">
                  <c:v>-47.5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B5577"/>
            </a:solidFill>
            <a:prstDash val="solid"/>
            <a:round/>
          </a:ln>
        </c:spPr>
        <c:txPr>
          <a:bodyPr/>
          <a:lstStyle/>
          <a:p>
            <a:pPr>
              <a:defRPr sz="1100" b="0" i="0" u="none" strike="noStrike">
                <a:solidFill>
                  <a:srgbClr val="EEF4FB"/>
                </a:solidFill>
                <a:latin typeface="Segoe UI"/>
              </a:defRPr>
            </a:pPr>
            <a:endParaRPr lang="en-US"/>
          </a:p>
        </c:txPr>
        <c:crossAx val="2094734552"/>
        <c:crosses val="autoZero"/>
        <c:auto val="1"/>
        <c:lblAlgn val="ctr"/>
        <c:noMultiLvlLbl val="1"/>
      </c:catAx>
      <c:valAx>
        <c:axId val="2094734552"/>
        <c:scaling>
          <c:orientation val="minMax"/>
          <c:max val="120"/>
          <c:min val="-60"/>
        </c:scaling>
        <c:delete val="0"/>
        <c:axPos val="l"/>
        <c:majorGridlines>
          <c:spPr>
            <a:ln w="9525" cap="flat">
              <a:solidFill>
                <a:srgbClr val="1E3A5F"/>
              </a:solidFill>
              <a:prstDash val="solid"/>
              <a:round/>
            </a:ln>
          </c:spPr>
        </c:majorGridlines>
        <c:numFmt formatCode="+0&quot; %&quot;;-0&quot; %&quot;;0&quot; %&quot;" sourceLinked="0"/>
        <c:majorTickMark val="out"/>
        <c:minorTickMark val="none"/>
        <c:tickLblPos val="nextTo"/>
        <c:spPr>
          <a:ln w="12700" cap="flat">
            <a:noFill/>
            <a:prstDash val="solid"/>
            <a:round/>
          </a:ln>
        </c:spPr>
        <c:txPr>
          <a:bodyPr/>
          <a:lstStyle/>
          <a:p>
            <a:pPr>
              <a:defRPr sz="1000" b="0" i="0" u="none" strike="noStrike">
                <a:solidFill>
                  <a:srgbClr val="A9BBD0"/>
                </a:solidFill>
                <a:latin typeface="Segoe UI"/>
              </a:defRPr>
            </a:pPr>
            <a:endParaRPr lang="en-US"/>
          </a:p>
        </c:txPr>
        <c:crossAx val="2094734554"/>
        <c:crosses val="autoZero"/>
        <c:crossBetween val="between"/>
        <c:majorUnit val="3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30–60 Sekunden
Guten Tag und herzlich willkommen zu meiner Abschlusspräsentation.
Ich stelle Ihnen heute mein Projekt „Kfz Insurance Risk &amp; Pure Premium Intelligence Platform“ vor. Dahinter steht eine sehr praktische Frage aus der Kfz-Versicherung: Welche Schadenkosten sind für unterschiedliche Versicherungsprofile zu erwarten – und wie kann man diese Information sinnvoll nutzen?
Entstanden ist dabei kein einzelnes Notebook, sondern ein durchgängiger Prototyp: von der Datenbeschaffung über Datenqualität und Modellierung bis zu PostgreSQL, einem Power-BI-Dashboard und einer API.
Ich nehme Sie jetzt einmal durch diesen gesamten Weg – und zeige dabei auch offen, wo die Grenzen liegen.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Ein Kfz-Portfolio besteht aus sehr unterschiedlichen Risiken: junge und erfahrene Fahrer, neue und alte Fahrzeuge, ländliche und dicht besiedelte Regionen.
Schaut man nur auf die gesamte Schadensumme, sieht man nicht, woher die Kosten eigentlich kommen. Deshalb zerlege ich das Problem in drei Bausteine. [Auf die drei Karten links zeigen.]
Erstens die Schadenfrequenz: Wie oft passiert ein Schaden? Zweitens die Schadenhöhe: Wie teuer ist ein Schaden, wenn er eintritt? Und drittens die Exposure: Wie lange war eine Police tatsächlich versichert? Eine Police mit drei Monaten Laufzeit darf man nicht so behandeln wie eine Police mit einem ganzen Jahr.
Aus Frequenz und Schadenhöhe ergibt sich der Schadenbedarf – im Englischen Pure Premium. Das ist der statistisch erwartete jährliche Schadenaufwand einer Police.
Wichtig ist mir gleich zu Beginn eine Abgrenzung: Der Schadenbedarf ist kein Kundenpreis – Kosten, Vertrieb und Marge sind nicht enthalten. Und das System trifft keine automatischen Entscheidungen. Es soll Underwriting und Portfoliosteuerung unterstützen, nicht ersetzen.
Damit zur Frage: Mit welchen Daten habe ich gearbeitet?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45–75 Sekunden
Die Datengrundlage sind zwei öffentliche französische Kfz-Datensätze, die über OpenML bereitgestellt werden.
Der erste, freMTPL2freq, enthält 678.013 Policen – jeweils mit Schadenanzahl, Exposure und Risikomerkmalen wie Fahreralter, Bonus-Malus, Fahrzeugalter und Region.
Der zweite, freMTPL2sev, enthält 26.639 einzelne Schadenbeträge. Eine Police kann hier mehrere Zeilen haben.
Weil die beiden Tabellen unterschiedlich granular sind, habe ich die Schadenbeträge zuerst pro Police aggregiert und dann über die Policen-ID verknüpft. Das Ergebnis ist der Curated Layer mit genau einer Zeile pro Police.
Zwei Eigenschaften möchte ich hervorheben, weil sie später die Modellierung prägen. [Auf die beiden Kacheln unten rechts zeigen.] Fast 95 Prozent der Policen haben keinen Schaden. Und die Schadenhöhen sind extrem schief verteilt: 99 Prozent der Einzelschäden liegen unter etwa 16.800 Euro, der größte Einzelschaden aber bei rund 4 Millionen Euro.
Wie diese Daten technisch verarbeitet werden, zeigt die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Diese Folie zeigt die Architektur des Projekts auf einen Blick.
[Auf das obere Band zeigen.] Oben sehen Sie eine Entscheidung, die ganz am Anfang wichtig war. Geplant war ein automatisierter Abruf über die OpenML-API. In der Praxis kamen aber wiederholt HTTP-504-Fehler, also Timeouts auf der Serverseite. Eine Pipeline, die bei jedem Lauf an einer instabilen API hängt, ist nicht reproduzierbar.
Deshalb habe ich die beiden Datensätze direkt vom statischen Datenserver von OpenML heruntergeladen und unverändert lokal abgelegt. Die Ingestion-Pipeline prüft diese Dateien bei jedem Lauf: gegen ein Manifest, gegen Dateigröße und SHA256-Prüfsumme, gegen die Metadaten und gegen das erwartete Schema. Nur wenn alles passt, ist der Lauf PASS – und genau so war auch der letzte Lauf.
In der Mitte geht es weiter mit Datenqualität, Curated Layer, Feature Engineering und der Modellierung mit vier Perspektiven.
Rechts sehen Sie die Bereitstellung: Die Prognosen werden in PostgreSQL geladen und im Power-BI-Dashboard genutzt. Parallel dazu gibt es eine prototypische FastAPI-Schnittstelle.
Ein Baustein dieser Kette war methodisch besonders wichtig: die Datenqualität.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75–105 Sekunden
Für die Datenqualität habe ich neun automatisierte Prüfungen umgesetzt: vier mit PASS, zwei mit WARN und drei mit FAIL.
Das klingt zunächst kritisch – deshalb eine wichtige Unterscheidung. [Auf den Kasten „Wichtig“ zeigen.] Der Status beschreibt Befunde in den Rohdaten. Ein FAIL heißt nicht, dass der fertige Datensatz unbrauchbar ist, sondern dass an dieser Stelle eine bewusste Entscheidung nötig war.
Ein paar Beispiele: 1.224 Policen hatten eine Exposure von mehr als einem Jahr. Die habe ich nicht gelöscht, sondern auf 1,0 begrenzt und markiert. 195 Schadenzeilen gehören zu Policen, die es im Policen-Datensatz gar nicht gibt – ohne Risikomerkmale sind sie nicht modellierbar und deshalb ausgeschlossen. Und 255 mögliche Duplikate habe ich behalten, weil es ohne Schaden-ID keinen Beweis für ein echtes Duplikat gibt.
[Auf die hervorgehobene Zeile zeigen.] Der wichtigste Befund ist dieser: Für 9.116 Policen ist ein Schaden gemeldet, aber kein Schadenbetrag vorhanden. Das sind knapp 27 Prozent aller Schadenpolicen.
Die bequeme, aber falsche Lösung wäre, diese Beträge auf null zu setzen. Dann würde das Modell lernen, dass diese Schäden nichts gekostet haben. Ich unterscheide deshalb konsequent zwischen „kein Schaden“ und „Schadenhöhe unbekannt“.
Wie das Portfolio insgesamt aussieht, zeigt die erste Seite des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75–105 Sekunden
Das ist die erste Seite des Power-BI-Dashboards: der Bestandsüberblick. Sie zeigt das Portfolio so, wie es tatsächlich beobachtet wurde – also noch ohne Modell.
[Auf die KPI-Karten zeigen.] Die Eckdaten: 678.013 Policen, rund 358.000 Versicherungsjahre Exposure und 36.102 beobachtete Schäden. Daraus ergibt sich eine Schadenfrequenz von etwa 0,10 Schäden pro Versicherungsjahr.
Achten Sie besonders auf zwei Werte. Rund 95 Prozent der Policen sind schadenfrei. Und die Severity Coverage liegt bei etwa 73 Prozent – das ist genau der Befund von eben: Nur für knapp drei Viertel der Schadenpolicen kennen wir die Schadenhöhe.
In den Diagrammen sieht man schon ohne Modell deutliche Risikounterschiede: Die Altersgruppe 18 bis 24 hat die mit Abstand höchste Schadenfrequenz, sehr neue Fahrzeuge liegen höher als ältere, und mit steigendem Bonus-Malus nimmt die Frequenz klar zu.
Über den Region-Filter lässt sich das Portfolio eingrenzen – dabei werden lesbare Regionsnamen statt technischer Codes angezeigt.
Alle Kennzahlen auf dieser Seite sind Exposure-basiert berechnet. Warum das so wichtig ist,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75–105 Sekunden
Bevor ich zu den Modellen komme, zwei Leitplanken, an denen sich das ganze Projekt orientiert.
[Linke Seite.] Die erste ist die Exposure. Stellen Sie sich zwei Policen mit je einem Schaden vor: Police A war drei Monate versichert, Police B ein ganzes Jahr. Aufs Jahr gerechnet ist Police A deutlich riskanter. Deshalb modelliere ich Frequenz und Schadenbedarf als jährliche Rate – und für Werte auf Portfolioebene multipliziere ich immer mit der Exposure. Raten einfach aufzusummieren wäre falsch. Diese Regel gilt im Modell, in PostgreSQL und in den DAX-Measures in Power BI.
[Rechte Seite.] Die zweite Leitplanke folgt aus der Datenqualität: Eine fehlende Schadenhöhe ist nicht null Euro. Daraus ergeben sich drei Bewertungspopulationen im Holdout.
Das Frequency-Modell bewerte ich auf allen 135.603 Holdout-Policen, weil die Schadenanzahl immer bekannt ist. Das Severity-Modell nur auf den 4.999 Policen mit beobachtbarer Schadenhöhe. Und Tweedie auf 133.790 Policen – also alle schadenfreien plus die mit bekanntem Betrag. Die 1.813 Policen mit unbekanntem Betrag fallen hier heraus.
Das ist etwas komplizierter als eine einzige Zahl, aber deutlich ehrlicher.
Und noch ein Hinweis unten: Der Split in Training und Holdout wurde einmal festgelegt und im Projekt nie neu erzeugt.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Bei der Modellierung habe ich bewusst nicht nach dem einen besten Modell gesucht. Stattdessen gibt es vier Perspektiven mit unterschiedlichen Aufgaben.
[Links.] Das ist der klassische zweistufige Ansatz. Das Frequency-Modell, ein Poisson-GLM, beantwortet, wie oft ein Schaden passiert. Das Severity-Modell, ein Gamma-GLM, beantwortet, wie teuer ein Schaden im Mittel ist.
Multipliziert man beide, erhält man den Two-Stage-Schadenbedarf. Sein Vorteil ist die Erklärbarkeit: Man sieht, ob ein hoher Wert aus häufigen oder aus teuren Schäden entsteht.
[Rechts.] Das Tweedie-Modell schätzt den Schadenbedarf dagegen direkt. Die Tweedie-Verteilung passt gut zu unseren Daten, weil sie sehr viele Nullen und positive, schiefe Beträge gleichzeitig abbilden kann. Tweedie ist im Projekt der zentrale Risikoscore für Ranking und Segmentierung.
Alle Modelle sind erklärbare GLMs mit Splines für nichtlineare Effekte. Die Interpretation über Permutation Importance zeigt: Die wichtigsten Treiber sind Bonus-Malus, Fahrzeugalter und Fahreralter.
Wie gut funktionieren diese Modelle? Ich beginne mit Frequency und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75–105 Sekunden
Zur Bewertung nutze ich drei Kennzahlen, die unten kurz erklärt sind: Ist das Modell besser als ein einfacher Durchschnittswert? Trifft die Summe der Prognosen das beobachtete Niveau? Und bringt das Modell Risiken in die richtige Reihenfolge – das misst der Gini.
[Linke Karte.] Zuerst Frequency: Im Holdout wurden 7.218 Schäden prognostiziert, beobachtet wurden 7.236. Das ist eine Abweichung von nur minus 0,25 Prozent. Die Deviance liegt gut 5 Prozent unter der Baseline, und der Gini von 0,29 zeigt eine brauchbare Rangfolge. Frequency ist die stabilste Komponente des Projekts.
[Rechte Karte.] Dann Severity – und hier bin ich ganz offen: Dieses Modell ist schwach. Die Deviance ist leicht schlechter als die konstante Baseline, und ein Gini von 0,003 heißt, dass das Modell teure und günstige Schäden praktisch nicht unterscheiden kann. Ich habe unter anderem Regularisierung und eine Sonderbehandlung von Großschäden getestet – auf dem Holdout liegt das finale Modell trotzdem knapp hinter der Baseline. Bei extrem schiefen Schadenhöhen und wenigen erklärenden Merkmalen ist das nicht überraschend.
Warum behalte ich es trotzdem? Weil es das Euro-Niveau gut trifft: plus 3,99 Prozent. Als monetäre Komponente ist es nützlich – als eigenständiger Risikoscore aber nicht.
Wie schneiden nun Two-Stage und Tweedie im direkten Vergleich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Oft wird gefragt: Welches Modell gewinnt? Meine Antwort ist: Hier ist das die falsche Frage.
Für einen fairen Vergleich habe ich beide Ansätze auf exakt derselben Basis bewertet – den 133.790 Holdout-Policen mit beobachtbarem Schadenaufwand.
[Die drei Felder von links nach rechts durchgehen.] Bei der Deviance liegen beide praktisch gleichauf, Two-Stage sogar minimal vorne. Bei der Portfolio-Abweichung liegt Tweedie mit plus 6,4 Prozent deutlich näher am beobachteten Schaden als Two-Stage mit plus 36 Prozent. Und beim Gini sortiert Tweedie mit 0,268 besser als Two-Stage mit 0,236.
Bei den 36 Prozent ist mir eine Einordnung wichtig: Das ist nicht nur Modellfehler. Das Frequency-Modell hat auch aus Schäden gelernt, deren Betrag unbekannt ist – diese Policen fehlen aber in der Vergleichsbasis. Das treibt die Abweichung zusätzlich nach oben.
Meine Schlussfolgerung: Für Ranking und Segmentierung nutze ich Tweedie, weil es besser kalibriert ist und besser sortiert. Two-Stage behalte ich zum Erklären – nur dort sehe ich, ob ein hoher Schadenbedarf aus Häufigkeit oder aus Schadenhöhe kommt.
Was passiert also, wenn wir das gesamte Portfolio nach dem Tweedie-Score sortieren?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Für die Segmentierung habe ich alle 678.013 Policen nach ihrem Tweedie-Schadenbedarf sortiert und über feste Quantile in vier Segmente eingeteilt.
[Auf den Balken links zeigen.] Die unteren 50 Prozent sind LOW, die nächsten 25 Prozent STANDARD, dann folgen 15 Prozent ELEVATED und die obersten 10 Prozent HIGH. Die Grenze zu HIGH liegt bei rund 328 Euro Schadenbedarf pro Jahr. Darunter sehen Sie die zehn Risk Deciles als feinere Rangfolge.
[Kurze Pause – dann auf die rechte Seite zeigen.] Und das ist für mich das wichtigste Ergebnis des Projekts: Die 10 Prozent der Policen im HIGH-Segment tragen 32,1 Prozent des gesamten modellierten erwarteten Schadens. Das ist mehr als das Dreifache ihres Policenanteils.
Risiko ist also nicht gleichmäßig verteilt. Ein kleiner Teil des Portfolios trägt einen überproportional großen Teil der erwarteten Kosten – und genau dort lohnt sich ein genauerer Blick.
Gleichzeitig gilt: Die Segmente beschreiben eine relative Position in genau diesem Portfolio. HIGH ist kein Urteil über einen Kunden und keine Ablehnungsregel.
Schauen wir uns das im Dashboard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Die zweite Dashboard-Seite macht die Segmentierung interaktiv nutzbar.
[Auf den Vergleich von Policenanteil und Schadenanteil zeigen.] Hier sieht man die Konzentration direkt: LOW umfasst 50 Prozent der Policen, aber nur rund 27 Prozent des erwarteten Schadens. HIGH dagegen 10 Prozent der Policen und rund 32 Prozent des Schadens.
Die Darstellung nach Risk Decile zeigt, dass der Schadenbedarf vor allem in den oberen Deciles stark ansteigt.
Besonders aussagekräftig finde ich die Heatmap aus Fahreralter und Bonus-Malus-Segment. Sie zeigt, in welchen Kombinationen sich hohe Schadenbedarfe bündeln. Das passt zur Modellinterpretation, in der Bonus-Malus der wichtigste Treiber ist.
Über die Filter lässt sich die Sicht zum Beispiel nach Region eingrenzen, und mit dem Reset-Button kommt man wieder zur Gesamtsicht zurück.
Die entscheidende Frage ist jetzt: Was macht man in der Praxis mit diesen Segmenten?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45–75 Sekunden
Damit aus einem Score ein Werkzeug wird, habe ich jedem Segment einen transparenten Handlungshinweis zugeordnet.
LOW und STANDARD laufen im Standardprozess. Für ELEVATED wird eine zusätzliche fachliche Prüfung empfohlen, für HIGH eine manuelle Underwriting-Prüfung.
Das Wort „empfohlen“ ist bewusst gewählt: Das Modell zeigt, wo sich ein genauer Blick lohnt – entscheiden tut weiterhin ein Mensch. Es gibt keine automatische Annahme, Ablehnung oder Kündigung.
[Rechte Seite.] Dazu eine zweite Unterscheidung für die Interpretation: Profil A hat einen sehr hohen Schadenbedarf, umfasst aber nur wenige Policen. Profil B hat einen moderaten Schadenbedarf, ist aber so groß, dass es insgesamt mehr erwarteten Schaden tragen kann. Für die Portfoliosteuerung zählen beide Blickwinkel.
Genau diese Euro-Perspektive zeigt die nächste Dashboard-Seite.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75–105 Sekunden
Die dritte Dashboard-Seite übersetzt die Modellergebnisse in Euro.
[Auf die KPI-Karten zeigen.] Zuerst die Frequenz-Perspektive: rund 36.100 prognostizierte Schäden bei einer Portfolio-Frequenz von etwa 0,10. Daneben die beiden Schadenbedarf-Perspektiven: Two-Stage kommt auf rund 77 Millionen Euro erwarteten Schaden, Tweedie auf rund 59,6 Millionen. Pro Versicherungsjahr sind das etwa 215 beziehungsweise 166 Euro.
Hier ist eine Einordnung wichtig: Das sind Prognosen für das gesamte Portfolio, keine Kalibrierungskennzahlen – für einen Teil der Policen kennen wir den tatsächlichen Schaden ja gar nicht. Der Unterschied entsteht zum Teil wieder dadurch, dass Two-Stage über Frequency auch Schäden ohne bekannten Betrag berücksichtigt. Die belastbare Kalibrierungsaussage ist die aus dem Vergleich auf gemeinsamer Holdout-Basis.
In den Diagrammen sehen Sie den erwarteten Schaden nach Decile und Segment sowie die Frequency-Severity-Dekomposition – also, ob ein Segment eher durch Häufigkeit oder durch Schadenhöhe teuer ist.
Die Top-Risikoprofile zeigen schließlich Intensität gegenüber Volumen: Die Profile mit dem höchsten Gesamtschaden sind nicht automatisch die mit dem höchsten Schadenbedarf pro Police.
Wie werden diese Ergebnisse technisch bereitgestellt?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Ein Modell, das nur im Notebook existiert, hilft im Unternehmen wenig. Deshalb gibt es drei technische Ebenen.
[Links.] PostgreSQL ist die analytische Persistenzschicht. Dort liegen Policen- und Schadendaten in einer Staging- und Fact-Struktur, die Modellprognosen mit Run-ID und Modellversion sowie die Ergebnisse der Datenqualitätsprüfungen und die Pipeline-Läufe. Power BI greift auf definierte Views zu – nicht auf Rohtabellen. So ist nachvollziehbar, woher jede Kennzahl kommt.
[Mitte.] Power BI ist die Analyse- und Managementebene. Mir war dabei die Bedienbarkeit wichtig: einheitliche Navigation, Filter für Region und DQ-Status und Reset-Buttons. Statt technischer Codes wie R24 werden über eine eigene Region-Dimension lesbare Regionsnamen angezeigt – die Originaldaten bleiben unverändert.
[Rechts.] FastAPI zeigt, wie eine technische Integration aussehen könnte: Für ein Risikoprofil liefert die API zum Beispiel Schadenbedarf, Segment und Handlungshinweis. Eingaben werden validiert – eine Exposure von null wird etwa abgelehnt. Alle sechs automatisierten Tests laufen erfolgreich.
Ganz klar: Das ist ein Prototyp und kein produktiver Versicherungsservice.
Wie man Datenqualität und Modellgüte im Dashboard überwacht, zeigt die letzte Dashboard-Seite.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Die vierte Dashboard-Seite beantwortet die Frage: Können wir Daten und Modellen vertrauen?
[Auf den Datenqualitätsbereich zeigen.] Hier sehen Sie die neun Prüfungen – vier PASS, zwei WARN, drei FAIL – mit den betroffenen Datensätzen je Prüfung. Über den DQ-Status-Filter kann man gezielt nur die kritischen Befunde anzeigen. Auch hier gilt: Ein FAIL ist ein Rohdatenbefund, der im Curated Layer behandelt wurde.
[Auf die Modellmetriken zeigen.] Daneben stehen die Validierungskennzahlen der Modelle: Baseline- und Modell-Deviance, Portfolio-Abweichung und Gini. Wichtig beim Lesen: Die Deviance-Werte darf man nicht zwischen den Modellen vergleichen, weil Zielgrößen und Populationen verschieden sind. Jedes Modell wird gegen seine eigene Baseline bewertet – und die Grenzen des Severity-Modells sind hier offen sichtbar.
Außerdem zeigt die Seite den Status des letzten Pipeline-Laufs: PASS.
Das sind globale Kennzahlen. Aber funktioniert ein Modell auch in jeder Teilgruppe gut? Das habe ich zum Abschluss geprüft.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75–105 Sekunden
Zum Abschluss der Evaluation habe ich die Modelle auf dem Holdout nach Fahreralter, Region, Area und Bevölkerungsdichte untersucht. Das war reine Diagnostik – danach wurde kein Modell mehr angepasst.
[Auf das Diagramm zeigen.] Hier sehen Sie die relative Abweichung nach Fahreralter. Positive Werte bedeuten Überschätzung, negative Werte Unterschätzung.
Die Frequency-Balken sind kaum zu sehen – und genau das ist die gute Nachricht. Frequency liegt fast überall nah an der Beobachtung. Am weitesten weg ist die Gruppe 75 plus mit minus 11,6 Prozent.
Bei Severity und Tweedie sieht es anders aus. Tweedie überschätzt den Schadenbedarf der 18- bis 24-Jährigen um mehr als das Doppelte und unterschätzt die über 75-Jährigen um fast die Hälfte. In den großen mittleren Altersgruppen liegt Tweedie dagegen sehr nah an der Beobachtung.
Fair ist aber auch: In den Randgruppen gibt es wenige Schäden, und einzelne Großschäden verschieben die beobachteten Werte stark. Ähnliche Muster zeigen sich bei Region, Area und Density.
Die zentrale Erkenntnis lautet: Eine gute Gesamtperformance garantiert keine gute Performance in jeder Teilgruppe. Und das führt direkt zu den Grenzen des Projekts.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60–90 Sekunden
Ich möchte die Grenzen des Projekts nicht verstecken – sie gehören zu einer seriösen Bewertung dazu.
[Linke Seite.] Die wichtigste modellseitige Grenze kennen Sie schon: Severity ist kein eigenständiger Ranking-Score. Dazu ein methodischer Punkt: Den Holdout habe ich im Projektverlauf schon für frühere Vergleiche angesehen. Die finalen Modellentscheidungen habe ich danach nur noch auf Trainingsdaten und mit Cross-Validation getroffen – trotzdem stelle ich den Holdout nicht als unberührten Blind-Test dar.
Außerdem ist die Kalibrierung in Teilgruppen ungleichmäßig, für gut ein Viertel der Schadenpolicen fehlt die Schadenhöhe, und die Daten sind historisch – Schadeninflation oder ein veränderter Fahrzeugbestand sind nicht abgebildet. Die Modelle zeigen Zusammenhänge, keine Ursachen. Und für einen produktiven Einsatz bräuchte es Monitoring, Governance und regelmäßige Rekalibrierung.
[Rechte Seite.] Daraus folgen vier klare Nutzungsregeln: HIGH-Risk ist keine automatische Ablehnung. Der Schadenbedarf ist keine Kundenprämie. Eine Modellprognose ersetzt keine Underwriting-Entscheidung. Und meine Subgruppenanalyse schafft Transparenz, ist aber kein vollständiger Fairness-Nachweis. Gerade Merkmale wie Alter oder Region müssten vor einem produktiven Einsatz zusätzlich fachlich und regulatorisch geprüft werden.
Was bringt der Prototyp nun konkret?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ca. 45–75 Sekunden
Zum Schluss: Was leistet die Plattform?
Erstens macht sie Risiko transparent. Für jede Police gibt es einen erwarteten jährlichen Schadenaufwand, und über den Two-Stage-Ansatz lässt sich erklären, woher er kommt.
Zweitens ermöglicht sie Priorisierung. 10 Prozent der Policen tragen rund 32 Prozent des erwarteten Schadens – dort kann eine fachliche Prüfung gezielt ansetzen.
Drittens steht sie auf einer nachvollziehbaren Datenbasis: verifizierte Rohdaten, dokumentierte Qualitätsentscheidungen und die klare Trennung zwischen „kein Schaden“ und „Betrag unbekannt“.
Und viertens bleibt es nicht bei der Analyse: PostgreSQL, Dashboard und API machen die Ergebnisse nutzbar.
Für mich persönlich war die wichtigste Erkenntnis, dass gute Modellierung nicht nur aus guten Kennzahlen besteht, sondern auch daraus, Grenzen ehrlich zu benennen.
In einem Satz: Risiko transparent quantifizieren – Entscheidungen unterstützen, nicht ersetzen.
Vielen Dank für Ihre Aufmerksamkeit. Ich freue mich auf Ihre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17-image-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325880"/>
            <a:ext cx="7315200" cy="320040"/>
          </a:xfrm>
          <a:prstGeom prst="rect">
            <a:avLst/>
          </a:prstGeom>
          <a:noFill/>
          <a:ln/>
        </p:spPr>
        <p:txBody>
          <a:bodyPr wrap="square" lIns="0" tIns="0" rIns="0" bIns="0" rtlCol="0" anchor="t"/>
          <a:lstStyle/>
          <a:p>
            <a:pPr indent="0" marL="0">
              <a:buNone/>
            </a:pPr>
            <a:r>
              <a:rPr lang="de-DE" altLang="en-US" sz="1300" b="1" spc="400" kern="0" dirty="0">
                <a:solidFill>
                  <a:srgbClr val="22D3EE"/>
                </a:solidFill>
                <a:latin typeface="Segoe UI" pitchFamily="34" charset="0"/>
                <a:ea typeface="Segoe UI" pitchFamily="34" charset="-122"/>
                <a:cs typeface="Segoe UI" pitchFamily="34" charset="-120"/>
              </a:rPr>
              <a:t>ABSCHLUSSPRÄSENTATION</a:t>
            </a:r>
            <a:endParaRPr lang="de-DE" sz="1300" dirty="0"/>
          </a:p>
        </p:txBody>
      </p:sp>
      <p:sp>
        <p:nvSpPr>
          <p:cNvPr id="3" name="Text 1"/>
          <p:cNvSpPr txBox="1"/>
          <p:nvPr/>
        </p:nvSpPr>
        <p:spPr>
          <a:xfrm>
            <a:off x="731520" y="1737360"/>
            <a:ext cx="7955280" cy="1783080"/>
          </a:xfrm>
          <a:prstGeom prst="rect">
            <a:avLst/>
          </a:prstGeom>
          <a:noFill/>
          <a:ln/>
        </p:spPr>
        <p:txBody>
          <a:bodyPr wrap="square" lIns="0" tIns="0" rIns="0" bIns="0" rtlCol="0" anchor="ctr"/>
          <a:lstStyle/>
          <a:p>
            <a:pPr indent="0" marL="0">
              <a:buNone/>
            </a:pPr>
            <a:r>
              <a:rPr lang="de-DE" altLang="en-US" sz="3400" dirty="0">
                <a:solidFill>
                  <a:srgbClr val="EEF4FB"/>
                </a:solidFill>
                <a:latin typeface="Segoe UI Semibold" pitchFamily="34" charset="0"/>
                <a:ea typeface="Segoe UI Semibold" pitchFamily="34" charset="-122"/>
                <a:cs typeface="Segoe UI Semibold" pitchFamily="34" charset="-120"/>
              </a:rPr>
              <a:t>Kfz Insurance Risk &amp;</a:t>
            </a:r>
            <a:endParaRPr lang="de-DE" sz="3400" dirty="0"/>
          </a:p>
          <a:p>
            <a:pPr indent="0" marL="0">
              <a:buNone/>
            </a:pPr>
            <a:r>
              <a:rPr lang="de-DE" altLang="en-US" sz="3400" dirty="0">
                <a:solidFill>
                  <a:srgbClr val="EEF4FB"/>
                </a:solidFill>
                <a:latin typeface="Segoe UI Semibold" pitchFamily="34" charset="0"/>
                <a:ea typeface="Segoe UI Semibold" pitchFamily="34" charset="-122"/>
                <a:cs typeface="Segoe UI Semibold" pitchFamily="34" charset="-120"/>
              </a:rPr>
              <a:t>Pure Premium Intelligence Platform</a:t>
            </a:r>
            <a:endParaRPr lang="de-DE" sz="3400" dirty="0"/>
          </a:p>
        </p:txBody>
      </p:sp>
      <p:sp>
        <p:nvSpPr>
          <p:cNvPr id="4" name="Text 2"/>
          <p:cNvSpPr txBox="1"/>
          <p:nvPr/>
        </p:nvSpPr>
        <p:spPr>
          <a:xfrm>
            <a:off x="731520" y="3611880"/>
            <a:ext cx="7498080" cy="822960"/>
          </a:xfrm>
          <a:prstGeom prst="rect">
            <a:avLst/>
          </a:prstGeom>
          <a:noFill/>
          <a:ln/>
        </p:spPr>
        <p:txBody>
          <a:bodyPr wrap="square" lIns="0" tIns="0" rIns="0" bIns="0" rtlCol="0" anchor="t"/>
          <a:lstStyle/>
          <a:p>
            <a:pPr indent="0" marL="0">
              <a:buNone/>
            </a:pPr>
            <a:r>
              <a:rPr lang="de-DE" altLang="en-US" sz="1800" dirty="0">
                <a:solidFill>
                  <a:srgbClr val="A9BBD0"/>
                </a:solidFill>
                <a:latin typeface="Segoe UI" pitchFamily="34" charset="0"/>
                <a:ea typeface="Segoe UI" pitchFamily="34" charset="-122"/>
                <a:cs typeface="Segoe UI" pitchFamily="34" charset="-120"/>
              </a:rPr>
              <a:t>Datenbasierte Risikobewertung und Schadenbedarf</a:t>
            </a:r>
            <a:endParaRPr lang="de-DE" sz="1800" dirty="0"/>
          </a:p>
          <a:p>
            <a:pPr indent="0" marL="0">
              <a:buNone/>
            </a:pPr>
            <a:r>
              <a:rPr lang="de-DE" altLang="en-US" sz="1800" dirty="0">
                <a:solidFill>
                  <a:srgbClr val="A9BBD0"/>
                </a:solidFill>
                <a:latin typeface="Segoe UI" pitchFamily="34" charset="0"/>
                <a:ea typeface="Segoe UI" pitchFamily="34" charset="-122"/>
                <a:cs typeface="Segoe UI" pitchFamily="34" charset="-120"/>
              </a:rPr>
              <a:t>in der Kfz-Versicherung</a:t>
            </a:r>
            <a:endParaRPr lang="de-DE" sz="1800" dirty="0"/>
          </a:p>
        </p:txBody>
      </p:sp>
      <p:sp>
        <p:nvSpPr>
          <p:cNvPr id="5" name="Shape 3"/>
          <p:cNvSpPr/>
          <p:nvPr/>
        </p:nvSpPr>
        <p:spPr>
          <a:xfrm>
            <a:off x="731520" y="4645152"/>
            <a:ext cx="1394460" cy="329184"/>
          </a:xfrm>
          <a:prstGeom prst="roundRect">
            <a:avLst>
              <a:gd name="adj" fmla="val 50000"/>
            </a:avLst>
          </a:prstGeom>
          <a:solidFill>
            <a:srgbClr val="22D3EE">
              <a:alpha val="15000"/>
            </a:srgbClr>
          </a:solidFill>
          <a:ln w="12700">
            <a:solidFill>
              <a:srgbClr val="22D3EE"/>
            </a:solidFill>
            <a:prstDash val="solid"/>
          </a:ln>
        </p:spPr>
      </p:sp>
      <p:sp>
        <p:nvSpPr>
          <p:cNvPr id="6" name="Text 4"/>
          <p:cNvSpPr txBox="1"/>
          <p:nvPr/>
        </p:nvSpPr>
        <p:spPr>
          <a:xfrm>
            <a:off x="731520" y="4645152"/>
            <a:ext cx="1394460" cy="329184"/>
          </a:xfrm>
          <a:prstGeom prst="rect">
            <a:avLst/>
          </a:prstGeom>
          <a:noFill/>
          <a:ln/>
        </p:spPr>
        <p:txBody>
          <a:bodyPr wrap="square" lIns="0" tIns="0" rIns="0" bIns="0" rtlCol="0" anchor="ctr"/>
          <a:lstStyle/>
          <a:p>
            <a:pPr algn="ct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Datenqualität</a:t>
            </a:r>
            <a:endParaRPr lang="de-DE" sz="1050" dirty="0"/>
          </a:p>
        </p:txBody>
      </p:sp>
      <p:sp>
        <p:nvSpPr>
          <p:cNvPr id="7" name="Shape 5"/>
          <p:cNvSpPr/>
          <p:nvPr/>
        </p:nvSpPr>
        <p:spPr>
          <a:xfrm>
            <a:off x="2253996" y="4645152"/>
            <a:ext cx="1316736" cy="329184"/>
          </a:xfrm>
          <a:prstGeom prst="roundRect">
            <a:avLst>
              <a:gd name="adj" fmla="val 50000"/>
            </a:avLst>
          </a:prstGeom>
          <a:solidFill>
            <a:srgbClr val="22D3EE">
              <a:alpha val="15000"/>
            </a:srgbClr>
          </a:solidFill>
          <a:ln w="12700">
            <a:solidFill>
              <a:srgbClr val="22D3EE"/>
            </a:solidFill>
            <a:prstDash val="solid"/>
          </a:ln>
        </p:spPr>
      </p:sp>
      <p:sp>
        <p:nvSpPr>
          <p:cNvPr id="8" name="Text 6"/>
          <p:cNvSpPr txBox="1"/>
          <p:nvPr/>
        </p:nvSpPr>
        <p:spPr>
          <a:xfrm>
            <a:off x="2253996" y="4645152"/>
            <a:ext cx="1316736" cy="329184"/>
          </a:xfrm>
          <a:prstGeom prst="rect">
            <a:avLst/>
          </a:prstGeom>
          <a:noFill/>
          <a:ln/>
        </p:spPr>
        <p:txBody>
          <a:bodyPr wrap="square" lIns="0" tIns="0" rIns="0" bIns="0" rtlCol="0" anchor="ctr"/>
          <a:lstStyle/>
          <a:p>
            <a:pPr algn="ct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Modellierung</a:t>
            </a:r>
            <a:endParaRPr lang="de-DE" sz="1050" dirty="0"/>
          </a:p>
        </p:txBody>
      </p:sp>
      <p:sp>
        <p:nvSpPr>
          <p:cNvPr id="9" name="Shape 7"/>
          <p:cNvSpPr/>
          <p:nvPr/>
        </p:nvSpPr>
        <p:spPr>
          <a:xfrm>
            <a:off x="3698748" y="4645152"/>
            <a:ext cx="1860804" cy="329184"/>
          </a:xfrm>
          <a:prstGeom prst="roundRect">
            <a:avLst>
              <a:gd name="adj" fmla="val 50000"/>
            </a:avLst>
          </a:prstGeom>
          <a:solidFill>
            <a:srgbClr val="22D3EE">
              <a:alpha val="15000"/>
            </a:srgbClr>
          </a:solidFill>
          <a:ln w="12700">
            <a:solidFill>
              <a:srgbClr val="22D3EE"/>
            </a:solidFill>
            <a:prstDash val="solid"/>
          </a:ln>
        </p:spPr>
      </p:sp>
      <p:sp>
        <p:nvSpPr>
          <p:cNvPr id="10" name="Text 8"/>
          <p:cNvSpPr txBox="1"/>
          <p:nvPr/>
        </p:nvSpPr>
        <p:spPr>
          <a:xfrm>
            <a:off x="3698748" y="4645152"/>
            <a:ext cx="1860804" cy="329184"/>
          </a:xfrm>
          <a:prstGeom prst="rect">
            <a:avLst/>
          </a:prstGeom>
          <a:noFill/>
          <a:ln/>
        </p:spPr>
        <p:txBody>
          <a:bodyPr wrap="square" lIns="0" tIns="0" rIns="0" bIns="0" rtlCol="0" anchor="ctr"/>
          <a:lstStyle/>
          <a:p>
            <a:pPr algn="ct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Risikosegmentierung</a:t>
            </a:r>
            <a:endParaRPr lang="de-DE" sz="1050" dirty="0"/>
          </a:p>
        </p:txBody>
      </p:sp>
      <p:sp>
        <p:nvSpPr>
          <p:cNvPr id="11" name="Shape 9"/>
          <p:cNvSpPr/>
          <p:nvPr/>
        </p:nvSpPr>
        <p:spPr>
          <a:xfrm>
            <a:off x="5687568" y="4645152"/>
            <a:ext cx="1005840" cy="329184"/>
          </a:xfrm>
          <a:prstGeom prst="roundRect">
            <a:avLst>
              <a:gd name="adj" fmla="val 50000"/>
            </a:avLst>
          </a:prstGeom>
          <a:solidFill>
            <a:srgbClr val="22D3EE">
              <a:alpha val="15000"/>
            </a:srgbClr>
          </a:solidFill>
          <a:ln w="12700">
            <a:solidFill>
              <a:srgbClr val="22D3EE"/>
            </a:solidFill>
            <a:prstDash val="solid"/>
          </a:ln>
        </p:spPr>
      </p:sp>
      <p:sp>
        <p:nvSpPr>
          <p:cNvPr id="12" name="Text 10"/>
          <p:cNvSpPr txBox="1"/>
          <p:nvPr/>
        </p:nvSpPr>
        <p:spPr>
          <a:xfrm>
            <a:off x="5687568" y="4645152"/>
            <a:ext cx="1005840" cy="329184"/>
          </a:xfrm>
          <a:prstGeom prst="rect">
            <a:avLst/>
          </a:prstGeom>
          <a:noFill/>
          <a:ln/>
        </p:spPr>
        <p:txBody>
          <a:bodyPr wrap="square" lIns="0" tIns="0" rIns="0" bIns="0" rtlCol="0" anchor="ctr"/>
          <a:lstStyle/>
          <a:p>
            <a:pPr algn="ct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Power BI</a:t>
            </a:r>
            <a:endParaRPr lang="de-DE" sz="1050" dirty="0"/>
          </a:p>
        </p:txBody>
      </p:sp>
      <p:sp>
        <p:nvSpPr>
          <p:cNvPr id="13" name="Shape 11"/>
          <p:cNvSpPr/>
          <p:nvPr/>
        </p:nvSpPr>
        <p:spPr>
          <a:xfrm>
            <a:off x="6821424" y="4645152"/>
            <a:ext cx="928116" cy="329184"/>
          </a:xfrm>
          <a:prstGeom prst="roundRect">
            <a:avLst>
              <a:gd name="adj" fmla="val 50000"/>
            </a:avLst>
          </a:prstGeom>
          <a:solidFill>
            <a:srgbClr val="22D3EE">
              <a:alpha val="15000"/>
            </a:srgbClr>
          </a:solidFill>
          <a:ln w="12700">
            <a:solidFill>
              <a:srgbClr val="22D3EE"/>
            </a:solidFill>
            <a:prstDash val="solid"/>
          </a:ln>
        </p:spPr>
      </p:sp>
      <p:sp>
        <p:nvSpPr>
          <p:cNvPr id="14" name="Text 12"/>
          <p:cNvSpPr txBox="1"/>
          <p:nvPr/>
        </p:nvSpPr>
        <p:spPr>
          <a:xfrm>
            <a:off x="6821424" y="4645152"/>
            <a:ext cx="928116" cy="329184"/>
          </a:xfrm>
          <a:prstGeom prst="rect">
            <a:avLst/>
          </a:prstGeom>
          <a:noFill/>
          <a:ln/>
        </p:spPr>
        <p:txBody>
          <a:bodyPr wrap="square" lIns="0" tIns="0" rIns="0" bIns="0" rtlCol="0" anchor="ctr"/>
          <a:lstStyle/>
          <a:p>
            <a:pPr algn="ct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FastAPI</a:t>
            </a:r>
            <a:endParaRPr lang="de-DE" sz="1050" dirty="0"/>
          </a:p>
        </p:txBody>
      </p:sp>
      <p:sp>
        <p:nvSpPr>
          <p:cNvPr id="15" name="Text 13"/>
          <p:cNvSpPr txBox="1"/>
          <p:nvPr/>
        </p:nvSpPr>
        <p:spPr>
          <a:xfrm>
            <a:off x="731520" y="5486400"/>
            <a:ext cx="5486400" cy="365760"/>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Mesut Karagöz</a:t>
            </a:r>
            <a:endParaRPr lang="de-DE" sz="1700" dirty="0"/>
          </a:p>
        </p:txBody>
      </p:sp>
      <p:sp>
        <p:nvSpPr>
          <p:cNvPr id="16" name="Text 14"/>
          <p:cNvSpPr txBox="1"/>
          <p:nvPr/>
        </p:nvSpPr>
        <p:spPr>
          <a:xfrm>
            <a:off x="731520" y="5852160"/>
            <a:ext cx="5486400" cy="274320"/>
          </a:xfrm>
          <a:prstGeom prst="rect">
            <a:avLst/>
          </a:prstGeom>
          <a:noFill/>
          <a:ln/>
        </p:spPr>
        <p:txBody>
          <a:bodyPr wrap="square" lIns="0" tIns="0" rIns="0" bIns="0" rtlCol="0" anchor="t"/>
          <a:lstStyle/>
          <a:p>
            <a:pPr indent="0" marL="0">
              <a:buNone/>
            </a:pPr>
            <a:r>
              <a:rPr lang="de-DE" altLang="en-US" sz="1200" dirty="0">
                <a:solidFill>
                  <a:srgbClr val="A9BBD0"/>
                </a:solidFill>
                <a:latin typeface="Segoe UI" pitchFamily="34" charset="0"/>
                <a:ea typeface="Segoe UI" pitchFamily="34" charset="-122"/>
                <a:cs typeface="Segoe UI" pitchFamily="34" charset="-120"/>
              </a:rPr>
              <a:t>Abschlussprojekt · 2026</a:t>
            </a:r>
            <a:endParaRPr lang="de-DE" sz="1200" dirty="0"/>
          </a:p>
        </p:txBody>
      </p:sp>
      <p:sp>
        <p:nvSpPr>
          <p:cNvPr id="17" name="Shape 15"/>
          <p:cNvSpPr/>
          <p:nvPr/>
        </p:nvSpPr>
        <p:spPr>
          <a:xfrm>
            <a:off x="8531352" y="1581912"/>
            <a:ext cx="2962656" cy="2962656"/>
          </a:xfrm>
          <a:prstGeom prst="ellipse">
            <a:avLst/>
          </a:prstGeom>
          <a:solidFill>
            <a:srgbClr val="0A1628">
              <a:alpha val="0"/>
            </a:srgbClr>
          </a:solidFill>
          <a:ln w="15875">
            <a:solidFill>
              <a:srgbClr val="22D3EE">
                <a:alpha val="45000"/>
              </a:srgbClr>
            </a:solidFill>
            <a:prstDash val="solid"/>
          </a:ln>
        </p:spPr>
      </p:sp>
      <p:sp>
        <p:nvSpPr>
          <p:cNvPr id="18" name="Shape 16"/>
          <p:cNvSpPr/>
          <p:nvPr/>
        </p:nvSpPr>
        <p:spPr>
          <a:xfrm>
            <a:off x="9052560" y="2103120"/>
            <a:ext cx="1920240" cy="1920240"/>
          </a:xfrm>
          <a:prstGeom prst="ellipse">
            <a:avLst/>
          </a:prstGeom>
          <a:solidFill>
            <a:srgbClr val="0E2A47">
              <a:alpha val="90000"/>
            </a:srgbClr>
          </a:solidFill>
          <a:ln w="19050">
            <a:solidFill>
              <a:srgbClr val="22D3EE">
                <a:alpha val="80000"/>
              </a:srgbClr>
            </a:solidFill>
            <a:prstDash val="solid"/>
          </a:ln>
          <a:effectLst>
            <a:outerShdw sx="100000" sy="100000" kx="0" ky="0" algn="bl" rotWithShape="0" blurRad="381000" dist="50800" dir="5400000">
              <a:srgbClr val="22D3EE">
                <a:alpha val="45000"/>
              </a:srgbClr>
            </a:outerShdw>
          </a:effectLst>
        </p:spPr>
      </p:sp>
      <p:pic>
        <p:nvPicPr>
          <p:cNvPr id="19" name="Image 0" descr="preencoded.png">    </p:cNvPr>
          <p:cNvPicPr>
            <a:picLocks noChangeAspect="1"/>
          </p:cNvPicPr>
          <p:nvPr/>
        </p:nvPicPr>
        <p:blipFill>
          <a:blip r:embed="rId2"/>
          <a:stretch>
            <a:fillRect/>
          </a:stretch>
        </p:blipFill>
        <p:spPr>
          <a:xfrm>
            <a:off x="9509760" y="2560320"/>
            <a:ext cx="1005840" cy="1005840"/>
          </a:xfrm>
          <a:prstGeom prst="rect">
            <a:avLst/>
          </a:prstGeom>
        </p:spPr>
      </p:pic>
      <p:sp>
        <p:nvSpPr>
          <p:cNvPr id="20" name="Shape 17"/>
          <p:cNvSpPr/>
          <p:nvPr/>
        </p:nvSpPr>
        <p:spPr>
          <a:xfrm>
            <a:off x="9665208" y="1234440"/>
            <a:ext cx="694944" cy="694944"/>
          </a:xfrm>
          <a:prstGeom prst="ellipse">
            <a:avLst/>
          </a:prstGeom>
          <a:solidFill>
            <a:srgbClr val="0B2038"/>
          </a:solidFill>
          <a:ln w="15875">
            <a:solidFill>
              <a:srgbClr val="2DD4BF">
                <a:alpha val="80000"/>
              </a:srgbClr>
            </a:solidFill>
            <a:prstDash val="solid"/>
          </a:ln>
          <a:effectLst>
            <a:outerShdw sx="100000" sy="100000" kx="0" ky="0" algn="bl" rotWithShape="0" blurRad="177800" dist="50800" dir="5400000">
              <a:srgbClr val="2DD4BF">
                <a:alpha val="35000"/>
              </a:srgbClr>
            </a:outerShdw>
          </a:effectLst>
        </p:spPr>
      </p:sp>
      <p:pic>
        <p:nvPicPr>
          <p:cNvPr id="21" name="Image 1" descr="preencoded.png">    </p:cNvPr>
          <p:cNvPicPr>
            <a:picLocks noChangeAspect="1"/>
          </p:cNvPicPr>
          <p:nvPr/>
        </p:nvPicPr>
        <p:blipFill>
          <a:blip r:embed="rId3"/>
          <a:stretch>
            <a:fillRect/>
          </a:stretch>
        </p:blipFill>
        <p:spPr>
          <a:xfrm>
            <a:off x="9829800" y="1399032"/>
            <a:ext cx="365760" cy="365760"/>
          </a:xfrm>
          <a:prstGeom prst="rect">
            <a:avLst/>
          </a:prstGeom>
        </p:spPr>
      </p:pic>
      <p:sp>
        <p:nvSpPr>
          <p:cNvPr id="22" name="Shape 18"/>
          <p:cNvSpPr/>
          <p:nvPr/>
        </p:nvSpPr>
        <p:spPr>
          <a:xfrm>
            <a:off x="8382340" y="3456432"/>
            <a:ext cx="694944" cy="694944"/>
          </a:xfrm>
          <a:prstGeom prst="ellipse">
            <a:avLst/>
          </a:prstGeom>
          <a:solidFill>
            <a:srgbClr val="0B2038"/>
          </a:solidFill>
          <a:ln w="15875">
            <a:solidFill>
              <a:srgbClr val="2DD4BF">
                <a:alpha val="80000"/>
              </a:srgbClr>
            </a:solidFill>
            <a:prstDash val="solid"/>
          </a:ln>
          <a:effectLst>
            <a:outerShdw sx="100000" sy="100000" kx="0" ky="0" algn="bl" rotWithShape="0" blurRad="177800" dist="50800" dir="5400000">
              <a:srgbClr val="2DD4BF">
                <a:alpha val="35000"/>
              </a:srgbClr>
            </a:outerShdw>
          </a:effectLst>
        </p:spPr>
      </p:sp>
      <p:pic>
        <p:nvPicPr>
          <p:cNvPr id="23" name="Image 2" descr="preencoded.png">    </p:cNvPr>
          <p:cNvPicPr>
            <a:picLocks noChangeAspect="1"/>
          </p:cNvPicPr>
          <p:nvPr/>
        </p:nvPicPr>
        <p:blipFill>
          <a:blip r:embed="rId4"/>
          <a:stretch>
            <a:fillRect/>
          </a:stretch>
        </p:blipFill>
        <p:spPr>
          <a:xfrm>
            <a:off x="8546932" y="3621024"/>
            <a:ext cx="365760" cy="365760"/>
          </a:xfrm>
          <a:prstGeom prst="rect">
            <a:avLst/>
          </a:prstGeom>
        </p:spPr>
      </p:pic>
      <p:sp>
        <p:nvSpPr>
          <p:cNvPr id="24" name="Shape 19"/>
          <p:cNvSpPr/>
          <p:nvPr/>
        </p:nvSpPr>
        <p:spPr>
          <a:xfrm>
            <a:off x="10948076" y="3456432"/>
            <a:ext cx="694944" cy="694944"/>
          </a:xfrm>
          <a:prstGeom prst="ellipse">
            <a:avLst/>
          </a:prstGeom>
          <a:solidFill>
            <a:srgbClr val="0B2038"/>
          </a:solidFill>
          <a:ln w="15875">
            <a:solidFill>
              <a:srgbClr val="2DD4BF">
                <a:alpha val="80000"/>
              </a:srgbClr>
            </a:solidFill>
            <a:prstDash val="solid"/>
          </a:ln>
          <a:effectLst>
            <a:outerShdw sx="100000" sy="100000" kx="0" ky="0" algn="bl" rotWithShape="0" blurRad="177800" dist="50800" dir="5400000">
              <a:srgbClr val="2DD4BF">
                <a:alpha val="35000"/>
              </a:srgbClr>
            </a:outerShdw>
          </a:effectLst>
        </p:spPr>
      </p:sp>
      <p:pic>
        <p:nvPicPr>
          <p:cNvPr id="25" name="Image 3" descr="preencoded.png">    </p:cNvPr>
          <p:cNvPicPr>
            <a:picLocks noChangeAspect="1"/>
          </p:cNvPicPr>
          <p:nvPr/>
        </p:nvPicPr>
        <p:blipFill>
          <a:blip r:embed="rId5"/>
          <a:stretch>
            <a:fillRect/>
          </a:stretch>
        </p:blipFill>
        <p:spPr>
          <a:xfrm>
            <a:off x="11112668" y="3621024"/>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AUSGANGSLAGE</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Warum die Schadensumme allein nicht ausreicht</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2 / 19</a:t>
            </a:r>
            <a:endParaRPr lang="de-DE" sz="900" dirty="0"/>
          </a:p>
        </p:txBody>
      </p:sp>
      <p:sp>
        <p:nvSpPr>
          <p:cNvPr id="6" name="Shape 4"/>
          <p:cNvSpPr/>
          <p:nvPr/>
        </p:nvSpPr>
        <p:spPr>
          <a:xfrm>
            <a:off x="548640" y="1572768"/>
            <a:ext cx="6675120" cy="914400"/>
          </a:xfrm>
          <a:prstGeom prst="roundRect">
            <a:avLst>
              <a:gd name="adj" fmla="val 12000"/>
            </a:avLst>
          </a:prstGeom>
          <a:solidFill>
            <a:srgbClr val="10213F">
              <a:alpha val="92000"/>
            </a:srgbClr>
          </a:solidFill>
          <a:ln w="12700">
            <a:solidFill>
              <a:srgbClr val="1E3A5F"/>
            </a:solidFill>
            <a:prstDash val="solid"/>
          </a:ln>
        </p:spPr>
      </p:sp>
      <p:sp>
        <p:nvSpPr>
          <p:cNvPr id="7" name="Shape 5"/>
          <p:cNvSpPr/>
          <p:nvPr/>
        </p:nvSpPr>
        <p:spPr>
          <a:xfrm>
            <a:off x="777240" y="1746504"/>
            <a:ext cx="566928" cy="566928"/>
          </a:xfrm>
          <a:prstGeom prst="ellipse">
            <a:avLst/>
          </a:prstGeom>
          <a:solidFill>
            <a:srgbClr val="0E2A47"/>
          </a:solidFill>
          <a:ln w="12700">
            <a:solidFill>
              <a:srgbClr val="22D3EE">
                <a:alpha val="55000"/>
              </a:srgbClr>
            </a:solidFill>
            <a:prstDash val="solid"/>
          </a:ln>
        </p:spPr>
      </p:sp>
      <p:pic>
        <p:nvPicPr>
          <p:cNvPr id="8" name="Image 0" descr="preencoded.png">    </p:cNvPr>
          <p:cNvPicPr>
            <a:picLocks noChangeAspect="1"/>
          </p:cNvPicPr>
          <p:nvPr/>
        </p:nvPicPr>
        <p:blipFill>
          <a:blip r:embed="rId2"/>
          <a:stretch>
            <a:fillRect/>
          </a:stretch>
        </p:blipFill>
        <p:spPr>
          <a:xfrm>
            <a:off x="918972" y="1888236"/>
            <a:ext cx="283464" cy="283464"/>
          </a:xfrm>
          <a:prstGeom prst="rect">
            <a:avLst/>
          </a:prstGeom>
        </p:spPr>
      </p:pic>
      <p:sp>
        <p:nvSpPr>
          <p:cNvPr id="9" name="Text 6"/>
          <p:cNvSpPr txBox="1"/>
          <p:nvPr/>
        </p:nvSpPr>
        <p:spPr>
          <a:xfrm>
            <a:off x="1572768" y="1709928"/>
            <a:ext cx="5394960" cy="329184"/>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Schadenfrequenz</a:t>
            </a:r>
            <a:endParaRPr lang="de-DE" sz="1700" dirty="0"/>
          </a:p>
        </p:txBody>
      </p:sp>
      <p:sp>
        <p:nvSpPr>
          <p:cNvPr id="10" name="Text 7"/>
          <p:cNvSpPr txBox="1"/>
          <p:nvPr/>
        </p:nvSpPr>
        <p:spPr>
          <a:xfrm>
            <a:off x="1572768" y="2048256"/>
            <a:ext cx="5394960" cy="310896"/>
          </a:xfrm>
          <a:prstGeom prst="rect">
            <a:avLst/>
          </a:prstGeom>
          <a:noFill/>
          <a:ln/>
        </p:spPr>
        <p:txBody>
          <a:bodyPr wrap="square" lIns="0" tIns="0" rIns="0" bIns="0" rtlCol="0" anchor="t"/>
          <a:lstStyle/>
          <a:p>
            <a:pPr indent="0" marL="0">
              <a:buNone/>
            </a:pPr>
            <a:r>
              <a:rPr lang="de-DE" altLang="en-US" sz="1300" dirty="0">
                <a:solidFill>
                  <a:srgbClr val="A9BBD0"/>
                </a:solidFill>
                <a:latin typeface="Segoe UI" pitchFamily="34" charset="0"/>
                <a:ea typeface="Segoe UI" pitchFamily="34" charset="-122"/>
                <a:cs typeface="Segoe UI" pitchFamily="34" charset="-120"/>
              </a:rPr>
              <a:t>Wie häufig treten Schäden auf?</a:t>
            </a:r>
            <a:endParaRPr lang="de-DE" sz="1300" dirty="0"/>
          </a:p>
        </p:txBody>
      </p:sp>
      <p:sp>
        <p:nvSpPr>
          <p:cNvPr id="11" name="Shape 8"/>
          <p:cNvSpPr/>
          <p:nvPr/>
        </p:nvSpPr>
        <p:spPr>
          <a:xfrm>
            <a:off x="548640" y="2651760"/>
            <a:ext cx="6675120" cy="914400"/>
          </a:xfrm>
          <a:prstGeom prst="roundRect">
            <a:avLst>
              <a:gd name="adj" fmla="val 12000"/>
            </a:avLst>
          </a:prstGeom>
          <a:solidFill>
            <a:srgbClr val="10213F">
              <a:alpha val="92000"/>
            </a:srgbClr>
          </a:solidFill>
          <a:ln w="12700">
            <a:solidFill>
              <a:srgbClr val="1E3A5F"/>
            </a:solidFill>
            <a:prstDash val="solid"/>
          </a:ln>
        </p:spPr>
      </p:sp>
      <p:sp>
        <p:nvSpPr>
          <p:cNvPr id="12" name="Shape 9"/>
          <p:cNvSpPr/>
          <p:nvPr/>
        </p:nvSpPr>
        <p:spPr>
          <a:xfrm>
            <a:off x="777240" y="2825496"/>
            <a:ext cx="566928" cy="566928"/>
          </a:xfrm>
          <a:prstGeom prst="ellipse">
            <a:avLst/>
          </a:prstGeom>
          <a:solidFill>
            <a:srgbClr val="0E2A47"/>
          </a:solidFill>
          <a:ln w="12700">
            <a:solidFill>
              <a:srgbClr val="22D3EE">
                <a:alpha val="55000"/>
              </a:srgbClr>
            </a:solidFill>
            <a:prstDash val="solid"/>
          </a:ln>
        </p:spPr>
      </p:sp>
      <p:pic>
        <p:nvPicPr>
          <p:cNvPr id="13" name="Image 1" descr="preencoded.png">    </p:cNvPr>
          <p:cNvPicPr>
            <a:picLocks noChangeAspect="1"/>
          </p:cNvPicPr>
          <p:nvPr/>
        </p:nvPicPr>
        <p:blipFill>
          <a:blip r:embed="rId3"/>
          <a:stretch>
            <a:fillRect/>
          </a:stretch>
        </p:blipFill>
        <p:spPr>
          <a:xfrm>
            <a:off x="918972" y="2967228"/>
            <a:ext cx="283464" cy="283464"/>
          </a:xfrm>
          <a:prstGeom prst="rect">
            <a:avLst/>
          </a:prstGeom>
        </p:spPr>
      </p:pic>
      <p:sp>
        <p:nvSpPr>
          <p:cNvPr id="14" name="Text 10"/>
          <p:cNvSpPr txBox="1"/>
          <p:nvPr/>
        </p:nvSpPr>
        <p:spPr>
          <a:xfrm>
            <a:off x="1572768" y="2788920"/>
            <a:ext cx="5394960" cy="329184"/>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Schadenhöhe</a:t>
            </a:r>
            <a:endParaRPr lang="de-DE" sz="1700" dirty="0"/>
          </a:p>
        </p:txBody>
      </p:sp>
      <p:sp>
        <p:nvSpPr>
          <p:cNvPr id="15" name="Text 11"/>
          <p:cNvSpPr txBox="1"/>
          <p:nvPr/>
        </p:nvSpPr>
        <p:spPr>
          <a:xfrm>
            <a:off x="1572768" y="3127248"/>
            <a:ext cx="5394960" cy="310896"/>
          </a:xfrm>
          <a:prstGeom prst="rect">
            <a:avLst/>
          </a:prstGeom>
          <a:noFill/>
          <a:ln/>
        </p:spPr>
        <p:txBody>
          <a:bodyPr wrap="square" lIns="0" tIns="0" rIns="0" bIns="0" rtlCol="0" anchor="t"/>
          <a:lstStyle/>
          <a:p>
            <a:pPr indent="0" marL="0">
              <a:buNone/>
            </a:pPr>
            <a:r>
              <a:rPr lang="de-DE" altLang="en-US" sz="1300" dirty="0">
                <a:solidFill>
                  <a:srgbClr val="A9BBD0"/>
                </a:solidFill>
                <a:latin typeface="Segoe UI" pitchFamily="34" charset="0"/>
                <a:ea typeface="Segoe UI" pitchFamily="34" charset="-122"/>
                <a:cs typeface="Segoe UI" pitchFamily="34" charset="-120"/>
              </a:rPr>
              <a:t>Wie teuer ist ein Schaden, wenn er eintritt?</a:t>
            </a:r>
            <a:endParaRPr lang="de-DE" sz="1300" dirty="0"/>
          </a:p>
        </p:txBody>
      </p:sp>
      <p:sp>
        <p:nvSpPr>
          <p:cNvPr id="16" name="Shape 12"/>
          <p:cNvSpPr/>
          <p:nvPr/>
        </p:nvSpPr>
        <p:spPr>
          <a:xfrm>
            <a:off x="548640" y="3730752"/>
            <a:ext cx="6675120" cy="914400"/>
          </a:xfrm>
          <a:prstGeom prst="roundRect">
            <a:avLst>
              <a:gd name="adj" fmla="val 12000"/>
            </a:avLst>
          </a:prstGeom>
          <a:solidFill>
            <a:srgbClr val="10213F">
              <a:alpha val="92000"/>
            </a:srgbClr>
          </a:solidFill>
          <a:ln w="12700">
            <a:solidFill>
              <a:srgbClr val="1E3A5F"/>
            </a:solidFill>
            <a:prstDash val="solid"/>
          </a:ln>
        </p:spPr>
      </p:sp>
      <p:sp>
        <p:nvSpPr>
          <p:cNvPr id="17" name="Shape 13"/>
          <p:cNvSpPr/>
          <p:nvPr/>
        </p:nvSpPr>
        <p:spPr>
          <a:xfrm>
            <a:off x="777240" y="3904488"/>
            <a:ext cx="566928" cy="566928"/>
          </a:xfrm>
          <a:prstGeom prst="ellipse">
            <a:avLst/>
          </a:prstGeom>
          <a:solidFill>
            <a:srgbClr val="0E2A47"/>
          </a:solidFill>
          <a:ln w="12700">
            <a:solidFill>
              <a:srgbClr val="22D3EE">
                <a:alpha val="55000"/>
              </a:srgbClr>
            </a:solidFill>
            <a:prstDash val="solid"/>
          </a:ln>
        </p:spPr>
      </p:sp>
      <p:pic>
        <p:nvPicPr>
          <p:cNvPr id="18" name="Image 2" descr="preencoded.png">    </p:cNvPr>
          <p:cNvPicPr>
            <a:picLocks noChangeAspect="1"/>
          </p:cNvPicPr>
          <p:nvPr/>
        </p:nvPicPr>
        <p:blipFill>
          <a:blip r:embed="rId4"/>
          <a:stretch>
            <a:fillRect/>
          </a:stretch>
        </p:blipFill>
        <p:spPr>
          <a:xfrm>
            <a:off x="918972" y="4046220"/>
            <a:ext cx="283464" cy="283464"/>
          </a:xfrm>
          <a:prstGeom prst="rect">
            <a:avLst/>
          </a:prstGeom>
        </p:spPr>
      </p:pic>
      <p:sp>
        <p:nvSpPr>
          <p:cNvPr id="19" name="Text 14"/>
          <p:cNvSpPr txBox="1"/>
          <p:nvPr/>
        </p:nvSpPr>
        <p:spPr>
          <a:xfrm>
            <a:off x="1572768" y="3867912"/>
            <a:ext cx="5394960" cy="329184"/>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Exposure</a:t>
            </a:r>
            <a:endParaRPr lang="de-DE" sz="1700" dirty="0"/>
          </a:p>
        </p:txBody>
      </p:sp>
      <p:sp>
        <p:nvSpPr>
          <p:cNvPr id="20" name="Text 15"/>
          <p:cNvSpPr txBox="1"/>
          <p:nvPr/>
        </p:nvSpPr>
        <p:spPr>
          <a:xfrm>
            <a:off x="1572768" y="4206240"/>
            <a:ext cx="5394960" cy="310896"/>
          </a:xfrm>
          <a:prstGeom prst="rect">
            <a:avLst/>
          </a:prstGeom>
          <a:noFill/>
          <a:ln/>
        </p:spPr>
        <p:txBody>
          <a:bodyPr wrap="square" lIns="0" tIns="0" rIns="0" bIns="0" rtlCol="0" anchor="t"/>
          <a:lstStyle/>
          <a:p>
            <a:pPr indent="0" marL="0">
              <a:buNone/>
            </a:pPr>
            <a:r>
              <a:rPr lang="de-DE" altLang="en-US" sz="1300" dirty="0">
                <a:solidFill>
                  <a:srgbClr val="A9BBD0"/>
                </a:solidFill>
                <a:latin typeface="Segoe UI" pitchFamily="34" charset="0"/>
                <a:ea typeface="Segoe UI" pitchFamily="34" charset="-122"/>
                <a:cs typeface="Segoe UI" pitchFamily="34" charset="-120"/>
              </a:rPr>
              <a:t>Wie lange war eine Police tatsächlich unter Risiko?</a:t>
            </a:r>
            <a:endParaRPr lang="de-DE" sz="1300" dirty="0"/>
          </a:p>
        </p:txBody>
      </p:sp>
      <p:sp>
        <p:nvSpPr>
          <p:cNvPr id="21" name="Shape 16"/>
          <p:cNvSpPr/>
          <p:nvPr/>
        </p:nvSpPr>
        <p:spPr>
          <a:xfrm>
            <a:off x="548640" y="4846320"/>
            <a:ext cx="6675120" cy="1417320"/>
          </a:xfrm>
          <a:prstGeom prst="roundRect">
            <a:avLst>
              <a:gd name="adj" fmla="val 7742"/>
            </a:avLst>
          </a:prstGeom>
          <a:solidFill>
            <a:srgbClr val="10213F">
              <a:alpha val="92000"/>
            </a:srgbClr>
          </a:solidFill>
          <a:ln w="12700">
            <a:solidFill>
              <a:srgbClr val="1E3A5F"/>
            </a:solidFill>
            <a:prstDash val="solid"/>
          </a:ln>
          <a:effectLst>
            <a:outerShdw sx="100000" sy="100000" kx="0" ky="0" algn="bl" rotWithShape="0" blurRad="228600" dist="50800" dir="5400000">
              <a:srgbClr val="22D3EE">
                <a:alpha val="32000"/>
              </a:srgbClr>
            </a:outerShdw>
          </a:effectLst>
        </p:spPr>
      </p:sp>
      <p:sp>
        <p:nvSpPr>
          <p:cNvPr id="22" name="Text 17"/>
          <p:cNvSpPr txBox="1"/>
          <p:nvPr/>
        </p:nvSpPr>
        <p:spPr>
          <a:xfrm>
            <a:off x="822960" y="4983480"/>
            <a:ext cx="612648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SCHADENBEDARF (PURE PREMIUM)</a:t>
            </a:r>
            <a:endParaRPr lang="de-DE" sz="1000" dirty="0"/>
          </a:p>
        </p:txBody>
      </p:sp>
      <p:sp>
        <p:nvSpPr>
          <p:cNvPr id="23" name="Text 18"/>
          <p:cNvSpPr txBox="1"/>
          <p:nvPr/>
        </p:nvSpPr>
        <p:spPr>
          <a:xfrm>
            <a:off x="822960" y="5257800"/>
            <a:ext cx="6126480" cy="438912"/>
          </a:xfrm>
          <a:prstGeom prst="rect">
            <a:avLst/>
          </a:prstGeom>
          <a:noFill/>
          <a:ln/>
        </p:spPr>
        <p:txBody>
          <a:bodyPr wrap="square" lIns="0" tIns="0" rIns="0" bIns="0" rtlCol="0" anchor="ctr"/>
          <a:lstStyle/>
          <a:p>
            <a:pPr indent="0" marL="0">
              <a:buNone/>
            </a:pPr>
            <a:r>
              <a:rPr lang="de-DE" altLang="en-US" sz="2100" dirty="0">
                <a:solidFill>
                  <a:srgbClr val="38BDF8"/>
                </a:solidFill>
                <a:latin typeface="Segoe UI Semibold" pitchFamily="34" charset="0"/>
                <a:ea typeface="Segoe UI Semibold" pitchFamily="34" charset="-122"/>
                <a:cs typeface="Segoe UI Semibold" pitchFamily="34" charset="-120"/>
              </a:rPr>
              <a:t>erwartete Frequenz</a:t>
            </a:r>
            <a:pPr indent="0" marL="0">
              <a:buNone/>
            </a:pPr>
            <a:r>
              <a:rPr lang="de-DE" altLang="en-US" sz="2100" dirty="0">
                <a:solidFill>
                  <a:srgbClr val="EEF4FB"/>
                </a:solidFill>
                <a:latin typeface="Segoe UI Semibold" pitchFamily="34" charset="0"/>
                <a:ea typeface="Segoe UI Semibold" pitchFamily="34" charset="-122"/>
                <a:cs typeface="Segoe UI Semibold" pitchFamily="34" charset="-120"/>
              </a:rPr>
              <a:t>  ×  </a:t>
            </a:r>
            <a:pPr indent="0" marL="0">
              <a:buNone/>
            </a:pPr>
            <a:r>
              <a:rPr lang="de-DE" altLang="en-US" sz="2100" dirty="0">
                <a:solidFill>
                  <a:srgbClr val="A78BFA"/>
                </a:solidFill>
                <a:latin typeface="Segoe UI Semibold" pitchFamily="34" charset="0"/>
                <a:ea typeface="Segoe UI Semibold" pitchFamily="34" charset="-122"/>
                <a:cs typeface="Segoe UI Semibold" pitchFamily="34" charset="-120"/>
              </a:rPr>
              <a:t>erwartete Schadenhöhe</a:t>
            </a:r>
            <a:endParaRPr lang="de-DE" sz="2100" dirty="0"/>
          </a:p>
        </p:txBody>
      </p:sp>
      <p:sp>
        <p:nvSpPr>
          <p:cNvPr id="24" name="Text 19"/>
          <p:cNvSpPr txBox="1"/>
          <p:nvPr/>
        </p:nvSpPr>
        <p:spPr>
          <a:xfrm>
            <a:off x="822960" y="5742432"/>
            <a:ext cx="6217920" cy="365760"/>
          </a:xfrm>
          <a:prstGeom prst="rect">
            <a:avLst/>
          </a:prstGeom>
          <a:noFill/>
          <a:ln/>
        </p:spPr>
        <p:txBody>
          <a:bodyPr wrap="square" lIns="0" tIns="0" rIns="0" bIns="0" rtlCol="0" anchor="t"/>
          <a:lstStyle/>
          <a:p>
            <a:pPr indent="0" marL="0">
              <a:buNone/>
            </a:pPr>
            <a:r>
              <a:rPr lang="de-DE" altLang="en-US" sz="1250" dirty="0">
                <a:solidFill>
                  <a:srgbClr val="A9BBD0"/>
                </a:solidFill>
                <a:latin typeface="Segoe UI" pitchFamily="34" charset="0"/>
                <a:ea typeface="Segoe UI" pitchFamily="34" charset="-122"/>
                <a:cs typeface="Segoe UI" pitchFamily="34" charset="-120"/>
              </a:rPr>
              <a:t>= statistisch erwartete jährliche Schadenkosten je Police – kein Kundenpreis</a:t>
            </a:r>
            <a:endParaRPr lang="de-DE" sz="1250" dirty="0"/>
          </a:p>
        </p:txBody>
      </p:sp>
      <p:sp>
        <p:nvSpPr>
          <p:cNvPr id="25" name="Shape 20"/>
          <p:cNvSpPr/>
          <p:nvPr/>
        </p:nvSpPr>
        <p:spPr>
          <a:xfrm>
            <a:off x="7452360" y="1572768"/>
            <a:ext cx="4187952" cy="2331720"/>
          </a:xfrm>
          <a:prstGeom prst="roundRect">
            <a:avLst>
              <a:gd name="adj" fmla="val 4706"/>
            </a:avLst>
          </a:prstGeom>
          <a:solidFill>
            <a:srgbClr val="10213F">
              <a:alpha val="92000"/>
            </a:srgbClr>
          </a:solidFill>
          <a:ln w="12700">
            <a:solidFill>
              <a:srgbClr val="1E3A5F"/>
            </a:solidFill>
            <a:prstDash val="solid"/>
          </a:ln>
        </p:spPr>
      </p:sp>
      <p:sp>
        <p:nvSpPr>
          <p:cNvPr id="26" name="Text 21"/>
          <p:cNvSpPr txBox="1"/>
          <p:nvPr/>
        </p:nvSpPr>
        <p:spPr>
          <a:xfrm>
            <a:off x="7726680" y="1737360"/>
            <a:ext cx="36576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ZENTRALE FRAGESTELLUNG</a:t>
            </a:r>
            <a:endParaRPr lang="de-DE" sz="1000" dirty="0"/>
          </a:p>
        </p:txBody>
      </p:sp>
      <p:sp>
        <p:nvSpPr>
          <p:cNvPr id="27" name="Text 22"/>
          <p:cNvSpPr txBox="1"/>
          <p:nvPr/>
        </p:nvSpPr>
        <p:spPr>
          <a:xfrm>
            <a:off x="7726680" y="2057400"/>
            <a:ext cx="3657600" cy="1737360"/>
          </a:xfrm>
          <a:prstGeom prst="rect">
            <a:avLst/>
          </a:prstGeom>
          <a:noFill/>
          <a:ln/>
        </p:spPr>
        <p:txBody>
          <a:bodyPr wrap="square" lIns="0" tIns="0" rIns="0" bIns="0" rtlCol="0" anchor="ctr"/>
          <a:lstStyle/>
          <a:p>
            <a:pPr indent="0" marL="0">
              <a:buNone/>
            </a:pPr>
            <a:r>
              <a:rPr lang="de-DE" altLang="en-US" sz="1500" i="1" dirty="0">
                <a:solidFill>
                  <a:srgbClr val="EEF4FB"/>
                </a:solidFill>
                <a:latin typeface="Segoe UI" pitchFamily="34" charset="0"/>
                <a:ea typeface="Segoe UI" pitchFamily="34" charset="-122"/>
                <a:cs typeface="Segoe UI" pitchFamily="34" charset="-120"/>
              </a:rPr>
              <a:t>„Welche annualisierten Schadenkosten sind für unterschiedliche Versicherungsprofile statistisch zu erwarten – und wie können Underwriting und Portfoliosteuerung dadurch datenbasiert unterstützt werden?“</a:t>
            </a:r>
            <a:endParaRPr lang="de-DE" sz="1500" dirty="0"/>
          </a:p>
        </p:txBody>
      </p:sp>
      <p:sp>
        <p:nvSpPr>
          <p:cNvPr id="28" name="Shape 23"/>
          <p:cNvSpPr/>
          <p:nvPr/>
        </p:nvSpPr>
        <p:spPr>
          <a:xfrm>
            <a:off x="7452360" y="4069080"/>
            <a:ext cx="4187952" cy="1024128"/>
          </a:xfrm>
          <a:prstGeom prst="roundRect">
            <a:avLst>
              <a:gd name="adj" fmla="val 10714"/>
            </a:avLst>
          </a:prstGeom>
          <a:solidFill>
            <a:srgbClr val="10213F">
              <a:alpha val="92000"/>
            </a:srgbClr>
          </a:solidFill>
          <a:ln w="12700">
            <a:solidFill>
              <a:srgbClr val="1E3A5F"/>
            </a:solidFill>
            <a:prstDash val="solid"/>
          </a:ln>
        </p:spPr>
      </p:sp>
      <p:pic>
        <p:nvPicPr>
          <p:cNvPr id="29" name="Image 3" descr="preencoded.png">    </p:cNvPr>
          <p:cNvPicPr>
            <a:picLocks noChangeAspect="1"/>
          </p:cNvPicPr>
          <p:nvPr/>
        </p:nvPicPr>
        <p:blipFill>
          <a:blip r:embed="rId5"/>
          <a:stretch>
            <a:fillRect/>
          </a:stretch>
        </p:blipFill>
        <p:spPr>
          <a:xfrm>
            <a:off x="7726680" y="4224528"/>
            <a:ext cx="329184" cy="329184"/>
          </a:xfrm>
          <a:prstGeom prst="rect">
            <a:avLst/>
          </a:prstGeom>
        </p:spPr>
      </p:pic>
      <p:sp>
        <p:nvSpPr>
          <p:cNvPr id="30" name="Text 24"/>
          <p:cNvSpPr txBox="1"/>
          <p:nvPr/>
        </p:nvSpPr>
        <p:spPr>
          <a:xfrm>
            <a:off x="8183880" y="4242816"/>
            <a:ext cx="3200400" cy="274320"/>
          </a:xfrm>
          <a:prstGeom prst="rect">
            <a:avLst/>
          </a:prstGeom>
          <a:noFill/>
          <a:ln/>
        </p:spPr>
        <p:txBody>
          <a:bodyPr wrap="square" lIns="0" tIns="0" rIns="0" bIns="0" rtlCol="0" anchor="ctr"/>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ZIELGRUPPEN</a:t>
            </a:r>
            <a:endParaRPr lang="de-DE" sz="1000" dirty="0"/>
          </a:p>
        </p:txBody>
      </p:sp>
      <p:sp>
        <p:nvSpPr>
          <p:cNvPr id="31" name="Text 25"/>
          <p:cNvSpPr txBox="1"/>
          <p:nvPr/>
        </p:nvSpPr>
        <p:spPr>
          <a:xfrm>
            <a:off x="7726680" y="4599432"/>
            <a:ext cx="3703320" cy="411480"/>
          </a:xfrm>
          <a:prstGeom prst="rect">
            <a:avLst/>
          </a:prstGeom>
          <a:noFill/>
          <a:ln/>
        </p:spPr>
        <p:txBody>
          <a:bodyPr wrap="square" lIns="0" tIns="0" rIns="0" bIns="0" rtlCol="0" anchor="t"/>
          <a:lstStyle/>
          <a:p>
            <a:pPr indent="0" marL="0">
              <a:buNone/>
            </a:pPr>
            <a:r>
              <a:rPr lang="de-DE" altLang="en-US" sz="1200" dirty="0">
                <a:solidFill>
                  <a:srgbClr val="EEF4FB"/>
                </a:solidFill>
                <a:latin typeface="Segoe UI" pitchFamily="34" charset="0"/>
                <a:ea typeface="Segoe UI" pitchFamily="34" charset="-122"/>
                <a:cs typeface="Segoe UI" pitchFamily="34" charset="-120"/>
              </a:rPr>
              <a:t>Underwriting · Portfoliosteuerung · Data &amp; Business Analytics</a:t>
            </a:r>
            <a:endParaRPr lang="de-DE" sz="1200" dirty="0"/>
          </a:p>
        </p:txBody>
      </p:sp>
      <p:sp>
        <p:nvSpPr>
          <p:cNvPr id="32" name="Shape 26"/>
          <p:cNvSpPr/>
          <p:nvPr/>
        </p:nvSpPr>
        <p:spPr>
          <a:xfrm>
            <a:off x="7452360" y="5257800"/>
            <a:ext cx="4187952" cy="1005840"/>
          </a:xfrm>
          <a:prstGeom prst="roundRect">
            <a:avLst>
              <a:gd name="adj" fmla="val 10909"/>
            </a:avLst>
          </a:prstGeom>
          <a:solidFill>
            <a:srgbClr val="10213F">
              <a:alpha val="92000"/>
            </a:srgbClr>
          </a:solidFill>
          <a:ln w="12700">
            <a:solidFill>
              <a:srgbClr val="1E3A5F"/>
            </a:solidFill>
            <a:prstDash val="solid"/>
          </a:ln>
        </p:spPr>
      </p:sp>
      <p:pic>
        <p:nvPicPr>
          <p:cNvPr id="33" name="Image 4" descr="preencoded.png">    </p:cNvPr>
          <p:cNvPicPr>
            <a:picLocks noChangeAspect="1"/>
          </p:cNvPicPr>
          <p:nvPr/>
        </p:nvPicPr>
        <p:blipFill>
          <a:blip r:embed="rId6"/>
          <a:stretch>
            <a:fillRect/>
          </a:stretch>
        </p:blipFill>
        <p:spPr>
          <a:xfrm>
            <a:off x="7726680" y="5413248"/>
            <a:ext cx="329184" cy="329184"/>
          </a:xfrm>
          <a:prstGeom prst="rect">
            <a:avLst/>
          </a:prstGeom>
        </p:spPr>
      </p:pic>
      <p:sp>
        <p:nvSpPr>
          <p:cNvPr id="34" name="Text 27"/>
          <p:cNvSpPr txBox="1"/>
          <p:nvPr/>
        </p:nvSpPr>
        <p:spPr>
          <a:xfrm>
            <a:off x="8183880" y="5431536"/>
            <a:ext cx="3383280" cy="274320"/>
          </a:xfrm>
          <a:prstGeom prst="rect">
            <a:avLst/>
          </a:prstGeom>
          <a:noFill/>
          <a:ln/>
        </p:spPr>
        <p:txBody>
          <a:bodyPr wrap="square" lIns="0" tIns="0" rIns="0" bIns="0" rtlCol="0" anchor="ctr"/>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ENTSCHEIDUNGSUNTERSTÜTZUNG</a:t>
            </a:r>
            <a:endParaRPr lang="de-DE" sz="1000" dirty="0"/>
          </a:p>
        </p:txBody>
      </p:sp>
      <p:sp>
        <p:nvSpPr>
          <p:cNvPr id="35" name="Text 28"/>
          <p:cNvSpPr txBox="1"/>
          <p:nvPr/>
        </p:nvSpPr>
        <p:spPr>
          <a:xfrm>
            <a:off x="7726680" y="5788152"/>
            <a:ext cx="3703320" cy="365760"/>
          </a:xfrm>
          <a:prstGeom prst="rect">
            <a:avLst/>
          </a:prstGeom>
          <a:noFill/>
          <a:ln/>
        </p:spPr>
        <p:txBody>
          <a:bodyPr wrap="square" lIns="0" tIns="0" rIns="0" bIns="0" rtlCol="0" anchor="t"/>
          <a:lstStyle/>
          <a:p>
            <a:pPr indent="0" marL="0">
              <a:buNone/>
            </a:pPr>
            <a:r>
              <a:rPr lang="de-DE" altLang="en-US" sz="1200" dirty="0">
                <a:solidFill>
                  <a:srgbClr val="EEF4FB"/>
                </a:solidFill>
                <a:latin typeface="Segoe UI" pitchFamily="34" charset="0"/>
                <a:ea typeface="Segoe UI" pitchFamily="34" charset="-122"/>
                <a:cs typeface="Segoe UI" pitchFamily="34" charset="-120"/>
              </a:rPr>
              <a:t>keine Tarifierung · keine automatischen Entscheidungen</a:t>
            </a:r>
            <a:endParaRPr lang="de-DE"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DATENBASIS</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Zwei öffentliche Datensätze – eine Zeile pro Police</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3 / 19</a:t>
            </a:r>
            <a:endParaRPr lang="de-DE" sz="900" dirty="0"/>
          </a:p>
        </p:txBody>
      </p:sp>
      <p:sp>
        <p:nvSpPr>
          <p:cNvPr id="6" name="Shape 4"/>
          <p:cNvSpPr/>
          <p:nvPr/>
        </p:nvSpPr>
        <p:spPr>
          <a:xfrm>
            <a:off x="548640" y="1572768"/>
            <a:ext cx="3977640" cy="2286000"/>
          </a:xfrm>
          <a:prstGeom prst="roundRect">
            <a:avLst>
              <a:gd name="adj" fmla="val 4800"/>
            </a:avLst>
          </a:prstGeom>
          <a:solidFill>
            <a:srgbClr val="10213F">
              <a:alpha val="92000"/>
            </a:srgbClr>
          </a:solidFill>
          <a:ln w="12700">
            <a:solidFill>
              <a:srgbClr val="1E3A5F"/>
            </a:solidFill>
            <a:prstDash val="solid"/>
          </a:ln>
        </p:spPr>
      </p:sp>
      <p:sp>
        <p:nvSpPr>
          <p:cNvPr id="7" name="Shape 5"/>
          <p:cNvSpPr/>
          <p:nvPr/>
        </p:nvSpPr>
        <p:spPr>
          <a:xfrm>
            <a:off x="777240" y="1773936"/>
            <a:ext cx="502920" cy="502920"/>
          </a:xfrm>
          <a:prstGeom prst="ellipse">
            <a:avLst/>
          </a:prstGeom>
          <a:solidFill>
            <a:srgbClr val="0E2A47"/>
          </a:solidFill>
          <a:ln w="12700">
            <a:solidFill>
              <a:srgbClr val="22D3EE">
                <a:alpha val="55000"/>
              </a:srgbClr>
            </a:solidFill>
            <a:prstDash val="solid"/>
          </a:ln>
        </p:spPr>
      </p:sp>
      <p:pic>
        <p:nvPicPr>
          <p:cNvPr id="8" name="Image 0" descr="preencoded.png">    </p:cNvPr>
          <p:cNvPicPr>
            <a:picLocks noChangeAspect="1"/>
          </p:cNvPicPr>
          <p:nvPr/>
        </p:nvPicPr>
        <p:blipFill>
          <a:blip r:embed="rId2"/>
          <a:stretch>
            <a:fillRect/>
          </a:stretch>
        </p:blipFill>
        <p:spPr>
          <a:xfrm>
            <a:off x="902970" y="1899666"/>
            <a:ext cx="251460" cy="251460"/>
          </a:xfrm>
          <a:prstGeom prst="rect">
            <a:avLst/>
          </a:prstGeom>
        </p:spPr>
      </p:pic>
      <p:sp>
        <p:nvSpPr>
          <p:cNvPr id="9" name="Text 6"/>
          <p:cNvSpPr txBox="1"/>
          <p:nvPr/>
        </p:nvSpPr>
        <p:spPr>
          <a:xfrm>
            <a:off x="1417320" y="1755648"/>
            <a:ext cx="2926080" cy="292608"/>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freMTPL2freq</a:t>
            </a:r>
            <a:endParaRPr lang="de-DE" sz="1500" dirty="0"/>
          </a:p>
        </p:txBody>
      </p:sp>
      <p:sp>
        <p:nvSpPr>
          <p:cNvPr id="10" name="Text 7"/>
          <p:cNvSpPr txBox="1"/>
          <p:nvPr/>
        </p:nvSpPr>
        <p:spPr>
          <a:xfrm>
            <a:off x="1417320" y="2029968"/>
            <a:ext cx="2926080" cy="256032"/>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Policen &amp; Risikomerkmale</a:t>
            </a:r>
            <a:endParaRPr lang="de-DE" sz="1100" dirty="0"/>
          </a:p>
        </p:txBody>
      </p:sp>
      <p:sp>
        <p:nvSpPr>
          <p:cNvPr id="11" name="Text 8"/>
          <p:cNvSpPr txBox="1"/>
          <p:nvPr/>
        </p:nvSpPr>
        <p:spPr>
          <a:xfrm>
            <a:off x="777240" y="2441448"/>
            <a:ext cx="3566160" cy="502920"/>
          </a:xfrm>
          <a:prstGeom prst="rect">
            <a:avLst/>
          </a:prstGeom>
          <a:noFill/>
          <a:ln/>
        </p:spPr>
        <p:txBody>
          <a:bodyPr wrap="square" lIns="0" tIns="0" rIns="0" bIns="0" rtlCol="0" anchor="ctr"/>
          <a:lstStyle/>
          <a:p>
            <a:pPr indent="0" marL="0">
              <a:buNone/>
            </a:pPr>
            <a:r>
              <a:rPr lang="de-DE" altLang="en-US" sz="3000" dirty="0">
                <a:solidFill>
                  <a:srgbClr val="22D3EE"/>
                </a:solidFill>
                <a:latin typeface="Segoe UI Semibold" pitchFamily="34" charset="0"/>
                <a:ea typeface="Segoe UI Semibold" pitchFamily="34" charset="-122"/>
                <a:cs typeface="Segoe UI Semibold" pitchFamily="34" charset="-120"/>
              </a:rPr>
              <a:t>678.013</a:t>
            </a:r>
            <a:endParaRPr lang="de-DE" sz="3000" dirty="0"/>
          </a:p>
        </p:txBody>
      </p:sp>
      <p:sp>
        <p:nvSpPr>
          <p:cNvPr id="12" name="Text 9"/>
          <p:cNvSpPr txBox="1"/>
          <p:nvPr/>
        </p:nvSpPr>
        <p:spPr>
          <a:xfrm>
            <a:off x="777240" y="2944368"/>
            <a:ext cx="3566160" cy="256032"/>
          </a:xfrm>
          <a:prstGeom prst="rect">
            <a:avLst/>
          </a:prstGeom>
          <a:noFill/>
          <a:ln/>
        </p:spPr>
        <p:txBody>
          <a:bodyPr wrap="square" lIns="0" tIns="0" rIns="0" bIns="0" rtlCol="0" anchor="t"/>
          <a:lstStyle/>
          <a:p>
            <a:pPr indent="0" marL="0">
              <a:buNone/>
            </a:pPr>
            <a:r>
              <a:rPr lang="de-DE" altLang="en-US" sz="1150" dirty="0">
                <a:solidFill>
                  <a:srgbClr val="EEF4FB"/>
                </a:solidFill>
                <a:latin typeface="Segoe UI" pitchFamily="34" charset="0"/>
                <a:ea typeface="Segoe UI" pitchFamily="34" charset="-122"/>
                <a:cs typeface="Segoe UI" pitchFamily="34" charset="-120"/>
              </a:rPr>
              <a:t>Policen · 12 Spalten</a:t>
            </a:r>
            <a:endParaRPr lang="de-DE" sz="1150" dirty="0"/>
          </a:p>
        </p:txBody>
      </p:sp>
      <p:sp>
        <p:nvSpPr>
          <p:cNvPr id="13" name="Text 10"/>
          <p:cNvSpPr txBox="1"/>
          <p:nvPr/>
        </p:nvSpPr>
        <p:spPr>
          <a:xfrm>
            <a:off x="777240" y="3236976"/>
            <a:ext cx="3566160" cy="502920"/>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Schadenanzahl &amp; Exposure · Fahreralter, Bonus-Malus, Fahrzeug, Region</a:t>
            </a:r>
            <a:endParaRPr lang="de-DE" sz="1100" dirty="0"/>
          </a:p>
        </p:txBody>
      </p:sp>
      <p:sp>
        <p:nvSpPr>
          <p:cNvPr id="14" name="Shape 11"/>
          <p:cNvSpPr/>
          <p:nvPr/>
        </p:nvSpPr>
        <p:spPr>
          <a:xfrm>
            <a:off x="548640" y="3995928"/>
            <a:ext cx="3977640" cy="2267712"/>
          </a:xfrm>
          <a:prstGeom prst="roundRect">
            <a:avLst>
              <a:gd name="adj" fmla="val 4839"/>
            </a:avLst>
          </a:prstGeom>
          <a:solidFill>
            <a:srgbClr val="10213F">
              <a:alpha val="92000"/>
            </a:srgbClr>
          </a:solidFill>
          <a:ln w="12700">
            <a:solidFill>
              <a:srgbClr val="1E3A5F"/>
            </a:solidFill>
            <a:prstDash val="solid"/>
          </a:ln>
        </p:spPr>
      </p:sp>
      <p:sp>
        <p:nvSpPr>
          <p:cNvPr id="15" name="Shape 12"/>
          <p:cNvSpPr/>
          <p:nvPr/>
        </p:nvSpPr>
        <p:spPr>
          <a:xfrm>
            <a:off x="777240" y="4197096"/>
            <a:ext cx="502920" cy="502920"/>
          </a:xfrm>
          <a:prstGeom prst="ellipse">
            <a:avLst/>
          </a:prstGeom>
          <a:solidFill>
            <a:srgbClr val="0E2A47"/>
          </a:solidFill>
          <a:ln w="12700">
            <a:solidFill>
              <a:srgbClr val="22D3EE">
                <a:alpha val="55000"/>
              </a:srgbClr>
            </a:solidFill>
            <a:prstDash val="solid"/>
          </a:ln>
        </p:spPr>
      </p:sp>
      <p:pic>
        <p:nvPicPr>
          <p:cNvPr id="16" name="Image 1" descr="preencoded.png">    </p:cNvPr>
          <p:cNvPicPr>
            <a:picLocks noChangeAspect="1"/>
          </p:cNvPicPr>
          <p:nvPr/>
        </p:nvPicPr>
        <p:blipFill>
          <a:blip r:embed="rId3"/>
          <a:stretch>
            <a:fillRect/>
          </a:stretch>
        </p:blipFill>
        <p:spPr>
          <a:xfrm>
            <a:off x="902970" y="4322826"/>
            <a:ext cx="251460" cy="251460"/>
          </a:xfrm>
          <a:prstGeom prst="rect">
            <a:avLst/>
          </a:prstGeom>
        </p:spPr>
      </p:pic>
      <p:sp>
        <p:nvSpPr>
          <p:cNvPr id="17" name="Text 13"/>
          <p:cNvSpPr txBox="1"/>
          <p:nvPr/>
        </p:nvSpPr>
        <p:spPr>
          <a:xfrm>
            <a:off x="1417320" y="4178808"/>
            <a:ext cx="2926080" cy="292608"/>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freMTPL2sev</a:t>
            </a:r>
            <a:endParaRPr lang="de-DE" sz="1500" dirty="0"/>
          </a:p>
        </p:txBody>
      </p:sp>
      <p:sp>
        <p:nvSpPr>
          <p:cNvPr id="18" name="Text 14"/>
          <p:cNvSpPr txBox="1"/>
          <p:nvPr/>
        </p:nvSpPr>
        <p:spPr>
          <a:xfrm>
            <a:off x="1417320" y="4453128"/>
            <a:ext cx="2926080" cy="256032"/>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Einzelne Schadenbeträge</a:t>
            </a:r>
            <a:endParaRPr lang="de-DE" sz="1100" dirty="0"/>
          </a:p>
        </p:txBody>
      </p:sp>
      <p:sp>
        <p:nvSpPr>
          <p:cNvPr id="19" name="Text 15"/>
          <p:cNvSpPr txBox="1"/>
          <p:nvPr/>
        </p:nvSpPr>
        <p:spPr>
          <a:xfrm>
            <a:off x="777240" y="4864608"/>
            <a:ext cx="3566160" cy="502920"/>
          </a:xfrm>
          <a:prstGeom prst="rect">
            <a:avLst/>
          </a:prstGeom>
          <a:noFill/>
          <a:ln/>
        </p:spPr>
        <p:txBody>
          <a:bodyPr wrap="square" lIns="0" tIns="0" rIns="0" bIns="0" rtlCol="0" anchor="ctr"/>
          <a:lstStyle/>
          <a:p>
            <a:pPr indent="0" marL="0">
              <a:buNone/>
            </a:pPr>
            <a:r>
              <a:rPr lang="de-DE" altLang="en-US" sz="3000" dirty="0">
                <a:solidFill>
                  <a:srgbClr val="22D3EE"/>
                </a:solidFill>
                <a:latin typeface="Segoe UI Semibold" pitchFamily="34" charset="0"/>
                <a:ea typeface="Segoe UI Semibold" pitchFamily="34" charset="-122"/>
                <a:cs typeface="Segoe UI Semibold" pitchFamily="34" charset="-120"/>
              </a:rPr>
              <a:t>26.639</a:t>
            </a:r>
            <a:endParaRPr lang="de-DE" sz="3000" dirty="0"/>
          </a:p>
        </p:txBody>
      </p:sp>
      <p:sp>
        <p:nvSpPr>
          <p:cNvPr id="20" name="Text 16"/>
          <p:cNvSpPr txBox="1"/>
          <p:nvPr/>
        </p:nvSpPr>
        <p:spPr>
          <a:xfrm>
            <a:off x="777240" y="5367528"/>
            <a:ext cx="3566160" cy="256032"/>
          </a:xfrm>
          <a:prstGeom prst="rect">
            <a:avLst/>
          </a:prstGeom>
          <a:noFill/>
          <a:ln/>
        </p:spPr>
        <p:txBody>
          <a:bodyPr wrap="square" lIns="0" tIns="0" rIns="0" bIns="0" rtlCol="0" anchor="t"/>
          <a:lstStyle/>
          <a:p>
            <a:pPr indent="0" marL="0">
              <a:buNone/>
            </a:pPr>
            <a:r>
              <a:rPr lang="de-DE" altLang="en-US" sz="1150" dirty="0">
                <a:solidFill>
                  <a:srgbClr val="EEF4FB"/>
                </a:solidFill>
                <a:latin typeface="Segoe UI" pitchFamily="34" charset="0"/>
                <a:ea typeface="Segoe UI" pitchFamily="34" charset="-122"/>
                <a:cs typeface="Segoe UI" pitchFamily="34" charset="-120"/>
              </a:rPr>
              <a:t>Schadenrecords · Policen-ID &amp; Betrag</a:t>
            </a:r>
            <a:endParaRPr lang="de-DE" sz="1150" dirty="0"/>
          </a:p>
        </p:txBody>
      </p:sp>
      <p:sp>
        <p:nvSpPr>
          <p:cNvPr id="21" name="Text 17"/>
          <p:cNvSpPr txBox="1"/>
          <p:nvPr/>
        </p:nvSpPr>
        <p:spPr>
          <a:xfrm>
            <a:off x="777240" y="5660136"/>
            <a:ext cx="3566160" cy="502920"/>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Mehrere Schäden je Police möglich</a:t>
            </a:r>
            <a:endParaRPr lang="de-DE" sz="1100" dirty="0"/>
          </a:p>
        </p:txBody>
      </p:sp>
      <p:sp>
        <p:nvSpPr>
          <p:cNvPr id="22" name="Text 18"/>
          <p:cNvSpPr txBox="1"/>
          <p:nvPr/>
        </p:nvSpPr>
        <p:spPr>
          <a:xfrm>
            <a:off x="4617720" y="2971800"/>
            <a:ext cx="1645920" cy="457200"/>
          </a:xfrm>
          <a:prstGeom prst="rect">
            <a:avLst/>
          </a:prstGeom>
          <a:noFill/>
          <a:ln/>
        </p:spPr>
        <p:txBody>
          <a:bodyPr wrap="square" lIns="0" tIns="0" rIns="0" bIns="0" rtlCol="0" anchor="b"/>
          <a:lstStyle/>
          <a:p>
            <a:pPr algn="ctr" indent="0" marL="0">
              <a:buNone/>
            </a:pPr>
            <a:r>
              <a:rPr lang="de-DE" altLang="en-US" sz="1050" dirty="0">
                <a:solidFill>
                  <a:srgbClr val="A9BBD0"/>
                </a:solidFill>
                <a:latin typeface="Segoe UI" pitchFamily="34" charset="0"/>
                <a:ea typeface="Segoe UI" pitchFamily="34" charset="-122"/>
                <a:cs typeface="Segoe UI" pitchFamily="34" charset="-120"/>
              </a:rPr>
              <a:t>Schäden je Police aggregieren</a:t>
            </a:r>
            <a:endParaRPr lang="de-DE" sz="1050" dirty="0"/>
          </a:p>
        </p:txBody>
      </p:sp>
      <p:sp>
        <p:nvSpPr>
          <p:cNvPr id="23" name="Shape 19"/>
          <p:cNvSpPr/>
          <p:nvPr/>
        </p:nvSpPr>
        <p:spPr>
          <a:xfrm>
            <a:off x="4800600" y="3520440"/>
            <a:ext cx="1280160" cy="502920"/>
          </a:xfrm>
          <a:prstGeom prst="rightArrow">
            <a:avLst/>
          </a:prstGeom>
          <a:solidFill>
            <a:srgbClr val="22D3EE">
              <a:alpha val="75000"/>
            </a:srgbClr>
          </a:solidFill>
          <a:ln w="12700">
            <a:solidFill>
              <a:srgbClr val="22D3EE"/>
            </a:solidFill>
            <a:prstDash val="solid"/>
          </a:ln>
        </p:spPr>
      </p:sp>
      <p:sp>
        <p:nvSpPr>
          <p:cNvPr id="24" name="Text 20"/>
          <p:cNvSpPr txBox="1"/>
          <p:nvPr/>
        </p:nvSpPr>
        <p:spPr>
          <a:xfrm>
            <a:off x="4617720" y="4114800"/>
            <a:ext cx="1645920" cy="457200"/>
          </a:xfrm>
          <a:prstGeom prst="rect">
            <a:avLst/>
          </a:prstGeom>
          <a:noFill/>
          <a:ln/>
        </p:spPr>
        <p:txBody>
          <a:bodyPr wrap="square" lIns="0" tIns="0" rIns="0" bIns="0" rtlCol="0" anchor="t"/>
          <a:lstStyle/>
          <a:p>
            <a:pPr algn="ctr" indent="0" marL="0">
              <a:buNone/>
            </a:pPr>
            <a:r>
              <a:rPr lang="de-DE" altLang="en-US" sz="1050" dirty="0">
                <a:solidFill>
                  <a:srgbClr val="A9BBD0"/>
                </a:solidFill>
                <a:latin typeface="Segoe UI" pitchFamily="34" charset="0"/>
                <a:ea typeface="Segoe UI" pitchFamily="34" charset="-122"/>
                <a:cs typeface="Segoe UI" pitchFamily="34" charset="-120"/>
              </a:rPr>
              <a:t>Left Join über IDpol</a:t>
            </a:r>
            <a:endParaRPr lang="de-DE" sz="1050" dirty="0"/>
          </a:p>
        </p:txBody>
      </p:sp>
      <p:sp>
        <p:nvSpPr>
          <p:cNvPr id="25" name="Shape 21"/>
          <p:cNvSpPr/>
          <p:nvPr/>
        </p:nvSpPr>
        <p:spPr>
          <a:xfrm>
            <a:off x="6355080" y="1572768"/>
            <a:ext cx="5285232" cy="3246120"/>
          </a:xfrm>
          <a:prstGeom prst="roundRect">
            <a:avLst>
              <a:gd name="adj" fmla="val 3380"/>
            </a:avLst>
          </a:prstGeom>
          <a:solidFill>
            <a:srgbClr val="10213F">
              <a:alpha val="92000"/>
            </a:srgbClr>
          </a:solidFill>
          <a:ln w="12700">
            <a:solidFill>
              <a:srgbClr val="1E3A5F"/>
            </a:solidFill>
            <a:prstDash val="solid"/>
          </a:ln>
          <a:effectLst>
            <a:outerShdw sx="100000" sy="100000" kx="0" ky="0" algn="bl" rotWithShape="0" blurRad="228600" dist="50800" dir="5400000">
              <a:srgbClr val="22D3EE">
                <a:alpha val="32000"/>
              </a:srgbClr>
            </a:outerShdw>
          </a:effectLst>
        </p:spPr>
      </p:sp>
      <p:sp>
        <p:nvSpPr>
          <p:cNvPr id="26" name="Shape 22"/>
          <p:cNvSpPr/>
          <p:nvPr/>
        </p:nvSpPr>
        <p:spPr>
          <a:xfrm>
            <a:off x="6583680" y="1783080"/>
            <a:ext cx="548640" cy="548640"/>
          </a:xfrm>
          <a:prstGeom prst="ellipse">
            <a:avLst/>
          </a:prstGeom>
          <a:solidFill>
            <a:srgbClr val="0E2A47"/>
          </a:solidFill>
          <a:ln w="12700">
            <a:solidFill>
              <a:srgbClr val="22D3EE">
                <a:alpha val="55000"/>
              </a:srgbClr>
            </a:solidFill>
            <a:prstDash val="solid"/>
          </a:ln>
        </p:spPr>
      </p:sp>
      <p:pic>
        <p:nvPicPr>
          <p:cNvPr id="27" name="Image 2" descr="preencoded.png">    </p:cNvPr>
          <p:cNvPicPr>
            <a:picLocks noChangeAspect="1"/>
          </p:cNvPicPr>
          <p:nvPr/>
        </p:nvPicPr>
        <p:blipFill>
          <a:blip r:embed="rId4"/>
          <a:stretch>
            <a:fillRect/>
          </a:stretch>
        </p:blipFill>
        <p:spPr>
          <a:xfrm>
            <a:off x="6720840" y="1920240"/>
            <a:ext cx="274320" cy="274320"/>
          </a:xfrm>
          <a:prstGeom prst="rect">
            <a:avLst/>
          </a:prstGeom>
        </p:spPr>
      </p:pic>
      <p:sp>
        <p:nvSpPr>
          <p:cNvPr id="28" name="Text 23"/>
          <p:cNvSpPr txBox="1"/>
          <p:nvPr/>
        </p:nvSpPr>
        <p:spPr>
          <a:xfrm>
            <a:off x="7269480" y="1764792"/>
            <a:ext cx="4114800" cy="329184"/>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Curated Policy Layer</a:t>
            </a:r>
            <a:endParaRPr lang="de-DE" sz="1700" dirty="0"/>
          </a:p>
        </p:txBody>
      </p:sp>
      <p:sp>
        <p:nvSpPr>
          <p:cNvPr id="29" name="Text 24"/>
          <p:cNvSpPr txBox="1"/>
          <p:nvPr/>
        </p:nvSpPr>
        <p:spPr>
          <a:xfrm>
            <a:off x="7269480" y="2084832"/>
            <a:ext cx="4114800" cy="256032"/>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Analyse- und Modellierungsbasis</a:t>
            </a:r>
            <a:endParaRPr lang="de-DE" sz="1100" dirty="0"/>
          </a:p>
        </p:txBody>
      </p:sp>
      <p:sp>
        <p:nvSpPr>
          <p:cNvPr id="30" name="Text 25"/>
          <p:cNvSpPr txBox="1"/>
          <p:nvPr/>
        </p:nvSpPr>
        <p:spPr>
          <a:xfrm>
            <a:off x="6583680" y="2487168"/>
            <a:ext cx="4846320" cy="548640"/>
          </a:xfrm>
          <a:prstGeom prst="rect">
            <a:avLst/>
          </a:prstGeom>
          <a:noFill/>
          <a:ln/>
        </p:spPr>
        <p:txBody>
          <a:bodyPr wrap="square" lIns="0" tIns="0" rIns="0" bIns="0" rtlCol="0" anchor="ctr"/>
          <a:lstStyle/>
          <a:p>
            <a:pPr indent="0" marL="0">
              <a:buNone/>
            </a:pPr>
            <a:r>
              <a:rPr lang="de-DE" altLang="en-US" sz="3000" dirty="0">
                <a:solidFill>
                  <a:srgbClr val="22D3EE"/>
                </a:solidFill>
                <a:latin typeface="Segoe UI Semibold" pitchFamily="34" charset="0"/>
                <a:ea typeface="Segoe UI Semibold" pitchFamily="34" charset="-122"/>
                <a:cs typeface="Segoe UI Semibold" pitchFamily="34" charset="-120"/>
              </a:rPr>
              <a:t>678.013</a:t>
            </a:r>
            <a:pPr indent="0" marL="0">
              <a:buNone/>
            </a:pPr>
            <a:r>
              <a:rPr lang="de-DE" altLang="en-US" sz="1400" dirty="0">
                <a:solidFill>
                  <a:srgbClr val="EEF4FB"/>
                </a:solidFill>
                <a:latin typeface="Segoe UI" pitchFamily="34" charset="0"/>
                <a:ea typeface="Segoe UI" pitchFamily="34" charset="-122"/>
                <a:cs typeface="Segoe UI" pitchFamily="34" charset="-120"/>
              </a:rPr>
              <a:t>   Zeilen – genau eine pro Police</a:t>
            </a:r>
            <a:endParaRPr lang="de-DE" sz="1400" dirty="0"/>
          </a:p>
        </p:txBody>
      </p:sp>
      <p:pic>
        <p:nvPicPr>
          <p:cNvPr id="31" name="Image 3" descr="preencoded.png">    </p:cNvPr>
          <p:cNvPicPr>
            <a:picLocks noChangeAspect="1"/>
          </p:cNvPicPr>
          <p:nvPr/>
        </p:nvPicPr>
        <p:blipFill>
          <a:blip r:embed="rId5"/>
          <a:stretch>
            <a:fillRect/>
          </a:stretch>
        </p:blipFill>
        <p:spPr>
          <a:xfrm>
            <a:off x="6601968" y="3227832"/>
            <a:ext cx="237744" cy="237744"/>
          </a:xfrm>
          <a:prstGeom prst="rect">
            <a:avLst/>
          </a:prstGeom>
        </p:spPr>
      </p:pic>
      <p:sp>
        <p:nvSpPr>
          <p:cNvPr id="32" name="Text 26"/>
          <p:cNvSpPr txBox="1"/>
          <p:nvPr/>
        </p:nvSpPr>
        <p:spPr>
          <a:xfrm>
            <a:off x="6967728" y="3200400"/>
            <a:ext cx="4480560" cy="310896"/>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pitchFamily="34" charset="0"/>
                <a:ea typeface="Segoe UI" pitchFamily="34" charset="-122"/>
                <a:cs typeface="Segoe UI" pitchFamily="34" charset="-120"/>
              </a:rPr>
              <a:t>Gesamtschaden und Anzahl Schadenrecords je Police</a:t>
            </a:r>
            <a:endParaRPr lang="de-DE" sz="1250" dirty="0"/>
          </a:p>
        </p:txBody>
      </p:sp>
      <p:pic>
        <p:nvPicPr>
          <p:cNvPr id="33" name="Image 4" descr="preencoded.png">    </p:cNvPr>
          <p:cNvPicPr>
            <a:picLocks noChangeAspect="1"/>
          </p:cNvPicPr>
          <p:nvPr/>
        </p:nvPicPr>
        <p:blipFill>
          <a:blip r:embed="rId6"/>
          <a:stretch>
            <a:fillRect/>
          </a:stretch>
        </p:blipFill>
        <p:spPr>
          <a:xfrm>
            <a:off x="6601968" y="3703320"/>
            <a:ext cx="237744" cy="237744"/>
          </a:xfrm>
          <a:prstGeom prst="rect">
            <a:avLst/>
          </a:prstGeom>
        </p:spPr>
      </p:pic>
      <p:sp>
        <p:nvSpPr>
          <p:cNvPr id="34" name="Text 27"/>
          <p:cNvSpPr txBox="1"/>
          <p:nvPr/>
        </p:nvSpPr>
        <p:spPr>
          <a:xfrm>
            <a:off x="6967728" y="3675888"/>
            <a:ext cx="4480560" cy="310896"/>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pitchFamily="34" charset="0"/>
                <a:ea typeface="Segoe UI" pitchFamily="34" charset="-122"/>
                <a:cs typeface="Segoe UI" pitchFamily="34" charset="-120"/>
              </a:rPr>
              <a:t>DQ-Flags statt Löschungen, z. B. fehlende Schadenhöhe</a:t>
            </a:r>
            <a:endParaRPr lang="de-DE" sz="1250" dirty="0"/>
          </a:p>
        </p:txBody>
      </p:sp>
      <p:pic>
        <p:nvPicPr>
          <p:cNvPr id="35" name="Image 5" descr="preencoded.png">    </p:cNvPr>
          <p:cNvPicPr>
            <a:picLocks noChangeAspect="1"/>
          </p:cNvPicPr>
          <p:nvPr/>
        </p:nvPicPr>
        <p:blipFill>
          <a:blip r:embed="rId7"/>
          <a:stretch>
            <a:fillRect/>
          </a:stretch>
        </p:blipFill>
        <p:spPr>
          <a:xfrm>
            <a:off x="6601968" y="4178808"/>
            <a:ext cx="237744" cy="237744"/>
          </a:xfrm>
          <a:prstGeom prst="rect">
            <a:avLst/>
          </a:prstGeom>
        </p:spPr>
      </p:pic>
      <p:sp>
        <p:nvSpPr>
          <p:cNvPr id="36" name="Text 28"/>
          <p:cNvSpPr txBox="1"/>
          <p:nvPr/>
        </p:nvSpPr>
        <p:spPr>
          <a:xfrm>
            <a:off x="6967728" y="4151376"/>
            <a:ext cx="4480560" cy="310896"/>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pitchFamily="34" charset="0"/>
                <a:ea typeface="Segoe UI" pitchFamily="34" charset="-122"/>
                <a:cs typeface="Segoe UI" pitchFamily="34" charset="-120"/>
              </a:rPr>
              <a:t>Features: Altersgruppen, Bonus-Malus-Segmente, log(Density)</a:t>
            </a:r>
            <a:endParaRPr lang="de-DE" sz="1250" dirty="0"/>
          </a:p>
        </p:txBody>
      </p:sp>
      <p:sp>
        <p:nvSpPr>
          <p:cNvPr id="37" name="Shape 29"/>
          <p:cNvSpPr/>
          <p:nvPr/>
        </p:nvSpPr>
        <p:spPr>
          <a:xfrm>
            <a:off x="6355080" y="4983480"/>
            <a:ext cx="2551176" cy="1280160"/>
          </a:xfrm>
          <a:prstGeom prst="roundRect">
            <a:avLst>
              <a:gd name="adj" fmla="val 8571"/>
            </a:avLst>
          </a:prstGeom>
          <a:solidFill>
            <a:srgbClr val="10213F">
              <a:alpha val="92000"/>
            </a:srgbClr>
          </a:solidFill>
          <a:ln w="12700">
            <a:solidFill>
              <a:srgbClr val="1E3A5F"/>
            </a:solidFill>
            <a:prstDash val="solid"/>
          </a:ln>
        </p:spPr>
      </p:sp>
      <p:sp>
        <p:nvSpPr>
          <p:cNvPr id="38" name="Text 30"/>
          <p:cNvSpPr txBox="1"/>
          <p:nvPr/>
        </p:nvSpPr>
        <p:spPr>
          <a:xfrm>
            <a:off x="6556248" y="5102352"/>
            <a:ext cx="2194560" cy="457200"/>
          </a:xfrm>
          <a:prstGeom prst="rect">
            <a:avLst/>
          </a:prstGeom>
          <a:noFill/>
          <a:ln/>
        </p:spPr>
        <p:txBody>
          <a:bodyPr wrap="square" lIns="0" tIns="0" rIns="0" bIns="0" rtlCol="0" anchor="ctr">
            <a:normAutofit/>
          </a:bodyPr>
          <a:lstStyle/>
          <a:p>
            <a:pPr indent="0" marL="0">
              <a:buNone/>
            </a:pPr>
            <a:r>
              <a:rPr lang="de-DE" altLang="en-US" sz="2200" dirty="0">
                <a:solidFill>
                  <a:srgbClr val="FBBF24"/>
                </a:solidFill>
                <a:latin typeface="Segoe UI Semibold" pitchFamily="34" charset="0"/>
                <a:ea typeface="Segoe UI Semibold" pitchFamily="34" charset="-122"/>
                <a:cs typeface="Segoe UI Semibold" pitchFamily="34" charset="-120"/>
              </a:rPr>
              <a:t>94,98 %</a:t>
            </a:r>
            <a:endParaRPr lang="de-DE" sz="2200" dirty="0"/>
          </a:p>
        </p:txBody>
      </p:sp>
      <p:sp>
        <p:nvSpPr>
          <p:cNvPr id="39" name="Text 31"/>
          <p:cNvSpPr txBox="1"/>
          <p:nvPr/>
        </p:nvSpPr>
        <p:spPr>
          <a:xfrm>
            <a:off x="6556248" y="5577840"/>
            <a:ext cx="2194560" cy="566928"/>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der Policen ohne gemeldeten Schaden</a:t>
            </a:r>
            <a:endParaRPr lang="de-DE" sz="1100" dirty="0"/>
          </a:p>
        </p:txBody>
      </p:sp>
      <p:sp>
        <p:nvSpPr>
          <p:cNvPr id="40" name="Shape 32"/>
          <p:cNvSpPr/>
          <p:nvPr/>
        </p:nvSpPr>
        <p:spPr>
          <a:xfrm>
            <a:off x="9089136" y="4983480"/>
            <a:ext cx="2551176" cy="1280160"/>
          </a:xfrm>
          <a:prstGeom prst="roundRect">
            <a:avLst>
              <a:gd name="adj" fmla="val 8571"/>
            </a:avLst>
          </a:prstGeom>
          <a:solidFill>
            <a:srgbClr val="10213F">
              <a:alpha val="92000"/>
            </a:srgbClr>
          </a:solidFill>
          <a:ln w="12700">
            <a:solidFill>
              <a:srgbClr val="1E3A5F"/>
            </a:solidFill>
            <a:prstDash val="solid"/>
          </a:ln>
        </p:spPr>
      </p:sp>
      <p:sp>
        <p:nvSpPr>
          <p:cNvPr id="41" name="Text 33"/>
          <p:cNvSpPr txBox="1"/>
          <p:nvPr/>
        </p:nvSpPr>
        <p:spPr>
          <a:xfrm>
            <a:off x="9290304" y="5102352"/>
            <a:ext cx="2194560" cy="457200"/>
          </a:xfrm>
          <a:prstGeom prst="rect">
            <a:avLst/>
          </a:prstGeom>
          <a:noFill/>
          <a:ln/>
        </p:spPr>
        <p:txBody>
          <a:bodyPr wrap="square" lIns="0" tIns="0" rIns="0" bIns="0" rtlCol="0" anchor="ctr">
            <a:normAutofit/>
          </a:bodyPr>
          <a:lstStyle/>
          <a:p>
            <a:pPr indent="0" marL="0">
              <a:buNone/>
            </a:pPr>
            <a:r>
              <a:rPr lang="de-DE" altLang="en-US" sz="2200" dirty="0">
                <a:solidFill>
                  <a:srgbClr val="FBBF24"/>
                </a:solidFill>
                <a:latin typeface="Segoe UI Semibold" pitchFamily="34" charset="0"/>
                <a:ea typeface="Segoe UI Semibold" pitchFamily="34" charset="-122"/>
                <a:cs typeface="Segoe UI Semibold" pitchFamily="34" charset="-120"/>
              </a:rPr>
              <a:t>≈ 4,08 Mio. €</a:t>
            </a:r>
            <a:endParaRPr lang="de-DE" sz="2200" dirty="0"/>
          </a:p>
        </p:txBody>
      </p:sp>
      <p:sp>
        <p:nvSpPr>
          <p:cNvPr id="42" name="Text 34"/>
          <p:cNvSpPr txBox="1"/>
          <p:nvPr/>
        </p:nvSpPr>
        <p:spPr>
          <a:xfrm>
            <a:off x="9290304" y="5577840"/>
            <a:ext cx="2194560" cy="566928"/>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größter Einzelschaden – 99 % liegen unter ca. 16.800 €</a:t>
            </a:r>
            <a:endParaRPr lang="de-DE"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ARCHITEKTUR</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End-to-End-Pipeline: von der Quelle bis zum Dashboard</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4 / 19</a:t>
            </a:r>
            <a:endParaRPr lang="de-DE" sz="900" dirty="0"/>
          </a:p>
        </p:txBody>
      </p:sp>
      <p:sp>
        <p:nvSpPr>
          <p:cNvPr id="6" name="Shape 4"/>
          <p:cNvSpPr/>
          <p:nvPr/>
        </p:nvSpPr>
        <p:spPr>
          <a:xfrm>
            <a:off x="548640" y="1444752"/>
            <a:ext cx="3422599" cy="841248"/>
          </a:xfrm>
          <a:prstGeom prst="roundRect">
            <a:avLst>
              <a:gd name="adj" fmla="val 13043"/>
            </a:avLst>
          </a:prstGeom>
          <a:solidFill>
            <a:srgbClr val="10213F">
              <a:alpha val="92000"/>
            </a:srgbClr>
          </a:solidFill>
          <a:ln w="12700">
            <a:solidFill>
              <a:srgbClr val="1E3A5F"/>
            </a:solidFill>
            <a:prstDash val="solid"/>
          </a:ln>
        </p:spPr>
      </p:sp>
      <p:sp>
        <p:nvSpPr>
          <p:cNvPr id="7" name="Shape 5"/>
          <p:cNvSpPr/>
          <p:nvPr/>
        </p:nvSpPr>
        <p:spPr>
          <a:xfrm>
            <a:off x="731520" y="1627632"/>
            <a:ext cx="475488" cy="475488"/>
          </a:xfrm>
          <a:prstGeom prst="ellipse">
            <a:avLst/>
          </a:prstGeom>
          <a:solidFill>
            <a:srgbClr val="0E2A47"/>
          </a:solidFill>
          <a:ln w="12700">
            <a:solidFill>
              <a:srgbClr val="7389A6">
                <a:alpha val="55000"/>
              </a:srgbClr>
            </a:solidFill>
            <a:prstDash val="solid"/>
          </a:ln>
        </p:spPr>
      </p:sp>
      <p:pic>
        <p:nvPicPr>
          <p:cNvPr id="8" name="Image 0" descr="preencoded.png">    </p:cNvPr>
          <p:cNvPicPr>
            <a:picLocks noChangeAspect="1"/>
          </p:cNvPicPr>
          <p:nvPr/>
        </p:nvPicPr>
        <p:blipFill>
          <a:blip r:embed="rId2"/>
          <a:stretch>
            <a:fillRect/>
          </a:stretch>
        </p:blipFill>
        <p:spPr>
          <a:xfrm>
            <a:off x="850392" y="1746504"/>
            <a:ext cx="237744" cy="237744"/>
          </a:xfrm>
          <a:prstGeom prst="rect">
            <a:avLst/>
          </a:prstGeom>
        </p:spPr>
      </p:pic>
      <p:sp>
        <p:nvSpPr>
          <p:cNvPr id="9" name="Text 6"/>
          <p:cNvSpPr txBox="1"/>
          <p:nvPr/>
        </p:nvSpPr>
        <p:spPr>
          <a:xfrm>
            <a:off x="1353312" y="1545336"/>
            <a:ext cx="2508199" cy="201168"/>
          </a:xfrm>
          <a:prstGeom prst="rect">
            <a:avLst/>
          </a:prstGeom>
          <a:noFill/>
          <a:ln/>
        </p:spPr>
        <p:txBody>
          <a:bodyPr wrap="square" lIns="0" tIns="0" rIns="0" bIns="0" rtlCol="0" anchor="t"/>
          <a:lstStyle/>
          <a:p>
            <a:pPr indent="0" marL="0">
              <a:buNone/>
            </a:pPr>
            <a:r>
              <a:rPr lang="de-DE" altLang="en-US" sz="900" b="1" spc="200" kern="0" dirty="0">
                <a:solidFill>
                  <a:srgbClr val="7389A6"/>
                </a:solidFill>
                <a:latin typeface="Segoe UI" pitchFamily="34" charset="0"/>
                <a:ea typeface="Segoe UI" pitchFamily="34" charset="-122"/>
                <a:cs typeface="Segoe UI" pitchFamily="34" charset="-120"/>
              </a:rPr>
              <a:t>GEPLANT</a:t>
            </a:r>
            <a:endParaRPr lang="de-DE" sz="900" dirty="0"/>
          </a:p>
        </p:txBody>
      </p:sp>
      <p:sp>
        <p:nvSpPr>
          <p:cNvPr id="10" name="Text 7"/>
          <p:cNvSpPr txBox="1"/>
          <p:nvPr/>
        </p:nvSpPr>
        <p:spPr>
          <a:xfrm>
            <a:off x="1353312" y="1746504"/>
            <a:ext cx="2489911" cy="475488"/>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pitchFamily="34" charset="0"/>
                <a:ea typeface="Segoe UI" pitchFamily="34" charset="-122"/>
                <a:cs typeface="Segoe UI" pitchFamily="34" charset="-120"/>
              </a:rPr>
              <a:t>OpenML-API – automatisierter Abruf</a:t>
            </a:r>
            <a:endParaRPr lang="de-DE" sz="1150" dirty="0"/>
          </a:p>
        </p:txBody>
      </p:sp>
      <p:sp>
        <p:nvSpPr>
          <p:cNvPr id="11" name="Shape 8"/>
          <p:cNvSpPr/>
          <p:nvPr/>
        </p:nvSpPr>
        <p:spPr>
          <a:xfrm>
            <a:off x="4044391" y="1746504"/>
            <a:ext cx="265176" cy="237744"/>
          </a:xfrm>
          <a:prstGeom prst="rightArrow">
            <a:avLst/>
          </a:prstGeom>
          <a:solidFill>
            <a:srgbClr val="7389A6"/>
          </a:solidFill>
          <a:ln w="12700">
            <a:solidFill>
              <a:srgbClr val="7389A6"/>
            </a:solidFill>
            <a:prstDash val="solid"/>
          </a:ln>
        </p:spPr>
      </p:sp>
      <p:sp>
        <p:nvSpPr>
          <p:cNvPr id="12" name="Shape 9"/>
          <p:cNvSpPr/>
          <p:nvPr/>
        </p:nvSpPr>
        <p:spPr>
          <a:xfrm>
            <a:off x="4382719" y="1444752"/>
            <a:ext cx="3422599" cy="841248"/>
          </a:xfrm>
          <a:prstGeom prst="roundRect">
            <a:avLst>
              <a:gd name="adj" fmla="val 13043"/>
            </a:avLst>
          </a:prstGeom>
          <a:solidFill>
            <a:srgbClr val="10213F">
              <a:alpha val="92000"/>
            </a:srgbClr>
          </a:solidFill>
          <a:ln w="12700">
            <a:solidFill>
              <a:srgbClr val="F87171"/>
            </a:solidFill>
            <a:prstDash val="solid"/>
          </a:ln>
        </p:spPr>
      </p:sp>
      <p:sp>
        <p:nvSpPr>
          <p:cNvPr id="13" name="Shape 10"/>
          <p:cNvSpPr/>
          <p:nvPr/>
        </p:nvSpPr>
        <p:spPr>
          <a:xfrm>
            <a:off x="4565599" y="1627632"/>
            <a:ext cx="475488" cy="475488"/>
          </a:xfrm>
          <a:prstGeom prst="ellipse">
            <a:avLst/>
          </a:prstGeom>
          <a:solidFill>
            <a:srgbClr val="0E2A47"/>
          </a:solidFill>
          <a:ln w="12700">
            <a:solidFill>
              <a:srgbClr val="F87171">
                <a:alpha val="55000"/>
              </a:srgbClr>
            </a:solidFill>
            <a:prstDash val="solid"/>
          </a:ln>
        </p:spPr>
      </p:sp>
      <p:pic>
        <p:nvPicPr>
          <p:cNvPr id="14" name="Image 1" descr="preencoded.png">    </p:cNvPr>
          <p:cNvPicPr>
            <a:picLocks noChangeAspect="1"/>
          </p:cNvPicPr>
          <p:nvPr/>
        </p:nvPicPr>
        <p:blipFill>
          <a:blip r:embed="rId3"/>
          <a:stretch>
            <a:fillRect/>
          </a:stretch>
        </p:blipFill>
        <p:spPr>
          <a:xfrm>
            <a:off x="4684471" y="1746504"/>
            <a:ext cx="237744" cy="237744"/>
          </a:xfrm>
          <a:prstGeom prst="rect">
            <a:avLst/>
          </a:prstGeom>
        </p:spPr>
      </p:pic>
      <p:sp>
        <p:nvSpPr>
          <p:cNvPr id="15" name="Text 11"/>
          <p:cNvSpPr txBox="1"/>
          <p:nvPr/>
        </p:nvSpPr>
        <p:spPr>
          <a:xfrm>
            <a:off x="5187391" y="1545336"/>
            <a:ext cx="2508199" cy="201168"/>
          </a:xfrm>
          <a:prstGeom prst="rect">
            <a:avLst/>
          </a:prstGeom>
          <a:noFill/>
          <a:ln/>
        </p:spPr>
        <p:txBody>
          <a:bodyPr wrap="square" lIns="0" tIns="0" rIns="0" bIns="0" rtlCol="0" anchor="t"/>
          <a:lstStyle/>
          <a:p>
            <a:pPr indent="0" marL="0">
              <a:buNone/>
            </a:pPr>
            <a:r>
              <a:rPr lang="de-DE" altLang="en-US" sz="900" b="1" spc="200" kern="0" dirty="0">
                <a:solidFill>
                  <a:srgbClr val="F87171"/>
                </a:solidFill>
                <a:latin typeface="Segoe UI" pitchFamily="34" charset="0"/>
                <a:ea typeface="Segoe UI" pitchFamily="34" charset="-122"/>
                <a:cs typeface="Segoe UI" pitchFamily="34" charset="-120"/>
              </a:rPr>
              <a:t>PROBLEM</a:t>
            </a:r>
            <a:endParaRPr lang="de-DE" sz="900" dirty="0"/>
          </a:p>
        </p:txBody>
      </p:sp>
      <p:sp>
        <p:nvSpPr>
          <p:cNvPr id="16" name="Text 12"/>
          <p:cNvSpPr txBox="1"/>
          <p:nvPr/>
        </p:nvSpPr>
        <p:spPr>
          <a:xfrm>
            <a:off x="5187391" y="1746504"/>
            <a:ext cx="2489911" cy="475488"/>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pitchFamily="34" charset="0"/>
                <a:ea typeface="Segoe UI" pitchFamily="34" charset="-122"/>
                <a:cs typeface="Segoe UI" pitchFamily="34" charset="-120"/>
              </a:rPr>
              <a:t>Wiederholte HTTP-504-Fehler – API als Quelle unzuverlässig</a:t>
            </a:r>
            <a:endParaRPr lang="de-DE" sz="1150" dirty="0"/>
          </a:p>
        </p:txBody>
      </p:sp>
      <p:sp>
        <p:nvSpPr>
          <p:cNvPr id="17" name="Shape 13"/>
          <p:cNvSpPr/>
          <p:nvPr/>
        </p:nvSpPr>
        <p:spPr>
          <a:xfrm>
            <a:off x="7878470" y="1746504"/>
            <a:ext cx="265176" cy="237744"/>
          </a:xfrm>
          <a:prstGeom prst="rightArrow">
            <a:avLst/>
          </a:prstGeom>
          <a:solidFill>
            <a:srgbClr val="7389A6"/>
          </a:solidFill>
          <a:ln w="12700">
            <a:solidFill>
              <a:srgbClr val="7389A6"/>
            </a:solidFill>
            <a:prstDash val="solid"/>
          </a:ln>
        </p:spPr>
      </p:sp>
      <p:sp>
        <p:nvSpPr>
          <p:cNvPr id="18" name="Shape 14"/>
          <p:cNvSpPr/>
          <p:nvPr/>
        </p:nvSpPr>
        <p:spPr>
          <a:xfrm>
            <a:off x="8216798" y="1444752"/>
            <a:ext cx="3422599" cy="841248"/>
          </a:xfrm>
          <a:prstGeom prst="roundRect">
            <a:avLst>
              <a:gd name="adj" fmla="val 13043"/>
            </a:avLst>
          </a:prstGeom>
          <a:solidFill>
            <a:srgbClr val="10213F">
              <a:alpha val="92000"/>
            </a:srgbClr>
          </a:solidFill>
          <a:ln w="12700">
            <a:solidFill>
              <a:srgbClr val="2DD4BF"/>
            </a:solidFill>
            <a:prstDash val="solid"/>
          </a:ln>
          <a:effectLst>
            <a:outerShdw sx="100000" sy="100000" kx="0" ky="0" algn="bl" rotWithShape="0" blurRad="228600" dist="50800" dir="5400000">
              <a:srgbClr val="2DD4BF">
                <a:alpha val="32000"/>
              </a:srgbClr>
            </a:outerShdw>
          </a:effectLst>
        </p:spPr>
      </p:sp>
      <p:sp>
        <p:nvSpPr>
          <p:cNvPr id="19" name="Shape 15"/>
          <p:cNvSpPr/>
          <p:nvPr/>
        </p:nvSpPr>
        <p:spPr>
          <a:xfrm>
            <a:off x="8399678" y="1627632"/>
            <a:ext cx="475488" cy="475488"/>
          </a:xfrm>
          <a:prstGeom prst="ellipse">
            <a:avLst/>
          </a:prstGeom>
          <a:solidFill>
            <a:srgbClr val="0E2A47"/>
          </a:solidFill>
          <a:ln w="12700">
            <a:solidFill>
              <a:srgbClr val="2DD4BF">
                <a:alpha val="55000"/>
              </a:srgbClr>
            </a:solidFill>
            <a:prstDash val="solid"/>
          </a:ln>
        </p:spPr>
      </p:sp>
      <p:pic>
        <p:nvPicPr>
          <p:cNvPr id="20" name="Image 2" descr="preencoded.png">    </p:cNvPr>
          <p:cNvPicPr>
            <a:picLocks noChangeAspect="1"/>
          </p:cNvPicPr>
          <p:nvPr/>
        </p:nvPicPr>
        <p:blipFill>
          <a:blip r:embed="rId4"/>
          <a:stretch>
            <a:fillRect/>
          </a:stretch>
        </p:blipFill>
        <p:spPr>
          <a:xfrm>
            <a:off x="8518550" y="1746504"/>
            <a:ext cx="237744" cy="237744"/>
          </a:xfrm>
          <a:prstGeom prst="rect">
            <a:avLst/>
          </a:prstGeom>
        </p:spPr>
      </p:pic>
      <p:sp>
        <p:nvSpPr>
          <p:cNvPr id="21" name="Text 16"/>
          <p:cNvSpPr txBox="1"/>
          <p:nvPr/>
        </p:nvSpPr>
        <p:spPr>
          <a:xfrm>
            <a:off x="9021470" y="1545336"/>
            <a:ext cx="2508199" cy="201168"/>
          </a:xfrm>
          <a:prstGeom prst="rect">
            <a:avLst/>
          </a:prstGeom>
          <a:noFill/>
          <a:ln/>
        </p:spPr>
        <p:txBody>
          <a:bodyPr wrap="square" lIns="0" tIns="0" rIns="0" bIns="0" rtlCol="0" anchor="t"/>
          <a:lstStyle/>
          <a:p>
            <a:pPr indent="0" marL="0">
              <a:buNone/>
            </a:pPr>
            <a:r>
              <a:rPr lang="de-DE" altLang="en-US" sz="900" b="1" spc="200" kern="0" dirty="0">
                <a:solidFill>
                  <a:srgbClr val="2DD4BF"/>
                </a:solidFill>
                <a:latin typeface="Segoe UI" pitchFamily="34" charset="0"/>
                <a:ea typeface="Segoe UI" pitchFamily="34" charset="-122"/>
                <a:cs typeface="Segoe UI" pitchFamily="34" charset="-120"/>
              </a:rPr>
              <a:t>UMSETZUNG</a:t>
            </a:r>
            <a:endParaRPr lang="de-DE" sz="900" dirty="0"/>
          </a:p>
        </p:txBody>
      </p:sp>
      <p:sp>
        <p:nvSpPr>
          <p:cNvPr id="22" name="Text 17"/>
          <p:cNvSpPr txBox="1"/>
          <p:nvPr/>
        </p:nvSpPr>
        <p:spPr>
          <a:xfrm>
            <a:off x="9021470" y="1746504"/>
            <a:ext cx="2489911" cy="475488"/>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pitchFamily="34" charset="0"/>
                <a:ea typeface="Segoe UI" pitchFamily="34" charset="-122"/>
                <a:cs typeface="Segoe UI" pitchFamily="34" charset="-120"/>
              </a:rPr>
              <a:t>OpenML Static Data Server + verifizierter lokaler Raw Layer</a:t>
            </a:r>
            <a:endParaRPr lang="de-DE" sz="1150" dirty="0"/>
          </a:p>
        </p:txBody>
      </p:sp>
      <p:sp>
        <p:nvSpPr>
          <p:cNvPr id="23" name="Text 18"/>
          <p:cNvSpPr txBox="1"/>
          <p:nvPr/>
        </p:nvSpPr>
        <p:spPr>
          <a:xfrm>
            <a:off x="548640" y="2487168"/>
            <a:ext cx="3362249" cy="237744"/>
          </a:xfrm>
          <a:prstGeom prst="rect">
            <a:avLst/>
          </a:prstGeom>
          <a:noFill/>
          <a:ln/>
        </p:spPr>
        <p:txBody>
          <a:bodyPr wrap="square" lIns="0" tIns="0" rIns="0" bIns="0" rtlCol="0" anchor="t"/>
          <a:lstStyle/>
          <a:p>
            <a:pPr indent="0" marL="0">
              <a:buNone/>
            </a:pPr>
            <a:r>
              <a:rPr lang="de-DE" altLang="en-US" sz="1000" b="1" spc="150" kern="0" dirty="0">
                <a:solidFill>
                  <a:srgbClr val="22D3EE"/>
                </a:solidFill>
                <a:latin typeface="Segoe UI" pitchFamily="34" charset="0"/>
                <a:ea typeface="Segoe UI" pitchFamily="34" charset="-122"/>
                <a:cs typeface="Segoe UI" pitchFamily="34" charset="-120"/>
              </a:rPr>
              <a:t>1 · BESCHAFFUNG &amp; VALIDIERUNG</a:t>
            </a:r>
            <a:endParaRPr lang="de-DE" sz="1000" dirty="0"/>
          </a:p>
        </p:txBody>
      </p:sp>
      <p:sp>
        <p:nvSpPr>
          <p:cNvPr id="24" name="Text 19"/>
          <p:cNvSpPr txBox="1"/>
          <p:nvPr/>
        </p:nvSpPr>
        <p:spPr>
          <a:xfrm>
            <a:off x="4413809" y="2487168"/>
            <a:ext cx="3362249" cy="237744"/>
          </a:xfrm>
          <a:prstGeom prst="rect">
            <a:avLst/>
          </a:prstGeom>
          <a:noFill/>
          <a:ln/>
        </p:spPr>
        <p:txBody>
          <a:bodyPr wrap="square" lIns="0" tIns="0" rIns="0" bIns="0" rtlCol="0" anchor="t"/>
          <a:lstStyle/>
          <a:p>
            <a:pPr indent="0" marL="0">
              <a:buNone/>
            </a:pPr>
            <a:r>
              <a:rPr lang="de-DE" altLang="en-US" sz="1000" b="1" spc="150" kern="0" dirty="0">
                <a:solidFill>
                  <a:srgbClr val="22D3EE"/>
                </a:solidFill>
                <a:latin typeface="Segoe UI" pitchFamily="34" charset="0"/>
                <a:ea typeface="Segoe UI" pitchFamily="34" charset="-122"/>
                <a:cs typeface="Segoe UI" pitchFamily="34" charset="-120"/>
              </a:rPr>
              <a:t>2 · AUFBEREITUNG &amp; MODELLIERUNG</a:t>
            </a:r>
            <a:endParaRPr lang="de-DE" sz="1000" dirty="0"/>
          </a:p>
        </p:txBody>
      </p:sp>
      <p:sp>
        <p:nvSpPr>
          <p:cNvPr id="25" name="Text 20"/>
          <p:cNvSpPr txBox="1"/>
          <p:nvPr/>
        </p:nvSpPr>
        <p:spPr>
          <a:xfrm>
            <a:off x="8278978" y="2487168"/>
            <a:ext cx="3362249" cy="237744"/>
          </a:xfrm>
          <a:prstGeom prst="rect">
            <a:avLst/>
          </a:prstGeom>
          <a:noFill/>
          <a:ln/>
        </p:spPr>
        <p:txBody>
          <a:bodyPr wrap="square" lIns="0" tIns="0" rIns="0" bIns="0" rtlCol="0" anchor="t"/>
          <a:lstStyle/>
          <a:p>
            <a:pPr indent="0" marL="0">
              <a:buNone/>
            </a:pPr>
            <a:r>
              <a:rPr lang="de-DE" altLang="en-US" sz="1000" b="1" spc="150" kern="0" dirty="0">
                <a:solidFill>
                  <a:srgbClr val="22D3EE"/>
                </a:solidFill>
                <a:latin typeface="Segoe UI" pitchFamily="34" charset="0"/>
                <a:ea typeface="Segoe UI" pitchFamily="34" charset="-122"/>
                <a:cs typeface="Segoe UI" pitchFamily="34" charset="-120"/>
              </a:rPr>
              <a:t>3 · PERSISTENZ &amp; BEREITSTELLUNG</a:t>
            </a:r>
            <a:endParaRPr lang="de-DE" sz="1000" dirty="0"/>
          </a:p>
        </p:txBody>
      </p:sp>
      <p:sp>
        <p:nvSpPr>
          <p:cNvPr id="26" name="Shape 21"/>
          <p:cNvSpPr/>
          <p:nvPr/>
        </p:nvSpPr>
        <p:spPr>
          <a:xfrm>
            <a:off x="548640" y="2816352"/>
            <a:ext cx="3362249" cy="640080"/>
          </a:xfrm>
          <a:prstGeom prst="roundRect">
            <a:avLst>
              <a:gd name="adj" fmla="val 17143"/>
            </a:avLst>
          </a:prstGeom>
          <a:solidFill>
            <a:srgbClr val="10213F">
              <a:alpha val="92000"/>
            </a:srgbClr>
          </a:solidFill>
          <a:ln w="12700">
            <a:solidFill>
              <a:srgbClr val="1E3A5F"/>
            </a:solidFill>
            <a:prstDash val="solid"/>
          </a:ln>
        </p:spPr>
      </p:sp>
      <p:sp>
        <p:nvSpPr>
          <p:cNvPr id="27" name="Text 22"/>
          <p:cNvSpPr txBox="1"/>
          <p:nvPr/>
        </p:nvSpPr>
        <p:spPr>
          <a:xfrm>
            <a:off x="694944" y="2889504"/>
            <a:ext cx="3069641"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OpenML Static Data Server</a:t>
            </a:r>
            <a:endParaRPr lang="de-DE" sz="1200" dirty="0"/>
          </a:p>
        </p:txBody>
      </p:sp>
      <p:sp>
        <p:nvSpPr>
          <p:cNvPr id="28" name="Text 23"/>
          <p:cNvSpPr txBox="1"/>
          <p:nvPr/>
        </p:nvSpPr>
        <p:spPr>
          <a:xfrm>
            <a:off x="694944" y="3145536"/>
            <a:ext cx="3069641" cy="25603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freMTPL2freq · freMTPL2sev (Parquet)</a:t>
            </a:r>
            <a:endParaRPr lang="de-DE" sz="950" dirty="0"/>
          </a:p>
        </p:txBody>
      </p:sp>
      <p:sp>
        <p:nvSpPr>
          <p:cNvPr id="29" name="Shape 24"/>
          <p:cNvSpPr/>
          <p:nvPr/>
        </p:nvSpPr>
        <p:spPr>
          <a:xfrm>
            <a:off x="2229764" y="3456432"/>
            <a:ext cx="0" cy="201168"/>
          </a:xfrm>
          <a:prstGeom prst="line">
            <a:avLst/>
          </a:prstGeom>
          <a:noFill/>
          <a:ln w="15875">
            <a:solidFill>
              <a:srgbClr val="7389A6"/>
            </a:solidFill>
            <a:prstDash val="solid"/>
            <a:tailEnd type="triangle"/>
          </a:ln>
        </p:spPr>
      </p:sp>
      <p:sp>
        <p:nvSpPr>
          <p:cNvPr id="30" name="Shape 25"/>
          <p:cNvSpPr/>
          <p:nvPr/>
        </p:nvSpPr>
        <p:spPr>
          <a:xfrm>
            <a:off x="548640" y="3657600"/>
            <a:ext cx="3362249" cy="640080"/>
          </a:xfrm>
          <a:prstGeom prst="roundRect">
            <a:avLst>
              <a:gd name="adj" fmla="val 17143"/>
            </a:avLst>
          </a:prstGeom>
          <a:solidFill>
            <a:srgbClr val="10213F">
              <a:alpha val="92000"/>
            </a:srgbClr>
          </a:solidFill>
          <a:ln w="12700">
            <a:solidFill>
              <a:srgbClr val="1E3A5F"/>
            </a:solidFill>
            <a:prstDash val="solid"/>
          </a:ln>
        </p:spPr>
      </p:sp>
      <p:sp>
        <p:nvSpPr>
          <p:cNvPr id="31" name="Text 26"/>
          <p:cNvSpPr txBox="1"/>
          <p:nvPr/>
        </p:nvSpPr>
        <p:spPr>
          <a:xfrm>
            <a:off x="694944" y="3730752"/>
            <a:ext cx="3069641"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Lokaler Raw Layer</a:t>
            </a:r>
            <a:endParaRPr lang="de-DE" sz="1200" dirty="0"/>
          </a:p>
        </p:txBody>
      </p:sp>
      <p:sp>
        <p:nvSpPr>
          <p:cNvPr id="32" name="Text 27"/>
          <p:cNvSpPr txBox="1"/>
          <p:nvPr/>
        </p:nvSpPr>
        <p:spPr>
          <a:xfrm>
            <a:off x="694944" y="3986784"/>
            <a:ext cx="3069641" cy="25603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unverändert gespeichert – Basis jedes Laufs</a:t>
            </a:r>
            <a:endParaRPr lang="de-DE" sz="950" dirty="0"/>
          </a:p>
        </p:txBody>
      </p:sp>
      <p:sp>
        <p:nvSpPr>
          <p:cNvPr id="33" name="Shape 28"/>
          <p:cNvSpPr/>
          <p:nvPr/>
        </p:nvSpPr>
        <p:spPr>
          <a:xfrm>
            <a:off x="2229764" y="4297680"/>
            <a:ext cx="0" cy="201168"/>
          </a:xfrm>
          <a:prstGeom prst="line">
            <a:avLst/>
          </a:prstGeom>
          <a:noFill/>
          <a:ln w="15875">
            <a:solidFill>
              <a:srgbClr val="7389A6"/>
            </a:solidFill>
            <a:prstDash val="solid"/>
            <a:tailEnd type="triangle"/>
          </a:ln>
        </p:spPr>
      </p:sp>
      <p:sp>
        <p:nvSpPr>
          <p:cNvPr id="34" name="Shape 29"/>
          <p:cNvSpPr/>
          <p:nvPr/>
        </p:nvSpPr>
        <p:spPr>
          <a:xfrm>
            <a:off x="548640" y="4498848"/>
            <a:ext cx="3362249" cy="1783080"/>
          </a:xfrm>
          <a:prstGeom prst="roundRect">
            <a:avLst>
              <a:gd name="adj" fmla="val 6154"/>
            </a:avLst>
          </a:prstGeom>
          <a:solidFill>
            <a:srgbClr val="10213F">
              <a:alpha val="92000"/>
            </a:srgbClr>
          </a:solidFill>
          <a:ln w="12700">
            <a:solidFill>
              <a:srgbClr val="2F5F8C"/>
            </a:solidFill>
            <a:prstDash val="solid"/>
          </a:ln>
        </p:spPr>
      </p:sp>
      <p:sp>
        <p:nvSpPr>
          <p:cNvPr id="35" name="Text 30"/>
          <p:cNvSpPr txBox="1"/>
          <p:nvPr/>
        </p:nvSpPr>
        <p:spPr>
          <a:xfrm>
            <a:off x="694944" y="4572000"/>
            <a:ext cx="3069641"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Ingestion-Validierung</a:t>
            </a:r>
            <a:endParaRPr lang="de-DE" sz="1200" dirty="0"/>
          </a:p>
        </p:txBody>
      </p:sp>
      <p:sp>
        <p:nvSpPr>
          <p:cNvPr id="36" name="Shape 31"/>
          <p:cNvSpPr/>
          <p:nvPr/>
        </p:nvSpPr>
        <p:spPr>
          <a:xfrm>
            <a:off x="694944" y="4919472"/>
            <a:ext cx="841248" cy="265176"/>
          </a:xfrm>
          <a:prstGeom prst="roundRect">
            <a:avLst>
              <a:gd name="adj" fmla="val 50000"/>
            </a:avLst>
          </a:prstGeom>
          <a:solidFill>
            <a:srgbClr val="22D3EE">
              <a:alpha val="15000"/>
            </a:srgbClr>
          </a:solidFill>
          <a:ln w="12700">
            <a:solidFill>
              <a:srgbClr val="22D3EE"/>
            </a:solidFill>
            <a:prstDash val="solid"/>
          </a:ln>
        </p:spPr>
      </p:sp>
      <p:sp>
        <p:nvSpPr>
          <p:cNvPr id="37" name="Text 32"/>
          <p:cNvSpPr txBox="1"/>
          <p:nvPr/>
        </p:nvSpPr>
        <p:spPr>
          <a:xfrm>
            <a:off x="694944" y="4919472"/>
            <a:ext cx="841248" cy="265176"/>
          </a:xfrm>
          <a:prstGeom prst="rect">
            <a:avLst/>
          </a:prstGeom>
          <a:noFill/>
          <a:ln/>
        </p:spPr>
        <p:txBody>
          <a:bodyPr wrap="square" lIns="0" tIns="0" rIns="0" bIns="0" rtlCol="0" anchor="ctr"/>
          <a:lstStyle/>
          <a:p>
            <a:pPr algn="ctr" indent="0" marL="0">
              <a:buNone/>
            </a:pPr>
            <a:r>
              <a:rPr lang="de-DE" altLang="en-US" sz="950" dirty="0">
                <a:solidFill>
                  <a:srgbClr val="EEF4FB"/>
                </a:solidFill>
                <a:latin typeface="Segoe UI Semibold" pitchFamily="34" charset="0"/>
                <a:ea typeface="Segoe UI Semibold" pitchFamily="34" charset="-122"/>
                <a:cs typeface="Segoe UI Semibold" pitchFamily="34" charset="-120"/>
              </a:rPr>
              <a:t>Manifest</a:t>
            </a:r>
            <a:endParaRPr lang="de-DE" sz="950" dirty="0"/>
          </a:p>
        </p:txBody>
      </p:sp>
      <p:sp>
        <p:nvSpPr>
          <p:cNvPr id="38" name="Shape 33"/>
          <p:cNvSpPr/>
          <p:nvPr/>
        </p:nvSpPr>
        <p:spPr>
          <a:xfrm>
            <a:off x="1627632" y="4919472"/>
            <a:ext cx="978408" cy="265176"/>
          </a:xfrm>
          <a:prstGeom prst="roundRect">
            <a:avLst>
              <a:gd name="adj" fmla="val 50000"/>
            </a:avLst>
          </a:prstGeom>
          <a:solidFill>
            <a:srgbClr val="22D3EE">
              <a:alpha val="15000"/>
            </a:srgbClr>
          </a:solidFill>
          <a:ln w="12700">
            <a:solidFill>
              <a:srgbClr val="22D3EE"/>
            </a:solidFill>
            <a:prstDash val="solid"/>
          </a:ln>
        </p:spPr>
      </p:sp>
      <p:sp>
        <p:nvSpPr>
          <p:cNvPr id="39" name="Text 34"/>
          <p:cNvSpPr txBox="1"/>
          <p:nvPr/>
        </p:nvSpPr>
        <p:spPr>
          <a:xfrm>
            <a:off x="1627632" y="4919472"/>
            <a:ext cx="978408" cy="265176"/>
          </a:xfrm>
          <a:prstGeom prst="rect">
            <a:avLst/>
          </a:prstGeom>
          <a:noFill/>
          <a:ln/>
        </p:spPr>
        <p:txBody>
          <a:bodyPr wrap="square" lIns="0" tIns="0" rIns="0" bIns="0" rtlCol="0" anchor="ctr"/>
          <a:lstStyle/>
          <a:p>
            <a:pPr algn="ctr" indent="0" marL="0">
              <a:buNone/>
            </a:pPr>
            <a:r>
              <a:rPr lang="de-DE" altLang="en-US" sz="950" dirty="0">
                <a:solidFill>
                  <a:srgbClr val="EEF4FB"/>
                </a:solidFill>
                <a:latin typeface="Segoe UI Semibold" pitchFamily="34" charset="0"/>
                <a:ea typeface="Segoe UI Semibold" pitchFamily="34" charset="-122"/>
                <a:cs typeface="Segoe UI Semibold" pitchFamily="34" charset="-120"/>
              </a:rPr>
              <a:t>Dateigröße</a:t>
            </a:r>
            <a:endParaRPr lang="de-DE" sz="950" dirty="0"/>
          </a:p>
        </p:txBody>
      </p:sp>
      <p:sp>
        <p:nvSpPr>
          <p:cNvPr id="40" name="Shape 35"/>
          <p:cNvSpPr/>
          <p:nvPr/>
        </p:nvSpPr>
        <p:spPr>
          <a:xfrm>
            <a:off x="2697480" y="4919472"/>
            <a:ext cx="704088" cy="265176"/>
          </a:xfrm>
          <a:prstGeom prst="roundRect">
            <a:avLst>
              <a:gd name="adj" fmla="val 50000"/>
            </a:avLst>
          </a:prstGeom>
          <a:solidFill>
            <a:srgbClr val="22D3EE">
              <a:alpha val="15000"/>
            </a:srgbClr>
          </a:solidFill>
          <a:ln w="12700">
            <a:solidFill>
              <a:srgbClr val="22D3EE"/>
            </a:solidFill>
            <a:prstDash val="solid"/>
          </a:ln>
        </p:spPr>
      </p:sp>
      <p:sp>
        <p:nvSpPr>
          <p:cNvPr id="41" name="Text 36"/>
          <p:cNvSpPr txBox="1"/>
          <p:nvPr/>
        </p:nvSpPr>
        <p:spPr>
          <a:xfrm>
            <a:off x="2697480" y="4919472"/>
            <a:ext cx="704088" cy="265176"/>
          </a:xfrm>
          <a:prstGeom prst="rect">
            <a:avLst/>
          </a:prstGeom>
          <a:noFill/>
          <a:ln/>
        </p:spPr>
        <p:txBody>
          <a:bodyPr wrap="square" lIns="0" tIns="0" rIns="0" bIns="0" rtlCol="0" anchor="ctr"/>
          <a:lstStyle/>
          <a:p>
            <a:pPr algn="ctr" indent="0" marL="0">
              <a:buNone/>
            </a:pPr>
            <a:r>
              <a:rPr lang="de-DE" altLang="en-US" sz="950" dirty="0">
                <a:solidFill>
                  <a:srgbClr val="EEF4FB"/>
                </a:solidFill>
                <a:latin typeface="Segoe UI Semibold" pitchFamily="34" charset="0"/>
                <a:ea typeface="Segoe UI Semibold" pitchFamily="34" charset="-122"/>
                <a:cs typeface="Segoe UI Semibold" pitchFamily="34" charset="-120"/>
              </a:rPr>
              <a:t>SHA256</a:t>
            </a:r>
            <a:endParaRPr lang="de-DE" sz="950" dirty="0"/>
          </a:p>
        </p:txBody>
      </p:sp>
      <p:sp>
        <p:nvSpPr>
          <p:cNvPr id="42" name="Shape 37"/>
          <p:cNvSpPr/>
          <p:nvPr/>
        </p:nvSpPr>
        <p:spPr>
          <a:xfrm>
            <a:off x="694944" y="5266944"/>
            <a:ext cx="909828" cy="265176"/>
          </a:xfrm>
          <a:prstGeom prst="roundRect">
            <a:avLst>
              <a:gd name="adj" fmla="val 50000"/>
            </a:avLst>
          </a:prstGeom>
          <a:solidFill>
            <a:srgbClr val="22D3EE">
              <a:alpha val="15000"/>
            </a:srgbClr>
          </a:solidFill>
          <a:ln w="12700">
            <a:solidFill>
              <a:srgbClr val="22D3EE"/>
            </a:solidFill>
            <a:prstDash val="solid"/>
          </a:ln>
        </p:spPr>
      </p:sp>
      <p:sp>
        <p:nvSpPr>
          <p:cNvPr id="43" name="Text 38"/>
          <p:cNvSpPr txBox="1"/>
          <p:nvPr/>
        </p:nvSpPr>
        <p:spPr>
          <a:xfrm>
            <a:off x="694944" y="5266944"/>
            <a:ext cx="909828" cy="265176"/>
          </a:xfrm>
          <a:prstGeom prst="rect">
            <a:avLst/>
          </a:prstGeom>
          <a:noFill/>
          <a:ln/>
        </p:spPr>
        <p:txBody>
          <a:bodyPr wrap="square" lIns="0" tIns="0" rIns="0" bIns="0" rtlCol="0" anchor="ctr"/>
          <a:lstStyle/>
          <a:p>
            <a:pPr algn="ctr" indent="0" marL="0">
              <a:buNone/>
            </a:pPr>
            <a:r>
              <a:rPr lang="de-DE" altLang="en-US" sz="950" dirty="0">
                <a:solidFill>
                  <a:srgbClr val="EEF4FB"/>
                </a:solidFill>
                <a:latin typeface="Segoe UI Semibold" pitchFamily="34" charset="0"/>
                <a:ea typeface="Segoe UI Semibold" pitchFamily="34" charset="-122"/>
                <a:cs typeface="Segoe UI Semibold" pitchFamily="34" charset="-120"/>
              </a:rPr>
              <a:t>Metadaten</a:t>
            </a:r>
            <a:endParaRPr lang="de-DE" sz="950" dirty="0"/>
          </a:p>
        </p:txBody>
      </p:sp>
      <p:sp>
        <p:nvSpPr>
          <p:cNvPr id="44" name="Shape 39"/>
          <p:cNvSpPr/>
          <p:nvPr/>
        </p:nvSpPr>
        <p:spPr>
          <a:xfrm>
            <a:off x="1696212" y="5266944"/>
            <a:ext cx="704088" cy="265176"/>
          </a:xfrm>
          <a:prstGeom prst="roundRect">
            <a:avLst>
              <a:gd name="adj" fmla="val 50000"/>
            </a:avLst>
          </a:prstGeom>
          <a:solidFill>
            <a:srgbClr val="22D3EE">
              <a:alpha val="15000"/>
            </a:srgbClr>
          </a:solidFill>
          <a:ln w="12700">
            <a:solidFill>
              <a:srgbClr val="22D3EE"/>
            </a:solidFill>
            <a:prstDash val="solid"/>
          </a:ln>
        </p:spPr>
      </p:sp>
      <p:sp>
        <p:nvSpPr>
          <p:cNvPr id="45" name="Text 40"/>
          <p:cNvSpPr txBox="1"/>
          <p:nvPr/>
        </p:nvSpPr>
        <p:spPr>
          <a:xfrm>
            <a:off x="1696212" y="5266944"/>
            <a:ext cx="704088" cy="265176"/>
          </a:xfrm>
          <a:prstGeom prst="rect">
            <a:avLst/>
          </a:prstGeom>
          <a:noFill/>
          <a:ln/>
        </p:spPr>
        <p:txBody>
          <a:bodyPr wrap="square" lIns="0" tIns="0" rIns="0" bIns="0" rtlCol="0" anchor="ctr"/>
          <a:lstStyle/>
          <a:p>
            <a:pPr algn="ctr" indent="0" marL="0">
              <a:buNone/>
            </a:pPr>
            <a:r>
              <a:rPr lang="de-DE" altLang="en-US" sz="950" dirty="0">
                <a:solidFill>
                  <a:srgbClr val="EEF4FB"/>
                </a:solidFill>
                <a:latin typeface="Segoe UI Semibold" pitchFamily="34" charset="0"/>
                <a:ea typeface="Segoe UI Semibold" pitchFamily="34" charset="-122"/>
                <a:cs typeface="Segoe UI Semibold" pitchFamily="34" charset="-120"/>
              </a:rPr>
              <a:t>Schema</a:t>
            </a:r>
            <a:endParaRPr lang="de-DE" sz="950" dirty="0"/>
          </a:p>
        </p:txBody>
      </p:sp>
      <p:sp>
        <p:nvSpPr>
          <p:cNvPr id="46" name="Shape 41"/>
          <p:cNvSpPr/>
          <p:nvPr/>
        </p:nvSpPr>
        <p:spPr>
          <a:xfrm>
            <a:off x="694944" y="5742432"/>
            <a:ext cx="566928" cy="265176"/>
          </a:xfrm>
          <a:prstGeom prst="roundRect">
            <a:avLst>
              <a:gd name="adj" fmla="val 50000"/>
            </a:avLst>
          </a:prstGeom>
          <a:solidFill>
            <a:srgbClr val="34D399">
              <a:alpha val="18000"/>
            </a:srgbClr>
          </a:solidFill>
          <a:ln w="12700">
            <a:solidFill>
              <a:srgbClr val="34D399"/>
            </a:solidFill>
            <a:prstDash val="solid"/>
          </a:ln>
        </p:spPr>
      </p:sp>
      <p:sp>
        <p:nvSpPr>
          <p:cNvPr id="47" name="Text 42"/>
          <p:cNvSpPr txBox="1"/>
          <p:nvPr/>
        </p:nvSpPr>
        <p:spPr>
          <a:xfrm>
            <a:off x="694944" y="5742432"/>
            <a:ext cx="566928" cy="265176"/>
          </a:xfrm>
          <a:prstGeom prst="rect">
            <a:avLst/>
          </a:prstGeom>
          <a:noFill/>
          <a:ln/>
        </p:spPr>
        <p:txBody>
          <a:bodyPr wrap="square" lIns="0" tIns="0" rIns="0" bIns="0" rtlCol="0" anchor="ctr"/>
          <a:lstStyle/>
          <a:p>
            <a:pPr algn="ctr" indent="0" marL="0">
              <a:buNone/>
            </a:pPr>
            <a:r>
              <a:rPr lang="de-DE" altLang="en-US" sz="950" dirty="0">
                <a:solidFill>
                  <a:srgbClr val="34D399"/>
                </a:solidFill>
                <a:latin typeface="Segoe UI Semibold" pitchFamily="34" charset="0"/>
                <a:ea typeface="Segoe UI Semibold" pitchFamily="34" charset="-122"/>
                <a:cs typeface="Segoe UI Semibold" pitchFamily="34" charset="-120"/>
              </a:rPr>
              <a:t>PASS</a:t>
            </a:r>
            <a:endParaRPr lang="de-DE" sz="950" dirty="0"/>
          </a:p>
        </p:txBody>
      </p:sp>
      <p:sp>
        <p:nvSpPr>
          <p:cNvPr id="48" name="Text 43"/>
          <p:cNvSpPr txBox="1"/>
          <p:nvPr/>
        </p:nvSpPr>
        <p:spPr>
          <a:xfrm>
            <a:off x="1335024" y="5742432"/>
            <a:ext cx="2447849" cy="265176"/>
          </a:xfrm>
          <a:prstGeom prst="rect">
            <a:avLst/>
          </a:prstGeom>
          <a:noFill/>
          <a:ln/>
        </p:spPr>
        <p:txBody>
          <a:bodyPr wrap="square" lIns="0" tIns="0" rIns="0" bIns="0" rtlCol="0" anchor="ctr"/>
          <a:lstStyle/>
          <a:p>
            <a:pPr indent="0" marL="0">
              <a:buNone/>
            </a:pPr>
            <a:r>
              <a:rPr lang="de-DE" altLang="en-US" sz="950" dirty="0">
                <a:solidFill>
                  <a:srgbClr val="A9BBD0"/>
                </a:solidFill>
                <a:latin typeface="Segoe UI" pitchFamily="34" charset="0"/>
                <a:ea typeface="Segoe UI" pitchFamily="34" charset="-122"/>
                <a:cs typeface="Segoe UI" pitchFamily="34" charset="-120"/>
              </a:rPr>
              <a:t>Datenquelle: verifizierte lokale Dateien</a:t>
            </a:r>
            <a:endParaRPr lang="de-DE" sz="950" dirty="0"/>
          </a:p>
        </p:txBody>
      </p:sp>
      <p:sp>
        <p:nvSpPr>
          <p:cNvPr id="49" name="Shape 44"/>
          <p:cNvSpPr/>
          <p:nvPr/>
        </p:nvSpPr>
        <p:spPr>
          <a:xfrm>
            <a:off x="4413809" y="2816352"/>
            <a:ext cx="3362249" cy="585216"/>
          </a:xfrm>
          <a:prstGeom prst="roundRect">
            <a:avLst>
              <a:gd name="adj" fmla="val 18750"/>
            </a:avLst>
          </a:prstGeom>
          <a:solidFill>
            <a:srgbClr val="10213F">
              <a:alpha val="92000"/>
            </a:srgbClr>
          </a:solidFill>
          <a:ln w="12700">
            <a:solidFill>
              <a:srgbClr val="1E3A5F"/>
            </a:solidFill>
            <a:prstDash val="solid"/>
          </a:ln>
        </p:spPr>
      </p:sp>
      <p:sp>
        <p:nvSpPr>
          <p:cNvPr id="50" name="Text 45"/>
          <p:cNvSpPr txBox="1"/>
          <p:nvPr/>
        </p:nvSpPr>
        <p:spPr>
          <a:xfrm>
            <a:off x="4560113" y="2889504"/>
            <a:ext cx="3069641"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Data Quality</a:t>
            </a:r>
            <a:endParaRPr lang="de-DE" sz="1200" dirty="0"/>
          </a:p>
        </p:txBody>
      </p:sp>
      <p:sp>
        <p:nvSpPr>
          <p:cNvPr id="51" name="Text 46"/>
          <p:cNvSpPr txBox="1"/>
          <p:nvPr/>
        </p:nvSpPr>
        <p:spPr>
          <a:xfrm>
            <a:off x="4560113" y="3145536"/>
            <a:ext cx="3069641" cy="201168"/>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9 Prüfungen · PASS / WARN / FAIL</a:t>
            </a:r>
            <a:endParaRPr lang="de-DE" sz="950" dirty="0"/>
          </a:p>
        </p:txBody>
      </p:sp>
      <p:sp>
        <p:nvSpPr>
          <p:cNvPr id="52" name="Shape 47"/>
          <p:cNvSpPr/>
          <p:nvPr/>
        </p:nvSpPr>
        <p:spPr>
          <a:xfrm>
            <a:off x="6094933" y="3401568"/>
            <a:ext cx="0" cy="201168"/>
          </a:xfrm>
          <a:prstGeom prst="line">
            <a:avLst/>
          </a:prstGeom>
          <a:noFill/>
          <a:ln w="15875">
            <a:solidFill>
              <a:srgbClr val="7389A6"/>
            </a:solidFill>
            <a:prstDash val="solid"/>
            <a:tailEnd type="triangle"/>
          </a:ln>
        </p:spPr>
      </p:sp>
      <p:sp>
        <p:nvSpPr>
          <p:cNvPr id="53" name="Shape 48"/>
          <p:cNvSpPr/>
          <p:nvPr/>
        </p:nvSpPr>
        <p:spPr>
          <a:xfrm>
            <a:off x="4413809" y="3602736"/>
            <a:ext cx="3362249" cy="585216"/>
          </a:xfrm>
          <a:prstGeom prst="roundRect">
            <a:avLst>
              <a:gd name="adj" fmla="val 18750"/>
            </a:avLst>
          </a:prstGeom>
          <a:solidFill>
            <a:srgbClr val="10213F">
              <a:alpha val="92000"/>
            </a:srgbClr>
          </a:solidFill>
          <a:ln w="12700">
            <a:solidFill>
              <a:srgbClr val="1E3A5F"/>
            </a:solidFill>
            <a:prstDash val="solid"/>
          </a:ln>
        </p:spPr>
      </p:sp>
      <p:sp>
        <p:nvSpPr>
          <p:cNvPr id="54" name="Text 49"/>
          <p:cNvSpPr txBox="1"/>
          <p:nvPr/>
        </p:nvSpPr>
        <p:spPr>
          <a:xfrm>
            <a:off x="4560113" y="3675888"/>
            <a:ext cx="3069641"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Curated Policy Layer</a:t>
            </a:r>
            <a:endParaRPr lang="de-DE" sz="1200" dirty="0"/>
          </a:p>
        </p:txBody>
      </p:sp>
      <p:sp>
        <p:nvSpPr>
          <p:cNvPr id="55" name="Text 50"/>
          <p:cNvSpPr txBox="1"/>
          <p:nvPr/>
        </p:nvSpPr>
        <p:spPr>
          <a:xfrm>
            <a:off x="4560113" y="3931920"/>
            <a:ext cx="3069641" cy="201168"/>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1 Zeile pro Police · DQ-Flags</a:t>
            </a:r>
            <a:endParaRPr lang="de-DE" sz="950" dirty="0"/>
          </a:p>
        </p:txBody>
      </p:sp>
      <p:sp>
        <p:nvSpPr>
          <p:cNvPr id="56" name="Shape 51"/>
          <p:cNvSpPr/>
          <p:nvPr/>
        </p:nvSpPr>
        <p:spPr>
          <a:xfrm>
            <a:off x="6094933" y="4187952"/>
            <a:ext cx="0" cy="201168"/>
          </a:xfrm>
          <a:prstGeom prst="line">
            <a:avLst/>
          </a:prstGeom>
          <a:noFill/>
          <a:ln w="15875">
            <a:solidFill>
              <a:srgbClr val="7389A6"/>
            </a:solidFill>
            <a:prstDash val="solid"/>
            <a:tailEnd type="triangle"/>
          </a:ln>
        </p:spPr>
      </p:sp>
      <p:sp>
        <p:nvSpPr>
          <p:cNvPr id="57" name="Shape 52"/>
          <p:cNvSpPr/>
          <p:nvPr/>
        </p:nvSpPr>
        <p:spPr>
          <a:xfrm>
            <a:off x="4413809" y="4389120"/>
            <a:ext cx="3362249" cy="585216"/>
          </a:xfrm>
          <a:prstGeom prst="roundRect">
            <a:avLst>
              <a:gd name="adj" fmla="val 18750"/>
            </a:avLst>
          </a:prstGeom>
          <a:solidFill>
            <a:srgbClr val="10213F">
              <a:alpha val="92000"/>
            </a:srgbClr>
          </a:solidFill>
          <a:ln w="12700">
            <a:solidFill>
              <a:srgbClr val="1E3A5F"/>
            </a:solidFill>
            <a:prstDash val="solid"/>
          </a:ln>
        </p:spPr>
      </p:sp>
      <p:sp>
        <p:nvSpPr>
          <p:cNvPr id="58" name="Text 53"/>
          <p:cNvSpPr txBox="1"/>
          <p:nvPr/>
        </p:nvSpPr>
        <p:spPr>
          <a:xfrm>
            <a:off x="4560113" y="4462272"/>
            <a:ext cx="3069641"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Feature Engineering</a:t>
            </a:r>
            <a:endParaRPr lang="de-DE" sz="1200" dirty="0"/>
          </a:p>
        </p:txBody>
      </p:sp>
      <p:sp>
        <p:nvSpPr>
          <p:cNvPr id="59" name="Text 54"/>
          <p:cNvSpPr txBox="1"/>
          <p:nvPr/>
        </p:nvSpPr>
        <p:spPr>
          <a:xfrm>
            <a:off x="4560113" y="4718304"/>
            <a:ext cx="3069641" cy="201168"/>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Altersgruppen · Bonus-Malus-Segmente · log(Density)</a:t>
            </a:r>
            <a:endParaRPr lang="de-DE" sz="950" dirty="0"/>
          </a:p>
        </p:txBody>
      </p:sp>
      <p:sp>
        <p:nvSpPr>
          <p:cNvPr id="60" name="Shape 55"/>
          <p:cNvSpPr/>
          <p:nvPr/>
        </p:nvSpPr>
        <p:spPr>
          <a:xfrm>
            <a:off x="6094933" y="4974336"/>
            <a:ext cx="0" cy="201168"/>
          </a:xfrm>
          <a:prstGeom prst="line">
            <a:avLst/>
          </a:prstGeom>
          <a:noFill/>
          <a:ln w="15875">
            <a:solidFill>
              <a:srgbClr val="7389A6"/>
            </a:solidFill>
            <a:prstDash val="solid"/>
            <a:tailEnd type="triangle"/>
          </a:ln>
        </p:spPr>
      </p:sp>
      <p:sp>
        <p:nvSpPr>
          <p:cNvPr id="61" name="Shape 56"/>
          <p:cNvSpPr/>
          <p:nvPr/>
        </p:nvSpPr>
        <p:spPr>
          <a:xfrm>
            <a:off x="4413809" y="5175504"/>
            <a:ext cx="3362249" cy="1106424"/>
          </a:xfrm>
          <a:prstGeom prst="roundRect">
            <a:avLst>
              <a:gd name="adj" fmla="val 9917"/>
            </a:avLst>
          </a:prstGeom>
          <a:solidFill>
            <a:srgbClr val="10213F">
              <a:alpha val="92000"/>
            </a:srgbClr>
          </a:solidFill>
          <a:ln w="12700">
            <a:solidFill>
              <a:srgbClr val="2F5F8C"/>
            </a:solidFill>
            <a:prstDash val="solid"/>
          </a:ln>
          <a:effectLst>
            <a:outerShdw sx="100000" sy="100000" kx="0" ky="0" algn="bl" rotWithShape="0" blurRad="228600" dist="50800" dir="5400000">
              <a:srgbClr val="22D3EE">
                <a:alpha val="32000"/>
              </a:srgbClr>
            </a:outerShdw>
          </a:effectLst>
        </p:spPr>
      </p:sp>
      <p:sp>
        <p:nvSpPr>
          <p:cNvPr id="62" name="Text 57"/>
          <p:cNvSpPr txBox="1"/>
          <p:nvPr/>
        </p:nvSpPr>
        <p:spPr>
          <a:xfrm>
            <a:off x="4560113" y="5248656"/>
            <a:ext cx="3069641"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Modellierung</a:t>
            </a:r>
            <a:endParaRPr lang="de-DE" sz="1200" dirty="0"/>
          </a:p>
        </p:txBody>
      </p:sp>
      <p:sp>
        <p:nvSpPr>
          <p:cNvPr id="63" name="Shape 58"/>
          <p:cNvSpPr/>
          <p:nvPr/>
        </p:nvSpPr>
        <p:spPr>
          <a:xfrm>
            <a:off x="4560113" y="5577840"/>
            <a:ext cx="1479956" cy="274320"/>
          </a:xfrm>
          <a:prstGeom prst="roundRect">
            <a:avLst>
              <a:gd name="adj" fmla="val 50000"/>
            </a:avLst>
          </a:prstGeom>
          <a:solidFill>
            <a:srgbClr val="38BDF8">
              <a:alpha val="20000"/>
            </a:srgbClr>
          </a:solidFill>
          <a:ln w="12700">
            <a:solidFill>
              <a:srgbClr val="38BDF8"/>
            </a:solidFill>
            <a:prstDash val="solid"/>
          </a:ln>
        </p:spPr>
      </p:sp>
      <p:sp>
        <p:nvSpPr>
          <p:cNvPr id="64" name="Text 59"/>
          <p:cNvSpPr txBox="1"/>
          <p:nvPr/>
        </p:nvSpPr>
        <p:spPr>
          <a:xfrm>
            <a:off x="4560113" y="5577840"/>
            <a:ext cx="1479956" cy="274320"/>
          </a:xfrm>
          <a:prstGeom prst="rect">
            <a:avLst/>
          </a:prstGeom>
          <a:noFill/>
          <a:ln/>
        </p:spPr>
        <p:txBody>
          <a:bodyPr wrap="square" lIns="0" tIns="0" rIns="0" bIns="0" rtlCol="0" anchor="ctr"/>
          <a:lstStyle/>
          <a:p>
            <a:pPr algn="ctr" indent="0" marL="0">
              <a:buNone/>
            </a:pPr>
            <a:r>
              <a:rPr lang="de-DE" altLang="en-US" sz="1000" dirty="0">
                <a:solidFill>
                  <a:srgbClr val="EEF4FB"/>
                </a:solidFill>
                <a:latin typeface="Segoe UI Semibold" pitchFamily="34" charset="0"/>
                <a:ea typeface="Segoe UI Semibold" pitchFamily="34" charset="-122"/>
                <a:cs typeface="Segoe UI Semibold" pitchFamily="34" charset="-120"/>
              </a:rPr>
              <a:t>Frequency</a:t>
            </a:r>
            <a:endParaRPr lang="de-DE" sz="1000" dirty="0"/>
          </a:p>
        </p:txBody>
      </p:sp>
      <p:sp>
        <p:nvSpPr>
          <p:cNvPr id="65" name="Shape 60"/>
          <p:cNvSpPr/>
          <p:nvPr/>
        </p:nvSpPr>
        <p:spPr>
          <a:xfrm>
            <a:off x="6149797" y="5577840"/>
            <a:ext cx="1479956" cy="274320"/>
          </a:xfrm>
          <a:prstGeom prst="roundRect">
            <a:avLst>
              <a:gd name="adj" fmla="val 50000"/>
            </a:avLst>
          </a:prstGeom>
          <a:solidFill>
            <a:srgbClr val="A78BFA">
              <a:alpha val="20000"/>
            </a:srgbClr>
          </a:solidFill>
          <a:ln w="12700">
            <a:solidFill>
              <a:srgbClr val="A78BFA"/>
            </a:solidFill>
            <a:prstDash val="solid"/>
          </a:ln>
        </p:spPr>
      </p:sp>
      <p:sp>
        <p:nvSpPr>
          <p:cNvPr id="66" name="Text 61"/>
          <p:cNvSpPr txBox="1"/>
          <p:nvPr/>
        </p:nvSpPr>
        <p:spPr>
          <a:xfrm>
            <a:off x="6149797" y="5577840"/>
            <a:ext cx="1479956" cy="274320"/>
          </a:xfrm>
          <a:prstGeom prst="rect">
            <a:avLst/>
          </a:prstGeom>
          <a:noFill/>
          <a:ln/>
        </p:spPr>
        <p:txBody>
          <a:bodyPr wrap="square" lIns="0" tIns="0" rIns="0" bIns="0" rtlCol="0" anchor="ctr"/>
          <a:lstStyle/>
          <a:p>
            <a:pPr algn="ctr" indent="0" marL="0">
              <a:buNone/>
            </a:pPr>
            <a:r>
              <a:rPr lang="de-DE" altLang="en-US" sz="1000" dirty="0">
                <a:solidFill>
                  <a:srgbClr val="EEF4FB"/>
                </a:solidFill>
                <a:latin typeface="Segoe UI Semibold" pitchFamily="34" charset="0"/>
                <a:ea typeface="Segoe UI Semibold" pitchFamily="34" charset="-122"/>
                <a:cs typeface="Segoe UI Semibold" pitchFamily="34" charset="-120"/>
              </a:rPr>
              <a:t>Severity</a:t>
            </a:r>
            <a:endParaRPr lang="de-DE" sz="1000" dirty="0"/>
          </a:p>
        </p:txBody>
      </p:sp>
      <p:sp>
        <p:nvSpPr>
          <p:cNvPr id="67" name="Shape 62"/>
          <p:cNvSpPr/>
          <p:nvPr/>
        </p:nvSpPr>
        <p:spPr>
          <a:xfrm>
            <a:off x="4560113" y="5925312"/>
            <a:ext cx="1479956" cy="274320"/>
          </a:xfrm>
          <a:prstGeom prst="roundRect">
            <a:avLst>
              <a:gd name="adj" fmla="val 50000"/>
            </a:avLst>
          </a:prstGeom>
          <a:solidFill>
            <a:srgbClr val="94A3B8">
              <a:alpha val="20000"/>
            </a:srgbClr>
          </a:solidFill>
          <a:ln w="12700">
            <a:solidFill>
              <a:srgbClr val="94A3B8"/>
            </a:solidFill>
            <a:prstDash val="solid"/>
          </a:ln>
        </p:spPr>
      </p:sp>
      <p:sp>
        <p:nvSpPr>
          <p:cNvPr id="68" name="Text 63"/>
          <p:cNvSpPr txBox="1"/>
          <p:nvPr/>
        </p:nvSpPr>
        <p:spPr>
          <a:xfrm>
            <a:off x="4560113" y="5925312"/>
            <a:ext cx="1479956" cy="274320"/>
          </a:xfrm>
          <a:prstGeom prst="rect">
            <a:avLst/>
          </a:prstGeom>
          <a:noFill/>
          <a:ln/>
        </p:spPr>
        <p:txBody>
          <a:bodyPr wrap="square" lIns="0" tIns="0" rIns="0" bIns="0" rtlCol="0" anchor="ctr"/>
          <a:lstStyle/>
          <a:p>
            <a:pPr algn="ctr" indent="0" marL="0">
              <a:buNone/>
            </a:pPr>
            <a:r>
              <a:rPr lang="de-DE" altLang="en-US" sz="1000" dirty="0">
                <a:solidFill>
                  <a:srgbClr val="EEF4FB"/>
                </a:solidFill>
                <a:latin typeface="Segoe UI Semibold" pitchFamily="34" charset="0"/>
                <a:ea typeface="Segoe UI Semibold" pitchFamily="34" charset="-122"/>
                <a:cs typeface="Segoe UI Semibold" pitchFamily="34" charset="-120"/>
              </a:rPr>
              <a:t>Two-Stage</a:t>
            </a:r>
            <a:endParaRPr lang="de-DE" sz="1000" dirty="0"/>
          </a:p>
        </p:txBody>
      </p:sp>
      <p:sp>
        <p:nvSpPr>
          <p:cNvPr id="69" name="Shape 64"/>
          <p:cNvSpPr/>
          <p:nvPr/>
        </p:nvSpPr>
        <p:spPr>
          <a:xfrm>
            <a:off x="6149797" y="5925312"/>
            <a:ext cx="1479956" cy="274320"/>
          </a:xfrm>
          <a:prstGeom prst="roundRect">
            <a:avLst>
              <a:gd name="adj" fmla="val 50000"/>
            </a:avLst>
          </a:prstGeom>
          <a:solidFill>
            <a:srgbClr val="2DD4BF">
              <a:alpha val="20000"/>
            </a:srgbClr>
          </a:solidFill>
          <a:ln w="12700">
            <a:solidFill>
              <a:srgbClr val="2DD4BF"/>
            </a:solidFill>
            <a:prstDash val="solid"/>
          </a:ln>
        </p:spPr>
      </p:sp>
      <p:sp>
        <p:nvSpPr>
          <p:cNvPr id="70" name="Text 65"/>
          <p:cNvSpPr txBox="1"/>
          <p:nvPr/>
        </p:nvSpPr>
        <p:spPr>
          <a:xfrm>
            <a:off x="6149797" y="5925312"/>
            <a:ext cx="1479956" cy="274320"/>
          </a:xfrm>
          <a:prstGeom prst="rect">
            <a:avLst/>
          </a:prstGeom>
          <a:noFill/>
          <a:ln/>
        </p:spPr>
        <p:txBody>
          <a:bodyPr wrap="square" lIns="0" tIns="0" rIns="0" bIns="0" rtlCol="0" anchor="ctr"/>
          <a:lstStyle/>
          <a:p>
            <a:pPr algn="ctr" indent="0" marL="0">
              <a:buNone/>
            </a:pPr>
            <a:r>
              <a:rPr lang="de-DE" altLang="en-US" sz="1000" dirty="0">
                <a:solidFill>
                  <a:srgbClr val="EEF4FB"/>
                </a:solidFill>
                <a:latin typeface="Segoe UI Semibold" pitchFamily="34" charset="0"/>
                <a:ea typeface="Segoe UI Semibold" pitchFamily="34" charset="-122"/>
                <a:cs typeface="Segoe UI Semibold" pitchFamily="34" charset="-120"/>
              </a:rPr>
              <a:t>Tweedie</a:t>
            </a:r>
            <a:endParaRPr lang="de-DE" sz="1000" dirty="0"/>
          </a:p>
        </p:txBody>
      </p:sp>
      <p:sp>
        <p:nvSpPr>
          <p:cNvPr id="71" name="Shape 66"/>
          <p:cNvSpPr/>
          <p:nvPr/>
        </p:nvSpPr>
        <p:spPr>
          <a:xfrm>
            <a:off x="8278978" y="2816352"/>
            <a:ext cx="3362249" cy="640080"/>
          </a:xfrm>
          <a:prstGeom prst="roundRect">
            <a:avLst>
              <a:gd name="adj" fmla="val 17143"/>
            </a:avLst>
          </a:prstGeom>
          <a:solidFill>
            <a:srgbClr val="10213F">
              <a:alpha val="92000"/>
            </a:srgbClr>
          </a:solidFill>
          <a:ln w="12700">
            <a:solidFill>
              <a:srgbClr val="1E3A5F"/>
            </a:solidFill>
            <a:prstDash val="solid"/>
          </a:ln>
        </p:spPr>
      </p:sp>
      <p:sp>
        <p:nvSpPr>
          <p:cNvPr id="72" name="Text 67"/>
          <p:cNvSpPr txBox="1"/>
          <p:nvPr/>
        </p:nvSpPr>
        <p:spPr>
          <a:xfrm>
            <a:off x="8425282" y="2889504"/>
            <a:ext cx="3069641"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Prediction Outputs</a:t>
            </a:r>
            <a:endParaRPr lang="de-DE" sz="1200" dirty="0"/>
          </a:p>
        </p:txBody>
      </p:sp>
      <p:sp>
        <p:nvSpPr>
          <p:cNvPr id="73" name="Text 68"/>
          <p:cNvSpPr txBox="1"/>
          <p:nvPr/>
        </p:nvSpPr>
        <p:spPr>
          <a:xfrm>
            <a:off x="8425282" y="3145536"/>
            <a:ext cx="3069641" cy="25603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Prognosen, Segmente &amp; Deciles auf Policenebene</a:t>
            </a:r>
            <a:endParaRPr lang="de-DE" sz="950" dirty="0"/>
          </a:p>
        </p:txBody>
      </p:sp>
      <p:sp>
        <p:nvSpPr>
          <p:cNvPr id="74" name="Shape 69"/>
          <p:cNvSpPr/>
          <p:nvPr/>
        </p:nvSpPr>
        <p:spPr>
          <a:xfrm>
            <a:off x="9073820" y="3456432"/>
            <a:ext cx="0" cy="201168"/>
          </a:xfrm>
          <a:prstGeom prst="line">
            <a:avLst/>
          </a:prstGeom>
          <a:noFill/>
          <a:ln w="15875">
            <a:solidFill>
              <a:srgbClr val="7389A6"/>
            </a:solidFill>
            <a:prstDash val="solid"/>
            <a:tailEnd type="triangle"/>
          </a:ln>
        </p:spPr>
      </p:sp>
      <p:sp>
        <p:nvSpPr>
          <p:cNvPr id="75" name="Shape 70"/>
          <p:cNvSpPr/>
          <p:nvPr/>
        </p:nvSpPr>
        <p:spPr>
          <a:xfrm>
            <a:off x="8278978" y="3657600"/>
            <a:ext cx="1589684" cy="1371600"/>
          </a:xfrm>
          <a:prstGeom prst="roundRect">
            <a:avLst>
              <a:gd name="adj" fmla="val 8000"/>
            </a:avLst>
          </a:prstGeom>
          <a:solidFill>
            <a:srgbClr val="10213F">
              <a:alpha val="92000"/>
            </a:srgbClr>
          </a:solidFill>
          <a:ln w="12700">
            <a:solidFill>
              <a:srgbClr val="1E3A5F"/>
            </a:solidFill>
            <a:prstDash val="solid"/>
          </a:ln>
        </p:spPr>
      </p:sp>
      <p:sp>
        <p:nvSpPr>
          <p:cNvPr id="76" name="Text 71"/>
          <p:cNvSpPr txBox="1"/>
          <p:nvPr/>
        </p:nvSpPr>
        <p:spPr>
          <a:xfrm>
            <a:off x="8425282" y="3730752"/>
            <a:ext cx="1297076" cy="256032"/>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PostgreSQL</a:t>
            </a:r>
            <a:endParaRPr lang="de-DE" sz="1200" dirty="0"/>
          </a:p>
        </p:txBody>
      </p:sp>
      <p:sp>
        <p:nvSpPr>
          <p:cNvPr id="77" name="Text 72"/>
          <p:cNvSpPr txBox="1"/>
          <p:nvPr/>
        </p:nvSpPr>
        <p:spPr>
          <a:xfrm>
            <a:off x="8425282" y="3986784"/>
            <a:ext cx="1297076" cy="98755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Facts · Prognosen</a:t>
            </a:r>
            <a:endParaRPr lang="de-DE" sz="950" dirty="0"/>
          </a:p>
          <a:p>
            <a:pPr indent="0" marL="0">
              <a:buNone/>
            </a:pPr>
            <a:r>
              <a:rPr lang="de-DE" altLang="en-US" sz="950" dirty="0">
                <a:solidFill>
                  <a:srgbClr val="A9BBD0"/>
                </a:solidFill>
                <a:latin typeface="Segoe UI" pitchFamily="34" charset="0"/>
                <a:ea typeface="Segoe UI" pitchFamily="34" charset="-122"/>
                <a:cs typeface="Segoe UI" pitchFamily="34" charset="-120"/>
              </a:rPr>
              <a:t>DQ-Ergebnisse</a:t>
            </a:r>
            <a:endParaRPr lang="de-DE" sz="950" dirty="0"/>
          </a:p>
          <a:p>
            <a:pPr indent="0" marL="0">
              <a:buNone/>
            </a:pPr>
            <a:r>
              <a:rPr lang="de-DE" altLang="en-US" sz="950" dirty="0">
                <a:solidFill>
                  <a:srgbClr val="A9BBD0"/>
                </a:solidFill>
                <a:latin typeface="Segoe UI" pitchFamily="34" charset="0"/>
                <a:ea typeface="Segoe UI" pitchFamily="34" charset="-122"/>
                <a:cs typeface="Segoe UI" pitchFamily="34" charset="-120"/>
              </a:rPr>
              <a:t>Pipeline-Läufe · Views</a:t>
            </a:r>
            <a:endParaRPr lang="de-DE" sz="950" dirty="0"/>
          </a:p>
        </p:txBody>
      </p:sp>
      <p:sp>
        <p:nvSpPr>
          <p:cNvPr id="78" name="Shape 73"/>
          <p:cNvSpPr/>
          <p:nvPr/>
        </p:nvSpPr>
        <p:spPr>
          <a:xfrm>
            <a:off x="9073820" y="5029200"/>
            <a:ext cx="0" cy="201168"/>
          </a:xfrm>
          <a:prstGeom prst="line">
            <a:avLst/>
          </a:prstGeom>
          <a:noFill/>
          <a:ln w="15875">
            <a:solidFill>
              <a:srgbClr val="7389A6"/>
            </a:solidFill>
            <a:prstDash val="solid"/>
            <a:tailEnd type="triangle"/>
          </a:ln>
        </p:spPr>
      </p:sp>
      <p:sp>
        <p:nvSpPr>
          <p:cNvPr id="79" name="Shape 74"/>
          <p:cNvSpPr/>
          <p:nvPr/>
        </p:nvSpPr>
        <p:spPr>
          <a:xfrm>
            <a:off x="8278978" y="5230368"/>
            <a:ext cx="1589684" cy="1051560"/>
          </a:xfrm>
          <a:prstGeom prst="roundRect">
            <a:avLst>
              <a:gd name="adj" fmla="val 10435"/>
            </a:avLst>
          </a:prstGeom>
          <a:solidFill>
            <a:srgbClr val="10213F">
              <a:alpha val="92000"/>
            </a:srgbClr>
          </a:solidFill>
          <a:ln w="12700">
            <a:solidFill>
              <a:srgbClr val="2F5F8C"/>
            </a:solidFill>
            <a:prstDash val="solid"/>
          </a:ln>
          <a:effectLst>
            <a:outerShdw sx="100000" sy="100000" kx="0" ky="0" algn="bl" rotWithShape="0" blurRad="228600" dist="50800" dir="5400000">
              <a:srgbClr val="FBBF24">
                <a:alpha val="32000"/>
              </a:srgbClr>
            </a:outerShdw>
          </a:effectLst>
        </p:spPr>
      </p:sp>
      <p:pic>
        <p:nvPicPr>
          <p:cNvPr id="80" name="Image 3" descr="preencoded.png">    </p:cNvPr>
          <p:cNvPicPr>
            <a:picLocks noChangeAspect="1"/>
          </p:cNvPicPr>
          <p:nvPr/>
        </p:nvPicPr>
        <p:blipFill>
          <a:blip r:embed="rId5"/>
          <a:stretch>
            <a:fillRect/>
          </a:stretch>
        </p:blipFill>
        <p:spPr>
          <a:xfrm>
            <a:off x="8425282" y="5358384"/>
            <a:ext cx="274320" cy="274320"/>
          </a:xfrm>
          <a:prstGeom prst="rect">
            <a:avLst/>
          </a:prstGeom>
        </p:spPr>
      </p:pic>
      <p:sp>
        <p:nvSpPr>
          <p:cNvPr id="81" name="Text 75"/>
          <p:cNvSpPr txBox="1"/>
          <p:nvPr/>
        </p:nvSpPr>
        <p:spPr>
          <a:xfrm>
            <a:off x="8754466" y="5340096"/>
            <a:ext cx="1041044" cy="3108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Power BI</a:t>
            </a:r>
            <a:endParaRPr lang="de-DE" sz="1200" dirty="0"/>
          </a:p>
        </p:txBody>
      </p:sp>
      <p:sp>
        <p:nvSpPr>
          <p:cNvPr id="82" name="Text 76"/>
          <p:cNvSpPr txBox="1"/>
          <p:nvPr/>
        </p:nvSpPr>
        <p:spPr>
          <a:xfrm>
            <a:off x="8425282" y="5705856"/>
            <a:ext cx="1315364" cy="457200"/>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4 Dashboard-Seiten</a:t>
            </a:r>
            <a:endParaRPr lang="de-DE" sz="950" dirty="0"/>
          </a:p>
        </p:txBody>
      </p:sp>
      <p:sp>
        <p:nvSpPr>
          <p:cNvPr id="83" name="Shape 77"/>
          <p:cNvSpPr/>
          <p:nvPr/>
        </p:nvSpPr>
        <p:spPr>
          <a:xfrm>
            <a:off x="10846384" y="3456432"/>
            <a:ext cx="0" cy="1773936"/>
          </a:xfrm>
          <a:prstGeom prst="line">
            <a:avLst/>
          </a:prstGeom>
          <a:noFill/>
          <a:ln w="15875">
            <a:solidFill>
              <a:srgbClr val="7389A6"/>
            </a:solidFill>
            <a:prstDash val="solid"/>
            <a:tailEnd type="triangle"/>
          </a:ln>
        </p:spPr>
      </p:sp>
      <p:sp>
        <p:nvSpPr>
          <p:cNvPr id="84" name="Shape 78"/>
          <p:cNvSpPr/>
          <p:nvPr/>
        </p:nvSpPr>
        <p:spPr>
          <a:xfrm>
            <a:off x="10051542" y="5230368"/>
            <a:ext cx="1589684" cy="1051560"/>
          </a:xfrm>
          <a:prstGeom prst="roundRect">
            <a:avLst>
              <a:gd name="adj" fmla="val 10435"/>
            </a:avLst>
          </a:prstGeom>
          <a:solidFill>
            <a:srgbClr val="10213F">
              <a:alpha val="92000"/>
            </a:srgbClr>
          </a:solidFill>
          <a:ln w="12700">
            <a:solidFill>
              <a:srgbClr val="2F5F8C"/>
            </a:solidFill>
            <a:prstDash val="solid"/>
          </a:ln>
          <a:effectLst>
            <a:outerShdw sx="100000" sy="100000" kx="0" ky="0" algn="bl" rotWithShape="0" blurRad="228600" dist="50800" dir="5400000">
              <a:srgbClr val="2DD4BF">
                <a:alpha val="32000"/>
              </a:srgbClr>
            </a:outerShdw>
          </a:effectLst>
        </p:spPr>
      </p:sp>
      <p:pic>
        <p:nvPicPr>
          <p:cNvPr id="85" name="Image 4" descr="preencoded.png">    </p:cNvPr>
          <p:cNvPicPr>
            <a:picLocks noChangeAspect="1"/>
          </p:cNvPicPr>
          <p:nvPr/>
        </p:nvPicPr>
        <p:blipFill>
          <a:blip r:embed="rId6"/>
          <a:stretch>
            <a:fillRect/>
          </a:stretch>
        </p:blipFill>
        <p:spPr>
          <a:xfrm>
            <a:off x="10197846" y="5358384"/>
            <a:ext cx="274320" cy="274320"/>
          </a:xfrm>
          <a:prstGeom prst="rect">
            <a:avLst/>
          </a:prstGeom>
        </p:spPr>
      </p:pic>
      <p:sp>
        <p:nvSpPr>
          <p:cNvPr id="86" name="Text 79"/>
          <p:cNvSpPr txBox="1"/>
          <p:nvPr/>
        </p:nvSpPr>
        <p:spPr>
          <a:xfrm>
            <a:off x="10527030" y="5340096"/>
            <a:ext cx="1041044" cy="3108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FastAPI</a:t>
            </a:r>
            <a:endParaRPr lang="de-DE" sz="1200" dirty="0"/>
          </a:p>
        </p:txBody>
      </p:sp>
      <p:sp>
        <p:nvSpPr>
          <p:cNvPr id="87" name="Text 80"/>
          <p:cNvSpPr txBox="1"/>
          <p:nvPr/>
        </p:nvSpPr>
        <p:spPr>
          <a:xfrm>
            <a:off x="10197846" y="5705856"/>
            <a:ext cx="1315364" cy="457200"/>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Prototyp-API</a:t>
            </a:r>
            <a:endParaRPr lang="de-DE" sz="950" dirty="0"/>
          </a:p>
          <a:p>
            <a:pPr indent="0" marL="0">
              <a:buNone/>
            </a:pPr>
            <a:r>
              <a:rPr lang="de-DE" altLang="en-US" sz="950" dirty="0">
                <a:solidFill>
                  <a:srgbClr val="A9BBD0"/>
                </a:solidFill>
                <a:latin typeface="Segoe UI" pitchFamily="34" charset="0"/>
                <a:ea typeface="Segoe UI" pitchFamily="34" charset="-122"/>
                <a:cs typeface="Segoe UI" pitchFamily="34" charset="-120"/>
              </a:rPr>
              <a:t>4 Endpunkte</a:t>
            </a:r>
            <a:endParaRPr lang="de-DE" sz="950" dirty="0"/>
          </a:p>
        </p:txBody>
      </p:sp>
      <p:sp>
        <p:nvSpPr>
          <p:cNvPr id="88" name="Shape 81"/>
          <p:cNvSpPr/>
          <p:nvPr/>
        </p:nvSpPr>
        <p:spPr>
          <a:xfrm>
            <a:off x="4020617" y="4434840"/>
            <a:ext cx="283464" cy="274320"/>
          </a:xfrm>
          <a:prstGeom prst="rightArrow">
            <a:avLst/>
          </a:prstGeom>
          <a:solidFill>
            <a:srgbClr val="22D3EE">
              <a:alpha val="70000"/>
            </a:srgbClr>
          </a:solidFill>
          <a:ln w="12700">
            <a:solidFill>
              <a:srgbClr val="22D3EE"/>
            </a:solidFill>
            <a:prstDash val="solid"/>
          </a:ln>
        </p:spPr>
      </p:sp>
      <p:sp>
        <p:nvSpPr>
          <p:cNvPr id="89" name="Shape 82"/>
          <p:cNvSpPr/>
          <p:nvPr/>
        </p:nvSpPr>
        <p:spPr>
          <a:xfrm>
            <a:off x="7885786" y="4434840"/>
            <a:ext cx="283464" cy="274320"/>
          </a:xfrm>
          <a:prstGeom prst="rightArrow">
            <a:avLst/>
          </a:prstGeom>
          <a:solidFill>
            <a:srgbClr val="22D3EE">
              <a:alpha val="70000"/>
            </a:srgbClr>
          </a:solidFill>
          <a:ln w="12700">
            <a:solidFill>
              <a:srgbClr val="22D3EE"/>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DATENQUALITÄT</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Datenqualität: dokumentieren statt blind löschen</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5 / 19</a:t>
            </a:r>
            <a:endParaRPr lang="de-DE" sz="900" dirty="0"/>
          </a:p>
        </p:txBody>
      </p:sp>
      <p:sp>
        <p:nvSpPr>
          <p:cNvPr id="6" name="Text 4"/>
          <p:cNvSpPr txBox="1"/>
          <p:nvPr/>
        </p:nvSpPr>
        <p:spPr>
          <a:xfrm>
            <a:off x="548640" y="1536192"/>
            <a:ext cx="3108960" cy="256032"/>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9 AUTOMATISIERTE PRÜFUNGEN</a:t>
            </a:r>
            <a:endParaRPr lang="de-DE" sz="1000" dirty="0"/>
          </a:p>
        </p:txBody>
      </p:sp>
      <p:sp>
        <p:nvSpPr>
          <p:cNvPr id="7" name="Shape 5"/>
          <p:cNvSpPr/>
          <p:nvPr/>
        </p:nvSpPr>
        <p:spPr>
          <a:xfrm>
            <a:off x="548640" y="1874520"/>
            <a:ext cx="3108960" cy="658368"/>
          </a:xfrm>
          <a:prstGeom prst="roundRect">
            <a:avLst>
              <a:gd name="adj" fmla="val 16667"/>
            </a:avLst>
          </a:prstGeom>
          <a:solidFill>
            <a:srgbClr val="10213F">
              <a:alpha val="92000"/>
            </a:srgbClr>
          </a:solidFill>
          <a:ln w="12700">
            <a:solidFill>
              <a:srgbClr val="1E3A5F"/>
            </a:solidFill>
            <a:prstDash val="solid"/>
          </a:ln>
        </p:spPr>
      </p:sp>
      <p:sp>
        <p:nvSpPr>
          <p:cNvPr id="8" name="Text 6"/>
          <p:cNvSpPr txBox="1"/>
          <p:nvPr/>
        </p:nvSpPr>
        <p:spPr>
          <a:xfrm>
            <a:off x="731520" y="1929384"/>
            <a:ext cx="502920" cy="548640"/>
          </a:xfrm>
          <a:prstGeom prst="rect">
            <a:avLst/>
          </a:prstGeom>
          <a:noFill/>
          <a:ln/>
        </p:spPr>
        <p:txBody>
          <a:bodyPr wrap="square" lIns="0" tIns="0" rIns="0" bIns="0" rtlCol="0" anchor="ctr"/>
          <a:lstStyle/>
          <a:p>
            <a:pPr indent="0" marL="0">
              <a:buNone/>
            </a:pPr>
            <a:r>
              <a:rPr lang="de-DE" altLang="en-US" sz="3000" dirty="0">
                <a:solidFill>
                  <a:srgbClr val="34D399"/>
                </a:solidFill>
                <a:latin typeface="Segoe UI Semibold" pitchFamily="34" charset="0"/>
                <a:ea typeface="Segoe UI Semibold" pitchFamily="34" charset="-122"/>
                <a:cs typeface="Segoe UI Semibold" pitchFamily="34" charset="-120"/>
              </a:rPr>
              <a:t>4</a:t>
            </a:r>
            <a:endParaRPr lang="de-DE" sz="3000" dirty="0"/>
          </a:p>
        </p:txBody>
      </p:sp>
      <p:sp>
        <p:nvSpPr>
          <p:cNvPr id="9" name="Text 7"/>
          <p:cNvSpPr txBox="1"/>
          <p:nvPr/>
        </p:nvSpPr>
        <p:spPr>
          <a:xfrm>
            <a:off x="1298448" y="1947672"/>
            <a:ext cx="2194560" cy="237744"/>
          </a:xfrm>
          <a:prstGeom prst="rect">
            <a:avLst/>
          </a:prstGeom>
          <a:noFill/>
          <a:ln/>
        </p:spPr>
        <p:txBody>
          <a:bodyPr wrap="square" lIns="0" tIns="0" rIns="0" bIns="0" rtlCol="0" anchor="t"/>
          <a:lstStyle/>
          <a:p>
            <a:pPr indent="0" marL="0">
              <a:buNone/>
            </a:pPr>
            <a:r>
              <a:rPr lang="de-DE" altLang="en-US" sz="1250" dirty="0">
                <a:solidFill>
                  <a:srgbClr val="34D399"/>
                </a:solidFill>
                <a:latin typeface="Segoe UI Semibold" pitchFamily="34" charset="0"/>
                <a:ea typeface="Segoe UI Semibold" pitchFamily="34" charset="-122"/>
                <a:cs typeface="Segoe UI Semibold" pitchFamily="34" charset="-120"/>
              </a:rPr>
              <a:t>PASS</a:t>
            </a:r>
            <a:endParaRPr lang="de-DE" sz="1250" dirty="0"/>
          </a:p>
        </p:txBody>
      </p:sp>
      <p:sp>
        <p:nvSpPr>
          <p:cNvPr id="10" name="Text 8"/>
          <p:cNvSpPr txBox="1"/>
          <p:nvPr/>
        </p:nvSpPr>
        <p:spPr>
          <a:xfrm>
            <a:off x="1298448" y="2176272"/>
            <a:ext cx="2286000" cy="329184"/>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z. B. keine fehlenden Werte, alle Schadenbeträge &gt; 0</a:t>
            </a:r>
            <a:endParaRPr lang="de-DE" sz="950" dirty="0"/>
          </a:p>
        </p:txBody>
      </p:sp>
      <p:sp>
        <p:nvSpPr>
          <p:cNvPr id="11" name="Shape 9"/>
          <p:cNvSpPr/>
          <p:nvPr/>
        </p:nvSpPr>
        <p:spPr>
          <a:xfrm>
            <a:off x="548640" y="2642616"/>
            <a:ext cx="3108960" cy="658368"/>
          </a:xfrm>
          <a:prstGeom prst="roundRect">
            <a:avLst>
              <a:gd name="adj" fmla="val 16667"/>
            </a:avLst>
          </a:prstGeom>
          <a:solidFill>
            <a:srgbClr val="10213F">
              <a:alpha val="92000"/>
            </a:srgbClr>
          </a:solidFill>
          <a:ln w="12700">
            <a:solidFill>
              <a:srgbClr val="1E3A5F"/>
            </a:solidFill>
            <a:prstDash val="solid"/>
          </a:ln>
        </p:spPr>
      </p:sp>
      <p:sp>
        <p:nvSpPr>
          <p:cNvPr id="12" name="Text 10"/>
          <p:cNvSpPr txBox="1"/>
          <p:nvPr/>
        </p:nvSpPr>
        <p:spPr>
          <a:xfrm>
            <a:off x="731520" y="2697480"/>
            <a:ext cx="502920" cy="548640"/>
          </a:xfrm>
          <a:prstGeom prst="rect">
            <a:avLst/>
          </a:prstGeom>
          <a:noFill/>
          <a:ln/>
        </p:spPr>
        <p:txBody>
          <a:bodyPr wrap="square" lIns="0" tIns="0" rIns="0" bIns="0" rtlCol="0" anchor="ctr"/>
          <a:lstStyle/>
          <a:p>
            <a:pPr indent="0" marL="0">
              <a:buNone/>
            </a:pPr>
            <a:r>
              <a:rPr lang="de-DE" altLang="en-US" sz="3000" dirty="0">
                <a:solidFill>
                  <a:srgbClr val="FBBF24"/>
                </a:solidFill>
                <a:latin typeface="Segoe UI Semibold" pitchFamily="34" charset="0"/>
                <a:ea typeface="Segoe UI Semibold" pitchFamily="34" charset="-122"/>
                <a:cs typeface="Segoe UI Semibold" pitchFamily="34" charset="-120"/>
              </a:rPr>
              <a:t>2</a:t>
            </a:r>
            <a:endParaRPr lang="de-DE" sz="3000" dirty="0"/>
          </a:p>
        </p:txBody>
      </p:sp>
      <p:sp>
        <p:nvSpPr>
          <p:cNvPr id="13" name="Text 11"/>
          <p:cNvSpPr txBox="1"/>
          <p:nvPr/>
        </p:nvSpPr>
        <p:spPr>
          <a:xfrm>
            <a:off x="1298448" y="2715768"/>
            <a:ext cx="2194560" cy="237744"/>
          </a:xfrm>
          <a:prstGeom prst="rect">
            <a:avLst/>
          </a:prstGeom>
          <a:noFill/>
          <a:ln/>
        </p:spPr>
        <p:txBody>
          <a:bodyPr wrap="square" lIns="0" tIns="0" rIns="0" bIns="0" rtlCol="0" anchor="t"/>
          <a:lstStyle/>
          <a:p>
            <a:pPr indent="0" marL="0">
              <a:buNone/>
            </a:pPr>
            <a:r>
              <a:rPr lang="de-DE" altLang="en-US" sz="1250" dirty="0">
                <a:solidFill>
                  <a:srgbClr val="FBBF24"/>
                </a:solidFill>
                <a:latin typeface="Segoe UI Semibold" pitchFamily="34" charset="0"/>
                <a:ea typeface="Segoe UI Semibold" pitchFamily="34" charset="-122"/>
                <a:cs typeface="Segoe UI Semibold" pitchFamily="34" charset="-120"/>
              </a:rPr>
              <a:t>WARN</a:t>
            </a:r>
            <a:endParaRPr lang="de-DE" sz="1250" dirty="0"/>
          </a:p>
        </p:txBody>
      </p:sp>
      <p:sp>
        <p:nvSpPr>
          <p:cNvPr id="14" name="Text 12"/>
          <p:cNvSpPr txBox="1"/>
          <p:nvPr/>
        </p:nvSpPr>
        <p:spPr>
          <a:xfrm>
            <a:off x="1298448" y="2944368"/>
            <a:ext cx="2286000" cy="329184"/>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auffällig, aber nicht nachweislich falsch</a:t>
            </a:r>
            <a:endParaRPr lang="de-DE" sz="950" dirty="0"/>
          </a:p>
        </p:txBody>
      </p:sp>
      <p:sp>
        <p:nvSpPr>
          <p:cNvPr id="15" name="Shape 13"/>
          <p:cNvSpPr/>
          <p:nvPr/>
        </p:nvSpPr>
        <p:spPr>
          <a:xfrm>
            <a:off x="548640" y="3410712"/>
            <a:ext cx="3108960" cy="658368"/>
          </a:xfrm>
          <a:prstGeom prst="roundRect">
            <a:avLst>
              <a:gd name="adj" fmla="val 16667"/>
            </a:avLst>
          </a:prstGeom>
          <a:solidFill>
            <a:srgbClr val="10213F">
              <a:alpha val="92000"/>
            </a:srgbClr>
          </a:solidFill>
          <a:ln w="12700">
            <a:solidFill>
              <a:srgbClr val="1E3A5F"/>
            </a:solidFill>
            <a:prstDash val="solid"/>
          </a:ln>
        </p:spPr>
      </p:sp>
      <p:sp>
        <p:nvSpPr>
          <p:cNvPr id="16" name="Text 14"/>
          <p:cNvSpPr txBox="1"/>
          <p:nvPr/>
        </p:nvSpPr>
        <p:spPr>
          <a:xfrm>
            <a:off x="731520" y="3465576"/>
            <a:ext cx="502920" cy="548640"/>
          </a:xfrm>
          <a:prstGeom prst="rect">
            <a:avLst/>
          </a:prstGeom>
          <a:noFill/>
          <a:ln/>
        </p:spPr>
        <p:txBody>
          <a:bodyPr wrap="square" lIns="0" tIns="0" rIns="0" bIns="0" rtlCol="0" anchor="ctr"/>
          <a:lstStyle/>
          <a:p>
            <a:pPr indent="0" marL="0">
              <a:buNone/>
            </a:pPr>
            <a:r>
              <a:rPr lang="de-DE" altLang="en-US" sz="3000" dirty="0">
                <a:solidFill>
                  <a:srgbClr val="F87171"/>
                </a:solidFill>
                <a:latin typeface="Segoe UI Semibold" pitchFamily="34" charset="0"/>
                <a:ea typeface="Segoe UI Semibold" pitchFamily="34" charset="-122"/>
                <a:cs typeface="Segoe UI Semibold" pitchFamily="34" charset="-120"/>
              </a:rPr>
              <a:t>3</a:t>
            </a:r>
            <a:endParaRPr lang="de-DE" sz="3000" dirty="0"/>
          </a:p>
        </p:txBody>
      </p:sp>
      <p:sp>
        <p:nvSpPr>
          <p:cNvPr id="17" name="Text 15"/>
          <p:cNvSpPr txBox="1"/>
          <p:nvPr/>
        </p:nvSpPr>
        <p:spPr>
          <a:xfrm>
            <a:off x="1298448" y="3483864"/>
            <a:ext cx="2194560" cy="237744"/>
          </a:xfrm>
          <a:prstGeom prst="rect">
            <a:avLst/>
          </a:prstGeom>
          <a:noFill/>
          <a:ln/>
        </p:spPr>
        <p:txBody>
          <a:bodyPr wrap="square" lIns="0" tIns="0" rIns="0" bIns="0" rtlCol="0" anchor="t"/>
          <a:lstStyle/>
          <a:p>
            <a:pPr indent="0" marL="0">
              <a:buNone/>
            </a:pPr>
            <a:r>
              <a:rPr lang="de-DE" altLang="en-US" sz="1250" dirty="0">
                <a:solidFill>
                  <a:srgbClr val="F87171"/>
                </a:solidFill>
                <a:latin typeface="Segoe UI Semibold" pitchFamily="34" charset="0"/>
                <a:ea typeface="Segoe UI Semibold" pitchFamily="34" charset="-122"/>
                <a:cs typeface="Segoe UI Semibold" pitchFamily="34" charset="-120"/>
              </a:rPr>
              <a:t>FAIL</a:t>
            </a:r>
            <a:endParaRPr lang="de-DE" sz="1250" dirty="0"/>
          </a:p>
        </p:txBody>
      </p:sp>
      <p:sp>
        <p:nvSpPr>
          <p:cNvPr id="18" name="Text 16"/>
          <p:cNvSpPr txBox="1"/>
          <p:nvPr/>
        </p:nvSpPr>
        <p:spPr>
          <a:xfrm>
            <a:off x="1298448" y="3712464"/>
            <a:ext cx="2286000" cy="329184"/>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fachliche oder referenzielle Regel verletzt</a:t>
            </a:r>
            <a:endParaRPr lang="de-DE" sz="950" dirty="0"/>
          </a:p>
        </p:txBody>
      </p:sp>
      <p:sp>
        <p:nvSpPr>
          <p:cNvPr id="19" name="Shape 17"/>
          <p:cNvSpPr/>
          <p:nvPr/>
        </p:nvSpPr>
        <p:spPr>
          <a:xfrm>
            <a:off x="548640" y="4251960"/>
            <a:ext cx="3108960" cy="2011680"/>
          </a:xfrm>
          <a:prstGeom prst="roundRect">
            <a:avLst>
              <a:gd name="adj" fmla="val 5455"/>
            </a:avLst>
          </a:prstGeom>
          <a:solidFill>
            <a:srgbClr val="10213F">
              <a:alpha val="92000"/>
            </a:srgbClr>
          </a:solidFill>
          <a:ln w="12700">
            <a:solidFill>
              <a:srgbClr val="1E3A5F"/>
            </a:solidFill>
            <a:prstDash val="solid"/>
          </a:ln>
          <a:effectLst>
            <a:outerShdw sx="100000" sy="100000" kx="0" ky="0" algn="bl" rotWithShape="0" blurRad="228600" dist="50800" dir="5400000">
              <a:srgbClr val="22D3EE">
                <a:alpha val="32000"/>
              </a:srgbClr>
            </a:outerShdw>
          </a:effectLst>
        </p:spPr>
      </p:sp>
      <p:pic>
        <p:nvPicPr>
          <p:cNvPr id="20" name="Image 0" descr="preencoded.png">    </p:cNvPr>
          <p:cNvPicPr>
            <a:picLocks noChangeAspect="1"/>
          </p:cNvPicPr>
          <p:nvPr/>
        </p:nvPicPr>
        <p:blipFill>
          <a:blip r:embed="rId2"/>
          <a:stretch>
            <a:fillRect/>
          </a:stretch>
        </p:blipFill>
        <p:spPr>
          <a:xfrm>
            <a:off x="777240" y="4434840"/>
            <a:ext cx="310896" cy="310896"/>
          </a:xfrm>
          <a:prstGeom prst="rect">
            <a:avLst/>
          </a:prstGeom>
        </p:spPr>
      </p:pic>
      <p:sp>
        <p:nvSpPr>
          <p:cNvPr id="21" name="Text 18"/>
          <p:cNvSpPr txBox="1"/>
          <p:nvPr/>
        </p:nvSpPr>
        <p:spPr>
          <a:xfrm>
            <a:off x="1188720" y="4453128"/>
            <a:ext cx="2194560" cy="274320"/>
          </a:xfrm>
          <a:prstGeom prst="rect">
            <a:avLst/>
          </a:prstGeom>
          <a:noFill/>
          <a:ln/>
        </p:spPr>
        <p:txBody>
          <a:bodyPr wrap="square" lIns="0" tIns="0" rIns="0" bIns="0" rtlCol="0" anchor="ctr"/>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WICHTIG</a:t>
            </a:r>
            <a:endParaRPr lang="de-DE" sz="1000" dirty="0"/>
          </a:p>
        </p:txBody>
      </p:sp>
      <p:sp>
        <p:nvSpPr>
          <p:cNvPr id="22" name="Text 19"/>
          <p:cNvSpPr txBox="1"/>
          <p:nvPr/>
        </p:nvSpPr>
        <p:spPr>
          <a:xfrm>
            <a:off x="777240" y="4846320"/>
            <a:ext cx="2697480" cy="822960"/>
          </a:xfrm>
          <a:prstGeom prst="rect">
            <a:avLst/>
          </a:prstGeom>
          <a:noFill/>
          <a:ln/>
        </p:spPr>
        <p:txBody>
          <a:bodyPr wrap="square" lIns="0" tIns="0" rIns="0" bIns="0" rtlCol="0" anchor="t"/>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FAIL beschreibt einen Befund in den Rohdaten – nicht einen unbrauchbaren Curated-Datensatz.</a:t>
            </a:r>
            <a:endParaRPr lang="de-DE" sz="1250" dirty="0"/>
          </a:p>
        </p:txBody>
      </p:sp>
      <p:sp>
        <p:nvSpPr>
          <p:cNvPr id="23" name="Text 20"/>
          <p:cNvSpPr txBox="1"/>
          <p:nvPr/>
        </p:nvSpPr>
        <p:spPr>
          <a:xfrm>
            <a:off x="777240" y="5669280"/>
            <a:ext cx="2697480" cy="502920"/>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Jeder Befund wurde bewusst im Curated- oder Modeling-Layer behandelt.</a:t>
            </a:r>
            <a:endParaRPr lang="de-DE" sz="1050" dirty="0"/>
          </a:p>
        </p:txBody>
      </p:sp>
      <p:sp>
        <p:nvSpPr>
          <p:cNvPr id="24" name="Text 21"/>
          <p:cNvSpPr txBox="1"/>
          <p:nvPr/>
        </p:nvSpPr>
        <p:spPr>
          <a:xfrm>
            <a:off x="4069080" y="1536192"/>
            <a:ext cx="3200400" cy="256032"/>
          </a:xfrm>
          <a:prstGeom prst="rect">
            <a:avLst/>
          </a:prstGeom>
          <a:noFill/>
          <a:ln/>
        </p:spPr>
        <p:txBody>
          <a:bodyPr wrap="square" lIns="0" tIns="0" rIns="0" bIns="0" rtlCol="0" anchor="t"/>
          <a:lstStyle/>
          <a:p>
            <a:pPr indent="0" marL="0">
              <a:buNone/>
            </a:pPr>
            <a:r>
              <a:rPr lang="de-DE" altLang="en-US" sz="950" b="1" spc="150" kern="0" dirty="0">
                <a:solidFill>
                  <a:srgbClr val="7389A6"/>
                </a:solidFill>
                <a:latin typeface="Segoe UI" pitchFamily="34" charset="0"/>
                <a:ea typeface="Segoe UI" pitchFamily="34" charset="-122"/>
                <a:cs typeface="Segoe UI" pitchFamily="34" charset="-120"/>
              </a:rPr>
              <a:t>BEFUND &amp; UMFANG</a:t>
            </a:r>
            <a:endParaRPr lang="de-DE" sz="950" dirty="0"/>
          </a:p>
        </p:txBody>
      </p:sp>
      <p:sp>
        <p:nvSpPr>
          <p:cNvPr id="25" name="Text 22"/>
          <p:cNvSpPr txBox="1"/>
          <p:nvPr/>
        </p:nvSpPr>
        <p:spPr>
          <a:xfrm>
            <a:off x="7772400" y="1536192"/>
            <a:ext cx="777240" cy="256032"/>
          </a:xfrm>
          <a:prstGeom prst="rect">
            <a:avLst/>
          </a:prstGeom>
          <a:noFill/>
          <a:ln/>
        </p:spPr>
        <p:txBody>
          <a:bodyPr wrap="square" lIns="0" tIns="0" rIns="0" bIns="0" rtlCol="0" anchor="t"/>
          <a:lstStyle/>
          <a:p>
            <a:pPr algn="ctr" indent="0" marL="0">
              <a:buNone/>
            </a:pPr>
            <a:r>
              <a:rPr lang="de-DE" altLang="en-US" sz="950" b="1" spc="150" kern="0" dirty="0">
                <a:solidFill>
                  <a:srgbClr val="7389A6"/>
                </a:solidFill>
                <a:latin typeface="Segoe UI" pitchFamily="34" charset="0"/>
                <a:ea typeface="Segoe UI" pitchFamily="34" charset="-122"/>
                <a:cs typeface="Segoe UI" pitchFamily="34" charset="-120"/>
              </a:rPr>
              <a:t>STATUS</a:t>
            </a:r>
            <a:endParaRPr lang="de-DE" sz="950" dirty="0"/>
          </a:p>
        </p:txBody>
      </p:sp>
      <p:sp>
        <p:nvSpPr>
          <p:cNvPr id="26" name="Text 23"/>
          <p:cNvSpPr txBox="1"/>
          <p:nvPr/>
        </p:nvSpPr>
        <p:spPr>
          <a:xfrm>
            <a:off x="8732520" y="1536192"/>
            <a:ext cx="2743200" cy="256032"/>
          </a:xfrm>
          <a:prstGeom prst="rect">
            <a:avLst/>
          </a:prstGeom>
          <a:noFill/>
          <a:ln/>
        </p:spPr>
        <p:txBody>
          <a:bodyPr wrap="square" lIns="0" tIns="0" rIns="0" bIns="0" rtlCol="0" anchor="t"/>
          <a:lstStyle/>
          <a:p>
            <a:pPr indent="0" marL="0">
              <a:buNone/>
            </a:pPr>
            <a:r>
              <a:rPr lang="de-DE" altLang="en-US" sz="950" b="1" spc="150" kern="0" dirty="0">
                <a:solidFill>
                  <a:srgbClr val="7389A6"/>
                </a:solidFill>
                <a:latin typeface="Segoe UI" pitchFamily="34" charset="0"/>
                <a:ea typeface="Segoe UI" pitchFamily="34" charset="-122"/>
                <a:cs typeface="Segoe UI" pitchFamily="34" charset="-120"/>
              </a:rPr>
              <a:t>BEHANDLUNG</a:t>
            </a:r>
            <a:endParaRPr lang="de-DE" sz="950" dirty="0"/>
          </a:p>
        </p:txBody>
      </p:sp>
      <p:sp>
        <p:nvSpPr>
          <p:cNvPr id="27" name="Shape 24"/>
          <p:cNvSpPr/>
          <p:nvPr/>
        </p:nvSpPr>
        <p:spPr>
          <a:xfrm>
            <a:off x="3886200" y="1847088"/>
            <a:ext cx="7754112" cy="786384"/>
          </a:xfrm>
          <a:prstGeom prst="roundRect">
            <a:avLst>
              <a:gd name="adj" fmla="val 13953"/>
            </a:avLst>
          </a:prstGeom>
          <a:solidFill>
            <a:srgbClr val="10213F">
              <a:alpha val="92000"/>
            </a:srgbClr>
          </a:solidFill>
          <a:ln w="12700">
            <a:solidFill>
              <a:srgbClr val="1E3A5F"/>
            </a:solidFill>
            <a:prstDash val="solid"/>
          </a:ln>
        </p:spPr>
      </p:sp>
      <p:sp>
        <p:nvSpPr>
          <p:cNvPr id="28" name="Text 25"/>
          <p:cNvSpPr txBox="1"/>
          <p:nvPr/>
        </p:nvSpPr>
        <p:spPr>
          <a:xfrm>
            <a:off x="4069080" y="1938528"/>
            <a:ext cx="3611880" cy="274320"/>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Exposure &gt; 1 Jahr</a:t>
            </a:r>
            <a:endParaRPr lang="de-DE" sz="1250" dirty="0"/>
          </a:p>
        </p:txBody>
      </p:sp>
      <p:sp>
        <p:nvSpPr>
          <p:cNvPr id="29" name="Text 26"/>
          <p:cNvSpPr txBox="1"/>
          <p:nvPr/>
        </p:nvSpPr>
        <p:spPr>
          <a:xfrm>
            <a:off x="4069080" y="2231136"/>
            <a:ext cx="3611880" cy="365760"/>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1.224 Policen</a:t>
            </a:r>
            <a:endParaRPr lang="de-DE" sz="1050" dirty="0"/>
          </a:p>
        </p:txBody>
      </p:sp>
      <p:sp>
        <p:nvSpPr>
          <p:cNvPr id="30" name="Shape 27"/>
          <p:cNvSpPr/>
          <p:nvPr/>
        </p:nvSpPr>
        <p:spPr>
          <a:xfrm>
            <a:off x="7772400" y="2103120"/>
            <a:ext cx="777240" cy="274320"/>
          </a:xfrm>
          <a:prstGeom prst="roundRect">
            <a:avLst>
              <a:gd name="adj" fmla="val 50000"/>
            </a:avLst>
          </a:prstGeom>
          <a:solidFill>
            <a:srgbClr val="F87171">
              <a:alpha val="18000"/>
            </a:srgbClr>
          </a:solidFill>
          <a:ln w="12700">
            <a:solidFill>
              <a:srgbClr val="F87171"/>
            </a:solidFill>
            <a:prstDash val="solid"/>
          </a:ln>
        </p:spPr>
      </p:sp>
      <p:sp>
        <p:nvSpPr>
          <p:cNvPr id="31" name="Text 28"/>
          <p:cNvSpPr txBox="1"/>
          <p:nvPr/>
        </p:nvSpPr>
        <p:spPr>
          <a:xfrm>
            <a:off x="7772400" y="2103120"/>
            <a:ext cx="777240" cy="274320"/>
          </a:xfrm>
          <a:prstGeom prst="rect">
            <a:avLst/>
          </a:prstGeom>
          <a:noFill/>
          <a:ln/>
        </p:spPr>
        <p:txBody>
          <a:bodyPr wrap="square" lIns="0" tIns="0" rIns="0" bIns="0" rtlCol="0" anchor="ctr"/>
          <a:lstStyle/>
          <a:p>
            <a:pPr algn="ctr" indent="0" marL="0">
              <a:buNone/>
            </a:pPr>
            <a:r>
              <a:rPr lang="de-DE" altLang="en-US" sz="1000" dirty="0">
                <a:solidFill>
                  <a:srgbClr val="F87171"/>
                </a:solidFill>
                <a:latin typeface="Segoe UI Semibold" pitchFamily="34" charset="0"/>
                <a:ea typeface="Segoe UI Semibold" pitchFamily="34" charset="-122"/>
                <a:cs typeface="Segoe UI Semibold" pitchFamily="34" charset="-120"/>
              </a:rPr>
              <a:t>FAIL</a:t>
            </a:r>
            <a:endParaRPr lang="de-DE" sz="1000" dirty="0"/>
          </a:p>
        </p:txBody>
      </p:sp>
      <p:sp>
        <p:nvSpPr>
          <p:cNvPr id="32" name="Text 29"/>
          <p:cNvSpPr txBox="1"/>
          <p:nvPr/>
        </p:nvSpPr>
        <p:spPr>
          <a:xfrm>
            <a:off x="8732520" y="1938528"/>
            <a:ext cx="2743200" cy="603504"/>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pitchFamily="34" charset="0"/>
                <a:ea typeface="Segoe UI" pitchFamily="34" charset="-122"/>
                <a:cs typeface="Segoe UI" pitchFamily="34" charset="-120"/>
              </a:rPr>
              <a:t>Auf 1,0 begrenzt und per Flag markiert</a:t>
            </a:r>
            <a:endParaRPr lang="de-DE" sz="1150" dirty="0"/>
          </a:p>
        </p:txBody>
      </p:sp>
      <p:sp>
        <p:nvSpPr>
          <p:cNvPr id="33" name="Shape 30"/>
          <p:cNvSpPr/>
          <p:nvPr/>
        </p:nvSpPr>
        <p:spPr>
          <a:xfrm>
            <a:off x="3886200" y="2738628"/>
            <a:ext cx="7754112" cy="786384"/>
          </a:xfrm>
          <a:prstGeom prst="roundRect">
            <a:avLst>
              <a:gd name="adj" fmla="val 13953"/>
            </a:avLst>
          </a:prstGeom>
          <a:solidFill>
            <a:srgbClr val="10213F">
              <a:alpha val="92000"/>
            </a:srgbClr>
          </a:solidFill>
          <a:ln w="15875">
            <a:solidFill>
              <a:srgbClr val="22D3EE"/>
            </a:solidFill>
            <a:prstDash val="solid"/>
          </a:ln>
          <a:effectLst>
            <a:outerShdw sx="100000" sy="100000" kx="0" ky="0" algn="bl" rotWithShape="0" blurRad="228600" dist="50800" dir="5400000">
              <a:srgbClr val="22D3EE">
                <a:alpha val="32000"/>
              </a:srgbClr>
            </a:outerShdw>
          </a:effectLst>
        </p:spPr>
      </p:sp>
      <p:sp>
        <p:nvSpPr>
          <p:cNvPr id="34" name="Text 31"/>
          <p:cNvSpPr txBox="1"/>
          <p:nvPr/>
        </p:nvSpPr>
        <p:spPr>
          <a:xfrm>
            <a:off x="4069080" y="2830068"/>
            <a:ext cx="3611880" cy="274320"/>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Schaden gemeldet, aber keine Schadenhöhe</a:t>
            </a:r>
            <a:endParaRPr lang="de-DE" sz="1250" dirty="0"/>
          </a:p>
        </p:txBody>
      </p:sp>
      <p:sp>
        <p:nvSpPr>
          <p:cNvPr id="35" name="Text 32"/>
          <p:cNvSpPr txBox="1"/>
          <p:nvPr/>
        </p:nvSpPr>
        <p:spPr>
          <a:xfrm>
            <a:off x="4069080" y="3122676"/>
            <a:ext cx="3611880" cy="365760"/>
          </a:xfrm>
          <a:prstGeom prst="rect">
            <a:avLst/>
          </a:prstGeom>
          <a:noFill/>
          <a:ln/>
        </p:spPr>
        <p:txBody>
          <a:bodyPr wrap="square" lIns="0" tIns="0" rIns="0" bIns="0" rtlCol="0" anchor="t"/>
          <a:lstStyle/>
          <a:p>
            <a:pPr indent="0" marL="0">
              <a:buNone/>
            </a:pPr>
            <a:r>
              <a:rPr lang="de-DE" altLang="en-US" sz="1050" dirty="0">
                <a:solidFill>
                  <a:srgbClr val="22D3EE"/>
                </a:solidFill>
                <a:latin typeface="Segoe UI" pitchFamily="34" charset="0"/>
                <a:ea typeface="Segoe UI" pitchFamily="34" charset="-122"/>
                <a:cs typeface="Segoe UI" pitchFamily="34" charset="-120"/>
              </a:rPr>
              <a:t>9.116 Policen · 26,8 % aller Schadenpolicen</a:t>
            </a:r>
            <a:endParaRPr lang="de-DE" sz="1050" dirty="0"/>
          </a:p>
        </p:txBody>
      </p:sp>
      <p:sp>
        <p:nvSpPr>
          <p:cNvPr id="36" name="Shape 33"/>
          <p:cNvSpPr/>
          <p:nvPr/>
        </p:nvSpPr>
        <p:spPr>
          <a:xfrm>
            <a:off x="7772400" y="2994660"/>
            <a:ext cx="777240" cy="274320"/>
          </a:xfrm>
          <a:prstGeom prst="roundRect">
            <a:avLst>
              <a:gd name="adj" fmla="val 50000"/>
            </a:avLst>
          </a:prstGeom>
          <a:solidFill>
            <a:srgbClr val="F87171">
              <a:alpha val="18000"/>
            </a:srgbClr>
          </a:solidFill>
          <a:ln w="12700">
            <a:solidFill>
              <a:srgbClr val="F87171"/>
            </a:solidFill>
            <a:prstDash val="solid"/>
          </a:ln>
        </p:spPr>
      </p:sp>
      <p:sp>
        <p:nvSpPr>
          <p:cNvPr id="37" name="Text 34"/>
          <p:cNvSpPr txBox="1"/>
          <p:nvPr/>
        </p:nvSpPr>
        <p:spPr>
          <a:xfrm>
            <a:off x="7772400" y="2994660"/>
            <a:ext cx="777240" cy="274320"/>
          </a:xfrm>
          <a:prstGeom prst="rect">
            <a:avLst/>
          </a:prstGeom>
          <a:noFill/>
          <a:ln/>
        </p:spPr>
        <p:txBody>
          <a:bodyPr wrap="square" lIns="0" tIns="0" rIns="0" bIns="0" rtlCol="0" anchor="ctr"/>
          <a:lstStyle/>
          <a:p>
            <a:pPr algn="ctr" indent="0" marL="0">
              <a:buNone/>
            </a:pPr>
            <a:r>
              <a:rPr lang="de-DE" altLang="en-US" sz="1000" dirty="0">
                <a:solidFill>
                  <a:srgbClr val="F87171"/>
                </a:solidFill>
                <a:latin typeface="Segoe UI Semibold" pitchFamily="34" charset="0"/>
                <a:ea typeface="Segoe UI Semibold" pitchFamily="34" charset="-122"/>
                <a:cs typeface="Segoe UI Semibold" pitchFamily="34" charset="-120"/>
              </a:rPr>
              <a:t>FAIL</a:t>
            </a:r>
            <a:endParaRPr lang="de-DE" sz="1000" dirty="0"/>
          </a:p>
        </p:txBody>
      </p:sp>
      <p:sp>
        <p:nvSpPr>
          <p:cNvPr id="38" name="Text 35"/>
          <p:cNvSpPr txBox="1"/>
          <p:nvPr/>
        </p:nvSpPr>
        <p:spPr>
          <a:xfrm>
            <a:off x="8732520" y="2830068"/>
            <a:ext cx="2743200" cy="603504"/>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pitchFamily="34" charset="0"/>
                <a:ea typeface="Segoe UI" pitchFamily="34" charset="-122"/>
                <a:cs typeface="Segoe UI" pitchFamily="34" charset="-120"/>
              </a:rPr>
              <a:t>Markiert – bewusst nicht mit 0 € aufgefüllt</a:t>
            </a:r>
            <a:endParaRPr lang="de-DE" sz="1150" dirty="0"/>
          </a:p>
        </p:txBody>
      </p:sp>
      <p:sp>
        <p:nvSpPr>
          <p:cNvPr id="39" name="Shape 36"/>
          <p:cNvSpPr/>
          <p:nvPr/>
        </p:nvSpPr>
        <p:spPr>
          <a:xfrm>
            <a:off x="3886200" y="3630168"/>
            <a:ext cx="7754112" cy="786384"/>
          </a:xfrm>
          <a:prstGeom prst="roundRect">
            <a:avLst>
              <a:gd name="adj" fmla="val 13953"/>
            </a:avLst>
          </a:prstGeom>
          <a:solidFill>
            <a:srgbClr val="10213F">
              <a:alpha val="92000"/>
            </a:srgbClr>
          </a:solidFill>
          <a:ln w="12700">
            <a:solidFill>
              <a:srgbClr val="1E3A5F"/>
            </a:solidFill>
            <a:prstDash val="solid"/>
          </a:ln>
        </p:spPr>
      </p:sp>
      <p:sp>
        <p:nvSpPr>
          <p:cNvPr id="40" name="Text 37"/>
          <p:cNvSpPr txBox="1"/>
          <p:nvPr/>
        </p:nvSpPr>
        <p:spPr>
          <a:xfrm>
            <a:off x="4069080" y="3721608"/>
            <a:ext cx="3611880" cy="274320"/>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Verwaiste Schadenrecords</a:t>
            </a:r>
            <a:endParaRPr lang="de-DE" sz="1250" dirty="0"/>
          </a:p>
        </p:txBody>
      </p:sp>
      <p:sp>
        <p:nvSpPr>
          <p:cNvPr id="41" name="Text 38"/>
          <p:cNvSpPr txBox="1"/>
          <p:nvPr/>
        </p:nvSpPr>
        <p:spPr>
          <a:xfrm>
            <a:off x="4069080" y="4014216"/>
            <a:ext cx="3611880" cy="365760"/>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195 Zeilen aus 6 Policen ohne Policeneintrag</a:t>
            </a:r>
            <a:endParaRPr lang="de-DE" sz="1050" dirty="0"/>
          </a:p>
        </p:txBody>
      </p:sp>
      <p:sp>
        <p:nvSpPr>
          <p:cNvPr id="42" name="Shape 39"/>
          <p:cNvSpPr/>
          <p:nvPr/>
        </p:nvSpPr>
        <p:spPr>
          <a:xfrm>
            <a:off x="7772400" y="3886200"/>
            <a:ext cx="777240" cy="274320"/>
          </a:xfrm>
          <a:prstGeom prst="roundRect">
            <a:avLst>
              <a:gd name="adj" fmla="val 50000"/>
            </a:avLst>
          </a:prstGeom>
          <a:solidFill>
            <a:srgbClr val="F87171">
              <a:alpha val="18000"/>
            </a:srgbClr>
          </a:solidFill>
          <a:ln w="12700">
            <a:solidFill>
              <a:srgbClr val="F87171"/>
            </a:solidFill>
            <a:prstDash val="solid"/>
          </a:ln>
        </p:spPr>
      </p:sp>
      <p:sp>
        <p:nvSpPr>
          <p:cNvPr id="43" name="Text 40"/>
          <p:cNvSpPr txBox="1"/>
          <p:nvPr/>
        </p:nvSpPr>
        <p:spPr>
          <a:xfrm>
            <a:off x="7772400" y="3886200"/>
            <a:ext cx="777240" cy="274320"/>
          </a:xfrm>
          <a:prstGeom prst="rect">
            <a:avLst/>
          </a:prstGeom>
          <a:noFill/>
          <a:ln/>
        </p:spPr>
        <p:txBody>
          <a:bodyPr wrap="square" lIns="0" tIns="0" rIns="0" bIns="0" rtlCol="0" anchor="ctr"/>
          <a:lstStyle/>
          <a:p>
            <a:pPr algn="ctr" indent="0" marL="0">
              <a:buNone/>
            </a:pPr>
            <a:r>
              <a:rPr lang="de-DE" altLang="en-US" sz="1000" dirty="0">
                <a:solidFill>
                  <a:srgbClr val="F87171"/>
                </a:solidFill>
                <a:latin typeface="Segoe UI Semibold" pitchFamily="34" charset="0"/>
                <a:ea typeface="Segoe UI Semibold" pitchFamily="34" charset="-122"/>
                <a:cs typeface="Segoe UI Semibold" pitchFamily="34" charset="-120"/>
              </a:rPr>
              <a:t>FAIL</a:t>
            </a:r>
            <a:endParaRPr lang="de-DE" sz="1000" dirty="0"/>
          </a:p>
        </p:txBody>
      </p:sp>
      <p:sp>
        <p:nvSpPr>
          <p:cNvPr id="44" name="Text 41"/>
          <p:cNvSpPr txBox="1"/>
          <p:nvPr/>
        </p:nvSpPr>
        <p:spPr>
          <a:xfrm>
            <a:off x="8732520" y="3721608"/>
            <a:ext cx="2743200" cy="603504"/>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pitchFamily="34" charset="0"/>
                <a:ea typeface="Segoe UI" pitchFamily="34" charset="-122"/>
                <a:cs typeface="Segoe UI" pitchFamily="34" charset="-120"/>
              </a:rPr>
              <a:t>Aus dem Curated Layer ausgeschlossen – Rohdaten bleiben erhalten</a:t>
            </a:r>
            <a:endParaRPr lang="de-DE" sz="1150" dirty="0"/>
          </a:p>
        </p:txBody>
      </p:sp>
      <p:sp>
        <p:nvSpPr>
          <p:cNvPr id="45" name="Shape 42"/>
          <p:cNvSpPr/>
          <p:nvPr/>
        </p:nvSpPr>
        <p:spPr>
          <a:xfrm>
            <a:off x="3886200" y="4521708"/>
            <a:ext cx="7754112" cy="786384"/>
          </a:xfrm>
          <a:prstGeom prst="roundRect">
            <a:avLst>
              <a:gd name="adj" fmla="val 13953"/>
            </a:avLst>
          </a:prstGeom>
          <a:solidFill>
            <a:srgbClr val="10213F">
              <a:alpha val="92000"/>
            </a:srgbClr>
          </a:solidFill>
          <a:ln w="12700">
            <a:solidFill>
              <a:srgbClr val="1E3A5F"/>
            </a:solidFill>
            <a:prstDash val="solid"/>
          </a:ln>
        </p:spPr>
      </p:sp>
      <p:sp>
        <p:nvSpPr>
          <p:cNvPr id="46" name="Text 43"/>
          <p:cNvSpPr txBox="1"/>
          <p:nvPr/>
        </p:nvSpPr>
        <p:spPr>
          <a:xfrm>
            <a:off x="4069080" y="4613148"/>
            <a:ext cx="3611880" cy="274320"/>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Auffällig hohe Schadenanzahl (&gt; 4)</a:t>
            </a:r>
            <a:endParaRPr lang="de-DE" sz="1250" dirty="0"/>
          </a:p>
        </p:txBody>
      </p:sp>
      <p:sp>
        <p:nvSpPr>
          <p:cNvPr id="47" name="Text 44"/>
          <p:cNvSpPr txBox="1"/>
          <p:nvPr/>
        </p:nvSpPr>
        <p:spPr>
          <a:xfrm>
            <a:off x="4069080" y="4905756"/>
            <a:ext cx="3611880" cy="365760"/>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9 Policen, maximal 16 Schäden</a:t>
            </a:r>
            <a:endParaRPr lang="de-DE" sz="1050" dirty="0"/>
          </a:p>
        </p:txBody>
      </p:sp>
      <p:sp>
        <p:nvSpPr>
          <p:cNvPr id="48" name="Shape 45"/>
          <p:cNvSpPr/>
          <p:nvPr/>
        </p:nvSpPr>
        <p:spPr>
          <a:xfrm>
            <a:off x="7772400" y="4777740"/>
            <a:ext cx="777240" cy="274320"/>
          </a:xfrm>
          <a:prstGeom prst="roundRect">
            <a:avLst>
              <a:gd name="adj" fmla="val 50000"/>
            </a:avLst>
          </a:prstGeom>
          <a:solidFill>
            <a:srgbClr val="FBBF24">
              <a:alpha val="18000"/>
            </a:srgbClr>
          </a:solidFill>
          <a:ln w="12700">
            <a:solidFill>
              <a:srgbClr val="FBBF24"/>
            </a:solidFill>
            <a:prstDash val="solid"/>
          </a:ln>
        </p:spPr>
      </p:sp>
      <p:sp>
        <p:nvSpPr>
          <p:cNvPr id="49" name="Text 46"/>
          <p:cNvSpPr txBox="1"/>
          <p:nvPr/>
        </p:nvSpPr>
        <p:spPr>
          <a:xfrm>
            <a:off x="7772400" y="4777740"/>
            <a:ext cx="777240" cy="274320"/>
          </a:xfrm>
          <a:prstGeom prst="rect">
            <a:avLst/>
          </a:prstGeom>
          <a:noFill/>
          <a:ln/>
        </p:spPr>
        <p:txBody>
          <a:bodyPr wrap="square" lIns="0" tIns="0" rIns="0" bIns="0" rtlCol="0" anchor="ctr"/>
          <a:lstStyle/>
          <a:p>
            <a:pPr algn="ctr" indent="0" marL="0">
              <a:buNone/>
            </a:pPr>
            <a:r>
              <a:rPr lang="de-DE" altLang="en-US" sz="1000" dirty="0">
                <a:solidFill>
                  <a:srgbClr val="FBBF24"/>
                </a:solidFill>
                <a:latin typeface="Segoe UI Semibold" pitchFamily="34" charset="0"/>
                <a:ea typeface="Segoe UI Semibold" pitchFamily="34" charset="-122"/>
                <a:cs typeface="Segoe UI Semibold" pitchFamily="34" charset="-120"/>
              </a:rPr>
              <a:t>WARN</a:t>
            </a:r>
            <a:endParaRPr lang="de-DE" sz="1000" dirty="0"/>
          </a:p>
        </p:txBody>
      </p:sp>
      <p:sp>
        <p:nvSpPr>
          <p:cNvPr id="50" name="Text 47"/>
          <p:cNvSpPr txBox="1"/>
          <p:nvPr/>
        </p:nvSpPr>
        <p:spPr>
          <a:xfrm>
            <a:off x="8732520" y="4613148"/>
            <a:ext cx="2743200" cy="603504"/>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pitchFamily="34" charset="0"/>
                <a:ea typeface="Segoe UI" pitchFamily="34" charset="-122"/>
                <a:cs typeface="Segoe UI" pitchFamily="34" charset="-120"/>
              </a:rPr>
              <a:t>Beibehalten und markiert</a:t>
            </a:r>
            <a:endParaRPr lang="de-DE" sz="1150" dirty="0"/>
          </a:p>
        </p:txBody>
      </p:sp>
      <p:sp>
        <p:nvSpPr>
          <p:cNvPr id="51" name="Shape 48"/>
          <p:cNvSpPr/>
          <p:nvPr/>
        </p:nvSpPr>
        <p:spPr>
          <a:xfrm>
            <a:off x="3886200" y="5413248"/>
            <a:ext cx="7754112" cy="786384"/>
          </a:xfrm>
          <a:prstGeom prst="roundRect">
            <a:avLst>
              <a:gd name="adj" fmla="val 13953"/>
            </a:avLst>
          </a:prstGeom>
          <a:solidFill>
            <a:srgbClr val="10213F">
              <a:alpha val="92000"/>
            </a:srgbClr>
          </a:solidFill>
          <a:ln w="12700">
            <a:solidFill>
              <a:srgbClr val="1E3A5F"/>
            </a:solidFill>
            <a:prstDash val="solid"/>
          </a:ln>
        </p:spPr>
      </p:sp>
      <p:sp>
        <p:nvSpPr>
          <p:cNvPr id="52" name="Text 49"/>
          <p:cNvSpPr txBox="1"/>
          <p:nvPr/>
        </p:nvSpPr>
        <p:spPr>
          <a:xfrm>
            <a:off x="4069080" y="5504688"/>
            <a:ext cx="3611880" cy="274320"/>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Potenzielle Duplikate</a:t>
            </a:r>
            <a:endParaRPr lang="de-DE" sz="1250" dirty="0"/>
          </a:p>
        </p:txBody>
      </p:sp>
      <p:sp>
        <p:nvSpPr>
          <p:cNvPr id="53" name="Text 50"/>
          <p:cNvSpPr txBox="1"/>
          <p:nvPr/>
        </p:nvSpPr>
        <p:spPr>
          <a:xfrm>
            <a:off x="4069080" y="5797296"/>
            <a:ext cx="3611880" cy="365760"/>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255 Zeilen mit gleicher Police und gleichem Betrag</a:t>
            </a:r>
            <a:endParaRPr lang="de-DE" sz="1050" dirty="0"/>
          </a:p>
        </p:txBody>
      </p:sp>
      <p:sp>
        <p:nvSpPr>
          <p:cNvPr id="54" name="Shape 51"/>
          <p:cNvSpPr/>
          <p:nvPr/>
        </p:nvSpPr>
        <p:spPr>
          <a:xfrm>
            <a:off x="7772400" y="5669280"/>
            <a:ext cx="777240" cy="274320"/>
          </a:xfrm>
          <a:prstGeom prst="roundRect">
            <a:avLst>
              <a:gd name="adj" fmla="val 50000"/>
            </a:avLst>
          </a:prstGeom>
          <a:solidFill>
            <a:srgbClr val="FBBF24">
              <a:alpha val="18000"/>
            </a:srgbClr>
          </a:solidFill>
          <a:ln w="12700">
            <a:solidFill>
              <a:srgbClr val="FBBF24"/>
            </a:solidFill>
            <a:prstDash val="solid"/>
          </a:ln>
        </p:spPr>
      </p:sp>
      <p:sp>
        <p:nvSpPr>
          <p:cNvPr id="55" name="Text 52"/>
          <p:cNvSpPr txBox="1"/>
          <p:nvPr/>
        </p:nvSpPr>
        <p:spPr>
          <a:xfrm>
            <a:off x="7772400" y="5669280"/>
            <a:ext cx="777240" cy="274320"/>
          </a:xfrm>
          <a:prstGeom prst="rect">
            <a:avLst/>
          </a:prstGeom>
          <a:noFill/>
          <a:ln/>
        </p:spPr>
        <p:txBody>
          <a:bodyPr wrap="square" lIns="0" tIns="0" rIns="0" bIns="0" rtlCol="0" anchor="ctr"/>
          <a:lstStyle/>
          <a:p>
            <a:pPr algn="ctr" indent="0" marL="0">
              <a:buNone/>
            </a:pPr>
            <a:r>
              <a:rPr lang="de-DE" altLang="en-US" sz="1000" dirty="0">
                <a:solidFill>
                  <a:srgbClr val="FBBF24"/>
                </a:solidFill>
                <a:latin typeface="Segoe UI Semibold" pitchFamily="34" charset="0"/>
                <a:ea typeface="Segoe UI Semibold" pitchFamily="34" charset="-122"/>
                <a:cs typeface="Segoe UI Semibold" pitchFamily="34" charset="-120"/>
              </a:rPr>
              <a:t>WARN</a:t>
            </a:r>
            <a:endParaRPr lang="de-DE" sz="1000" dirty="0"/>
          </a:p>
        </p:txBody>
      </p:sp>
      <p:sp>
        <p:nvSpPr>
          <p:cNvPr id="56" name="Text 53"/>
          <p:cNvSpPr txBox="1"/>
          <p:nvPr/>
        </p:nvSpPr>
        <p:spPr>
          <a:xfrm>
            <a:off x="8732520" y="5504688"/>
            <a:ext cx="2743200" cy="603504"/>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pitchFamily="34" charset="0"/>
                <a:ea typeface="Segoe UI" pitchFamily="34" charset="-122"/>
                <a:cs typeface="Segoe UI" pitchFamily="34" charset="-120"/>
              </a:rPr>
              <a:t>Beibehalten – ohne Schaden-ID nicht nachweisbar</a:t>
            </a:r>
            <a:endParaRPr lang="de-DE"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POWER BI · DASHBOARD-SEITE 1 VON 4</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Bestandsüberblick</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6 / 19</a:t>
            </a:r>
            <a:endParaRPr lang="de-DE" sz="900" dirty="0"/>
          </a:p>
        </p:txBody>
      </p:sp>
      <p:sp>
        <p:nvSpPr>
          <p:cNvPr id="6" name="Shape 4"/>
          <p:cNvSpPr/>
          <p:nvPr/>
        </p:nvSpPr>
        <p:spPr>
          <a:xfrm>
            <a:off x="548640" y="1417320"/>
            <a:ext cx="8595360" cy="4837176"/>
          </a:xfrm>
          <a:prstGeom prst="roundRect">
            <a:avLst>
              <a:gd name="adj" fmla="val 1890"/>
            </a:avLst>
          </a:prstGeom>
          <a:solidFill>
            <a:srgbClr val="0B1A31"/>
          </a:solidFill>
          <a:ln w="19050">
            <a:solidFill>
              <a:srgbClr val="22D3EE">
                <a:alpha val="75000"/>
              </a:srgbClr>
            </a:solidFill>
            <a:prstDash val="dash"/>
          </a:ln>
          <a:effectLst>
            <a:outerShdw sx="100000" sy="100000" kx="0" ky="0" algn="bl" rotWithShape="0" blurRad="279400" dist="50800" dir="5400000">
              <a:srgbClr val="22D3EE">
                <a:alpha val="22000"/>
              </a:srgbClr>
            </a:outerShdw>
          </a:effectLst>
        </p:spPr>
      </p:sp>
      <p:sp>
        <p:nvSpPr>
          <p:cNvPr id="7" name="Shape 5"/>
          <p:cNvSpPr/>
          <p:nvPr/>
        </p:nvSpPr>
        <p:spPr>
          <a:xfrm>
            <a:off x="4434840" y="2784348"/>
            <a:ext cx="822960" cy="822960"/>
          </a:xfrm>
          <a:prstGeom prst="ellipse">
            <a:avLst/>
          </a:prstGeom>
          <a:solidFill>
            <a:srgbClr val="0E2A47"/>
          </a:solidFill>
          <a:ln w="12700">
            <a:solidFill>
              <a:srgbClr val="22D3EE">
                <a:alpha val="55000"/>
              </a:srgbClr>
            </a:solidFill>
            <a:prstDash val="solid"/>
          </a:ln>
        </p:spPr>
      </p:sp>
      <p:pic>
        <p:nvPicPr>
          <p:cNvPr id="8" name="Image 0" descr="preencoded.png">    </p:cNvPr>
          <p:cNvPicPr>
            <a:picLocks noChangeAspect="1"/>
          </p:cNvPicPr>
          <p:nvPr/>
        </p:nvPicPr>
        <p:blipFill>
          <a:blip r:embed="rId2"/>
          <a:stretch>
            <a:fillRect/>
          </a:stretch>
        </p:blipFill>
        <p:spPr>
          <a:xfrm>
            <a:off x="4640580" y="2990088"/>
            <a:ext cx="411480" cy="411480"/>
          </a:xfrm>
          <a:prstGeom prst="rect">
            <a:avLst/>
          </a:prstGeom>
        </p:spPr>
      </p:pic>
      <p:sp>
        <p:nvSpPr>
          <p:cNvPr id="9" name="Text 6"/>
          <p:cNvSpPr txBox="1"/>
          <p:nvPr/>
        </p:nvSpPr>
        <p:spPr>
          <a:xfrm>
            <a:off x="548640" y="3790188"/>
            <a:ext cx="8595360" cy="457200"/>
          </a:xfrm>
          <a:prstGeom prst="rect">
            <a:avLst/>
          </a:prstGeom>
          <a:noFill/>
          <a:ln/>
        </p:spPr>
        <p:txBody>
          <a:bodyPr wrap="square" lIns="0" tIns="0" rIns="0" bIns="0" rtlCol="0" anchor="ctr"/>
          <a:lstStyle/>
          <a:p>
            <a:pPr algn="ctr" indent="0" marL="0">
              <a:buNone/>
            </a:pPr>
            <a:r>
              <a:rPr lang="de-DE" altLang="en-US" sz="2200" dirty="0">
                <a:solidFill>
                  <a:srgbClr val="22D3EE"/>
                </a:solidFill>
                <a:latin typeface="Segoe UI Semibold" pitchFamily="34" charset="0"/>
                <a:ea typeface="Segoe UI Semibold" pitchFamily="34" charset="-122"/>
                <a:cs typeface="Segoe UI Semibold" pitchFamily="34" charset="-120"/>
              </a:rPr>
              <a:t>[POWER-BI-SCREENSHOT HIER EINFÜGEN]</a:t>
            </a:r>
            <a:endParaRPr lang="de-DE" sz="2200" dirty="0"/>
          </a:p>
        </p:txBody>
      </p:sp>
      <p:sp>
        <p:nvSpPr>
          <p:cNvPr id="10" name="Text 7"/>
          <p:cNvSpPr txBox="1"/>
          <p:nvPr/>
        </p:nvSpPr>
        <p:spPr>
          <a:xfrm>
            <a:off x="548640" y="4274820"/>
            <a:ext cx="8595360" cy="320040"/>
          </a:xfrm>
          <a:prstGeom prst="rect">
            <a:avLst/>
          </a:prstGeom>
          <a:noFill/>
          <a:ln/>
        </p:spPr>
        <p:txBody>
          <a:bodyPr wrap="square" lIns="0" tIns="0" rIns="0" bIns="0" rtlCol="0" anchor="t"/>
          <a:lstStyle/>
          <a:p>
            <a:pPr algn="ctr" indent="0" marL="0">
              <a:buNone/>
            </a:pPr>
            <a:r>
              <a:rPr lang="de-DE" altLang="en-US" sz="1200" dirty="0">
                <a:solidFill>
                  <a:srgbClr val="A9BBD0"/>
                </a:solidFill>
                <a:latin typeface="Segoe UI" pitchFamily="34" charset="0"/>
                <a:ea typeface="Segoe UI" pitchFamily="34" charset="-122"/>
                <a:cs typeface="Segoe UI" pitchFamily="34" charset="-120"/>
              </a:rPr>
              <a:t>Dashboard-Seite 1: Bestandsüberblick · Screenshot im Format 16:9 auf diese Fläche legen</a:t>
            </a:r>
            <a:endParaRPr lang="de-DE" sz="1200" dirty="0"/>
          </a:p>
        </p:txBody>
      </p:sp>
      <p:sp>
        <p:nvSpPr>
          <p:cNvPr id="11" name="Shape 8"/>
          <p:cNvSpPr/>
          <p:nvPr/>
        </p:nvSpPr>
        <p:spPr>
          <a:xfrm>
            <a:off x="9418320" y="1417320"/>
            <a:ext cx="2221992" cy="1481328"/>
          </a:xfrm>
          <a:prstGeom prst="roundRect">
            <a:avLst>
              <a:gd name="adj" fmla="val 7407"/>
            </a:avLst>
          </a:prstGeom>
          <a:solidFill>
            <a:srgbClr val="10213F">
              <a:alpha val="92000"/>
            </a:srgbClr>
          </a:solidFill>
          <a:ln w="12700">
            <a:solidFill>
              <a:srgbClr val="1E3A5F"/>
            </a:solidFill>
            <a:prstDash val="solid"/>
          </a:ln>
        </p:spPr>
      </p:sp>
      <p:sp>
        <p:nvSpPr>
          <p:cNvPr id="12" name="Text 9"/>
          <p:cNvSpPr txBox="1"/>
          <p:nvPr/>
        </p:nvSpPr>
        <p:spPr>
          <a:xfrm>
            <a:off x="9582912" y="1554480"/>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SCHADENFREI</a:t>
            </a:r>
            <a:endParaRPr lang="de-DE" sz="950" dirty="0"/>
          </a:p>
        </p:txBody>
      </p:sp>
      <p:sp>
        <p:nvSpPr>
          <p:cNvPr id="13" name="Text 10"/>
          <p:cNvSpPr txBox="1"/>
          <p:nvPr/>
        </p:nvSpPr>
        <p:spPr>
          <a:xfrm>
            <a:off x="9582912" y="1801368"/>
            <a:ext cx="1892808" cy="438912"/>
          </a:xfrm>
          <a:prstGeom prst="rect">
            <a:avLst/>
          </a:prstGeom>
          <a:noFill/>
          <a:ln/>
        </p:spPr>
        <p:txBody>
          <a:bodyPr wrap="square" lIns="0" tIns="0" rIns="0" bIns="0" rtlCol="0" anchor="ctr">
            <a:normAutofit/>
          </a:bodyPr>
          <a:lstStyle/>
          <a:p>
            <a:pPr indent="0" marL="0">
              <a:buNone/>
            </a:pPr>
            <a:r>
              <a:rPr lang="de-DE" altLang="en-US" sz="2000" dirty="0">
                <a:solidFill>
                  <a:srgbClr val="EEF4FB"/>
                </a:solidFill>
                <a:latin typeface="Segoe UI Semibold" pitchFamily="34" charset="0"/>
                <a:ea typeface="Segoe UI Semibold" pitchFamily="34" charset="-122"/>
                <a:cs typeface="Segoe UI Semibold" pitchFamily="34" charset="-120"/>
              </a:rPr>
              <a:t>94,98 %</a:t>
            </a:r>
            <a:endParaRPr lang="de-DE" sz="2000" dirty="0"/>
          </a:p>
        </p:txBody>
      </p:sp>
      <p:sp>
        <p:nvSpPr>
          <p:cNvPr id="14" name="Text 11"/>
          <p:cNvSpPr txBox="1"/>
          <p:nvPr/>
        </p:nvSpPr>
        <p:spPr>
          <a:xfrm>
            <a:off x="9582912" y="2313432"/>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der Policen ohne gemeldeten Schaden – starke Null-Struktur</a:t>
            </a:r>
            <a:endParaRPr lang="de-DE" sz="1050" dirty="0"/>
          </a:p>
        </p:txBody>
      </p:sp>
      <p:sp>
        <p:nvSpPr>
          <p:cNvPr id="15" name="Shape 12"/>
          <p:cNvSpPr/>
          <p:nvPr/>
        </p:nvSpPr>
        <p:spPr>
          <a:xfrm>
            <a:off x="9418320" y="3095244"/>
            <a:ext cx="2221992" cy="1481328"/>
          </a:xfrm>
          <a:prstGeom prst="roundRect">
            <a:avLst>
              <a:gd name="adj" fmla="val 7407"/>
            </a:avLst>
          </a:prstGeom>
          <a:solidFill>
            <a:srgbClr val="10213F">
              <a:alpha val="92000"/>
            </a:srgbClr>
          </a:solidFill>
          <a:ln w="12700">
            <a:solidFill>
              <a:srgbClr val="1E3A5F"/>
            </a:solidFill>
            <a:prstDash val="solid"/>
          </a:ln>
        </p:spPr>
      </p:sp>
      <p:sp>
        <p:nvSpPr>
          <p:cNvPr id="16" name="Text 13"/>
          <p:cNvSpPr txBox="1"/>
          <p:nvPr/>
        </p:nvSpPr>
        <p:spPr>
          <a:xfrm>
            <a:off x="9582912" y="3232404"/>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SEVERITY COVERAGE</a:t>
            </a:r>
            <a:endParaRPr lang="de-DE" sz="950" dirty="0"/>
          </a:p>
        </p:txBody>
      </p:sp>
      <p:sp>
        <p:nvSpPr>
          <p:cNvPr id="17" name="Text 14"/>
          <p:cNvSpPr txBox="1"/>
          <p:nvPr/>
        </p:nvSpPr>
        <p:spPr>
          <a:xfrm>
            <a:off x="9582912" y="3479292"/>
            <a:ext cx="1892808" cy="438912"/>
          </a:xfrm>
          <a:prstGeom prst="rect">
            <a:avLst/>
          </a:prstGeom>
          <a:noFill/>
          <a:ln/>
        </p:spPr>
        <p:txBody>
          <a:bodyPr wrap="square" lIns="0" tIns="0" rIns="0" bIns="0" rtlCol="0" anchor="ctr">
            <a:normAutofit/>
          </a:bodyPr>
          <a:lstStyle/>
          <a:p>
            <a:pPr indent="0" marL="0">
              <a:buNone/>
            </a:pPr>
            <a:r>
              <a:rPr lang="de-DE" altLang="en-US" sz="2000" dirty="0">
                <a:solidFill>
                  <a:srgbClr val="FBBF24"/>
                </a:solidFill>
                <a:latin typeface="Segoe UI Semibold" pitchFamily="34" charset="0"/>
                <a:ea typeface="Segoe UI Semibold" pitchFamily="34" charset="-122"/>
                <a:cs typeface="Segoe UI Semibold" pitchFamily="34" charset="-120"/>
              </a:rPr>
              <a:t>ca. 73 %</a:t>
            </a:r>
            <a:endParaRPr lang="de-DE" sz="2000" dirty="0"/>
          </a:p>
        </p:txBody>
      </p:sp>
      <p:sp>
        <p:nvSpPr>
          <p:cNvPr id="18" name="Text 15"/>
          <p:cNvSpPr txBox="1"/>
          <p:nvPr/>
        </p:nvSpPr>
        <p:spPr>
          <a:xfrm>
            <a:off x="9582912" y="3991356"/>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der Schadenpolicen mit beobachtbarer Schadenhöhe</a:t>
            </a:r>
            <a:endParaRPr lang="de-DE" sz="1050" dirty="0"/>
          </a:p>
        </p:txBody>
      </p:sp>
      <p:sp>
        <p:nvSpPr>
          <p:cNvPr id="19" name="Shape 16"/>
          <p:cNvSpPr/>
          <p:nvPr/>
        </p:nvSpPr>
        <p:spPr>
          <a:xfrm>
            <a:off x="9418320" y="4773168"/>
            <a:ext cx="2221992" cy="1481328"/>
          </a:xfrm>
          <a:prstGeom prst="roundRect">
            <a:avLst>
              <a:gd name="adj" fmla="val 7407"/>
            </a:avLst>
          </a:prstGeom>
          <a:solidFill>
            <a:srgbClr val="10213F">
              <a:alpha val="92000"/>
            </a:srgbClr>
          </a:solidFill>
          <a:ln w="12700">
            <a:solidFill>
              <a:srgbClr val="1E3A5F"/>
            </a:solidFill>
            <a:prstDash val="solid"/>
          </a:ln>
        </p:spPr>
      </p:sp>
      <p:sp>
        <p:nvSpPr>
          <p:cNvPr id="20" name="Text 17"/>
          <p:cNvSpPr txBox="1"/>
          <p:nvPr/>
        </p:nvSpPr>
        <p:spPr>
          <a:xfrm>
            <a:off x="9582912" y="4910328"/>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KPI-LOGIK</a:t>
            </a:r>
            <a:endParaRPr lang="de-DE" sz="950" dirty="0"/>
          </a:p>
        </p:txBody>
      </p:sp>
      <p:sp>
        <p:nvSpPr>
          <p:cNvPr id="21" name="Text 18"/>
          <p:cNvSpPr txBox="1"/>
          <p:nvPr/>
        </p:nvSpPr>
        <p:spPr>
          <a:xfrm>
            <a:off x="9582912" y="5157216"/>
            <a:ext cx="1892808" cy="438912"/>
          </a:xfrm>
          <a:prstGeom prst="rect">
            <a:avLst/>
          </a:prstGeom>
          <a:noFill/>
          <a:ln/>
        </p:spPr>
        <p:txBody>
          <a:bodyPr wrap="square" lIns="0" tIns="0" rIns="0" bIns="0" rtlCol="0" anchor="ctr">
            <a:normAutofit/>
          </a:bodyPr>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Exposure-basiert</a:t>
            </a:r>
            <a:endParaRPr lang="de-DE" sz="1700" dirty="0"/>
          </a:p>
        </p:txBody>
      </p:sp>
      <p:sp>
        <p:nvSpPr>
          <p:cNvPr id="22" name="Text 19"/>
          <p:cNvSpPr txBox="1"/>
          <p:nvPr/>
        </p:nvSpPr>
        <p:spPr>
          <a:xfrm>
            <a:off x="9582912" y="5669280"/>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Raten werden über die Exposure gewichtet – nie einfach summiert</a:t>
            </a:r>
            <a:endParaRPr lang="de-DE"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METHODIK</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Zwei Leitplanken für eine faire Bewertung</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7 / 19</a:t>
            </a:r>
            <a:endParaRPr lang="de-DE" sz="900" dirty="0"/>
          </a:p>
        </p:txBody>
      </p:sp>
      <p:sp>
        <p:nvSpPr>
          <p:cNvPr id="6" name="Shape 4"/>
          <p:cNvSpPr/>
          <p:nvPr/>
        </p:nvSpPr>
        <p:spPr>
          <a:xfrm>
            <a:off x="548640" y="1572768"/>
            <a:ext cx="5440680" cy="4325112"/>
          </a:xfrm>
          <a:prstGeom prst="roundRect">
            <a:avLst>
              <a:gd name="adj" fmla="val 2537"/>
            </a:avLst>
          </a:prstGeom>
          <a:solidFill>
            <a:srgbClr val="10213F">
              <a:alpha val="92000"/>
            </a:srgbClr>
          </a:solidFill>
          <a:ln w="12700">
            <a:solidFill>
              <a:srgbClr val="1E3A5F"/>
            </a:solidFill>
            <a:prstDash val="solid"/>
          </a:ln>
        </p:spPr>
      </p:sp>
      <p:sp>
        <p:nvSpPr>
          <p:cNvPr id="7" name="Text 5"/>
          <p:cNvSpPr txBox="1"/>
          <p:nvPr/>
        </p:nvSpPr>
        <p:spPr>
          <a:xfrm>
            <a:off x="822960" y="1755648"/>
            <a:ext cx="27432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LEITPLANKE 1</a:t>
            </a:r>
            <a:endParaRPr lang="de-DE" sz="1000" dirty="0"/>
          </a:p>
        </p:txBody>
      </p:sp>
      <p:sp>
        <p:nvSpPr>
          <p:cNvPr id="8" name="Text 6"/>
          <p:cNvSpPr txBox="1"/>
          <p:nvPr/>
        </p:nvSpPr>
        <p:spPr>
          <a:xfrm>
            <a:off x="822960" y="2011680"/>
            <a:ext cx="4892040" cy="347472"/>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Exposure konsequent berücksichtigen</a:t>
            </a:r>
            <a:endParaRPr lang="de-DE" sz="1700" dirty="0"/>
          </a:p>
        </p:txBody>
      </p:sp>
      <p:sp>
        <p:nvSpPr>
          <p:cNvPr id="9" name="Text 7"/>
          <p:cNvSpPr txBox="1"/>
          <p:nvPr/>
        </p:nvSpPr>
        <p:spPr>
          <a:xfrm>
            <a:off x="822960" y="2560320"/>
            <a:ext cx="914400" cy="274320"/>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Police A</a:t>
            </a:r>
            <a:endParaRPr lang="de-DE" sz="1200" dirty="0"/>
          </a:p>
        </p:txBody>
      </p:sp>
      <p:sp>
        <p:nvSpPr>
          <p:cNvPr id="10" name="Shape 8"/>
          <p:cNvSpPr/>
          <p:nvPr/>
        </p:nvSpPr>
        <p:spPr>
          <a:xfrm>
            <a:off x="1783080" y="2596896"/>
            <a:ext cx="3931920" cy="201168"/>
          </a:xfrm>
          <a:prstGeom prst="roundRect">
            <a:avLst>
              <a:gd name="adj" fmla="val 50000"/>
            </a:avLst>
          </a:prstGeom>
          <a:solidFill>
            <a:srgbClr val="0B2440"/>
          </a:solidFill>
          <a:ln w="9525">
            <a:solidFill>
              <a:srgbClr val="1E3A5F"/>
            </a:solidFill>
            <a:prstDash val="solid"/>
          </a:ln>
        </p:spPr>
      </p:sp>
      <p:sp>
        <p:nvSpPr>
          <p:cNvPr id="11" name="Shape 9"/>
          <p:cNvSpPr/>
          <p:nvPr/>
        </p:nvSpPr>
        <p:spPr>
          <a:xfrm>
            <a:off x="1783080" y="2596896"/>
            <a:ext cx="982980" cy="201168"/>
          </a:xfrm>
          <a:prstGeom prst="roundRect">
            <a:avLst>
              <a:gd name="adj" fmla="val 50000"/>
            </a:avLst>
          </a:prstGeom>
          <a:solidFill>
            <a:srgbClr val="22D3EE"/>
          </a:solidFill>
          <a:ln w="12700">
            <a:solidFill>
              <a:srgbClr val="22D3EE"/>
            </a:solidFill>
            <a:prstDash val="solid"/>
          </a:ln>
        </p:spPr>
      </p:sp>
      <p:sp>
        <p:nvSpPr>
          <p:cNvPr id="12" name="Text 10"/>
          <p:cNvSpPr txBox="1"/>
          <p:nvPr/>
        </p:nvSpPr>
        <p:spPr>
          <a:xfrm>
            <a:off x="1783080" y="2852928"/>
            <a:ext cx="3931920" cy="256032"/>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3 Monate versichert · Exposure 0,25 · 1 Schaden</a:t>
            </a:r>
            <a:endParaRPr lang="de-DE" sz="1050" dirty="0"/>
          </a:p>
        </p:txBody>
      </p:sp>
      <p:sp>
        <p:nvSpPr>
          <p:cNvPr id="13" name="Text 11"/>
          <p:cNvSpPr txBox="1"/>
          <p:nvPr/>
        </p:nvSpPr>
        <p:spPr>
          <a:xfrm>
            <a:off x="822960" y="3273552"/>
            <a:ext cx="914400" cy="274320"/>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Police B</a:t>
            </a:r>
            <a:endParaRPr lang="de-DE" sz="1200" dirty="0"/>
          </a:p>
        </p:txBody>
      </p:sp>
      <p:sp>
        <p:nvSpPr>
          <p:cNvPr id="14" name="Shape 12"/>
          <p:cNvSpPr/>
          <p:nvPr/>
        </p:nvSpPr>
        <p:spPr>
          <a:xfrm>
            <a:off x="1783080" y="3310128"/>
            <a:ext cx="3931920" cy="201168"/>
          </a:xfrm>
          <a:prstGeom prst="roundRect">
            <a:avLst>
              <a:gd name="adj" fmla="val 50000"/>
            </a:avLst>
          </a:prstGeom>
          <a:solidFill>
            <a:srgbClr val="0B2440"/>
          </a:solidFill>
          <a:ln w="9525">
            <a:solidFill>
              <a:srgbClr val="1E3A5F"/>
            </a:solidFill>
            <a:prstDash val="solid"/>
          </a:ln>
        </p:spPr>
      </p:sp>
      <p:sp>
        <p:nvSpPr>
          <p:cNvPr id="15" name="Shape 13"/>
          <p:cNvSpPr/>
          <p:nvPr/>
        </p:nvSpPr>
        <p:spPr>
          <a:xfrm>
            <a:off x="1783080" y="3310128"/>
            <a:ext cx="3931920" cy="201168"/>
          </a:xfrm>
          <a:prstGeom prst="roundRect">
            <a:avLst>
              <a:gd name="adj" fmla="val 50000"/>
            </a:avLst>
          </a:prstGeom>
          <a:solidFill>
            <a:srgbClr val="2DD4BF"/>
          </a:solidFill>
          <a:ln w="12700">
            <a:solidFill>
              <a:srgbClr val="2DD4BF"/>
            </a:solidFill>
            <a:prstDash val="solid"/>
          </a:ln>
        </p:spPr>
      </p:sp>
      <p:sp>
        <p:nvSpPr>
          <p:cNvPr id="16" name="Text 14"/>
          <p:cNvSpPr txBox="1"/>
          <p:nvPr/>
        </p:nvSpPr>
        <p:spPr>
          <a:xfrm>
            <a:off x="1783080" y="3566160"/>
            <a:ext cx="3931920" cy="256032"/>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12 Monate versichert · Exposure 1,0 · 1 Schaden</a:t>
            </a:r>
            <a:endParaRPr lang="de-DE" sz="1050" dirty="0"/>
          </a:p>
        </p:txBody>
      </p:sp>
      <p:sp>
        <p:nvSpPr>
          <p:cNvPr id="17" name="Text 15"/>
          <p:cNvSpPr txBox="1"/>
          <p:nvPr/>
        </p:nvSpPr>
        <p:spPr>
          <a:xfrm>
            <a:off x="822960" y="3968496"/>
            <a:ext cx="4892040" cy="274320"/>
          </a:xfrm>
          <a:prstGeom prst="rect">
            <a:avLst/>
          </a:prstGeom>
          <a:noFill/>
          <a:ln/>
        </p:spPr>
        <p:txBody>
          <a:bodyPr wrap="square" lIns="0" tIns="0" rIns="0" bIns="0" rtlCol="0" anchor="t"/>
          <a:lstStyle/>
          <a:p>
            <a:pPr indent="0" marL="0">
              <a:buNone/>
            </a:pPr>
            <a:r>
              <a:rPr lang="de-DE" altLang="en-US" sz="1200" i="1" dirty="0">
                <a:solidFill>
                  <a:srgbClr val="EEF4FB"/>
                </a:solidFill>
                <a:latin typeface="Segoe UI" pitchFamily="34" charset="0"/>
                <a:ea typeface="Segoe UI" pitchFamily="34" charset="-122"/>
                <a:cs typeface="Segoe UI" pitchFamily="34" charset="-120"/>
              </a:rPr>
              <a:t>Pro Jahr gerechnet ist Police A deutlich riskanter.</a:t>
            </a:r>
            <a:endParaRPr lang="de-DE" sz="1200" dirty="0"/>
          </a:p>
        </p:txBody>
      </p:sp>
      <p:sp>
        <p:nvSpPr>
          <p:cNvPr id="18" name="Shape 16"/>
          <p:cNvSpPr/>
          <p:nvPr/>
        </p:nvSpPr>
        <p:spPr>
          <a:xfrm>
            <a:off x="822960" y="4361688"/>
            <a:ext cx="4892040" cy="420624"/>
          </a:xfrm>
          <a:prstGeom prst="roundRect">
            <a:avLst>
              <a:gd name="adj" fmla="val 17391"/>
            </a:avLst>
          </a:prstGeom>
          <a:solidFill>
            <a:srgbClr val="0B2440"/>
          </a:solidFill>
          <a:ln w="9525">
            <a:solidFill>
              <a:srgbClr val="2F5F8C"/>
            </a:solidFill>
            <a:prstDash val="solid"/>
          </a:ln>
        </p:spPr>
      </p:sp>
      <p:sp>
        <p:nvSpPr>
          <p:cNvPr id="19" name="Text 17"/>
          <p:cNvSpPr txBox="1"/>
          <p:nvPr/>
        </p:nvSpPr>
        <p:spPr>
          <a:xfrm>
            <a:off x="1005840" y="4361688"/>
            <a:ext cx="4526280" cy="420624"/>
          </a:xfrm>
          <a:prstGeom prst="rect">
            <a:avLst/>
          </a:prstGeom>
          <a:noFill/>
          <a:ln/>
        </p:spPr>
        <p:txBody>
          <a:bodyPr wrap="square" lIns="0" tIns="0" rIns="0" bIns="0" rtlCol="0" anchor="ctr"/>
          <a:lstStyle/>
          <a:p>
            <a:pPr indent="0" marL="0">
              <a:buNone/>
            </a:pPr>
            <a:r>
              <a:rPr lang="de-DE" altLang="en-US" sz="1300" dirty="0">
                <a:solidFill>
                  <a:srgbClr val="38BDF8"/>
                </a:solidFill>
                <a:latin typeface="Segoe UI Semibold" pitchFamily="34" charset="0"/>
                <a:ea typeface="Segoe UI Semibold" pitchFamily="34" charset="-122"/>
                <a:cs typeface="Segoe UI Semibold" pitchFamily="34" charset="-120"/>
              </a:rPr>
              <a:t>Erwartete Schäden</a:t>
            </a:r>
            <a:pPr indent="0" marL="0">
              <a:buNone/>
            </a:pPr>
            <a:r>
              <a:rPr lang="de-DE" altLang="en-US" sz="1300" dirty="0">
                <a:solidFill>
                  <a:srgbClr val="EEF4FB"/>
                </a:solidFill>
                <a:latin typeface="Segoe UI Semibold" pitchFamily="34" charset="0"/>
                <a:ea typeface="Segoe UI Semibold" pitchFamily="34" charset="-122"/>
                <a:cs typeface="Segoe UI Semibold" pitchFamily="34" charset="-120"/>
              </a:rPr>
              <a:t>  =  Frequenz × Exposure</a:t>
            </a:r>
            <a:endParaRPr lang="de-DE" sz="1300" dirty="0"/>
          </a:p>
        </p:txBody>
      </p:sp>
      <p:sp>
        <p:nvSpPr>
          <p:cNvPr id="20" name="Shape 18"/>
          <p:cNvSpPr/>
          <p:nvPr/>
        </p:nvSpPr>
        <p:spPr>
          <a:xfrm>
            <a:off x="822960" y="4892040"/>
            <a:ext cx="4892040" cy="420624"/>
          </a:xfrm>
          <a:prstGeom prst="roundRect">
            <a:avLst>
              <a:gd name="adj" fmla="val 17391"/>
            </a:avLst>
          </a:prstGeom>
          <a:solidFill>
            <a:srgbClr val="0B2440"/>
          </a:solidFill>
          <a:ln w="9525">
            <a:solidFill>
              <a:srgbClr val="2F5F8C"/>
            </a:solidFill>
            <a:prstDash val="solid"/>
          </a:ln>
        </p:spPr>
      </p:sp>
      <p:sp>
        <p:nvSpPr>
          <p:cNvPr id="21" name="Text 19"/>
          <p:cNvSpPr txBox="1"/>
          <p:nvPr/>
        </p:nvSpPr>
        <p:spPr>
          <a:xfrm>
            <a:off x="1005840" y="4892040"/>
            <a:ext cx="4526280" cy="420624"/>
          </a:xfrm>
          <a:prstGeom prst="rect">
            <a:avLst/>
          </a:prstGeom>
          <a:noFill/>
          <a:ln/>
        </p:spPr>
        <p:txBody>
          <a:bodyPr wrap="square" lIns="0" tIns="0" rIns="0" bIns="0" rtlCol="0" anchor="ctr"/>
          <a:lstStyle/>
          <a:p>
            <a:pPr indent="0" marL="0">
              <a:buNone/>
            </a:pPr>
            <a:r>
              <a:rPr lang="de-DE" altLang="en-US" sz="1300" dirty="0">
                <a:solidFill>
                  <a:srgbClr val="2DD4BF"/>
                </a:solidFill>
                <a:latin typeface="Segoe UI Semibold" pitchFamily="34" charset="0"/>
                <a:ea typeface="Segoe UI Semibold" pitchFamily="34" charset="-122"/>
                <a:cs typeface="Segoe UI Semibold" pitchFamily="34" charset="-120"/>
              </a:rPr>
              <a:t>Erwarteter Schaden</a:t>
            </a:r>
            <a:pPr indent="0" marL="0">
              <a:buNone/>
            </a:pPr>
            <a:r>
              <a:rPr lang="de-DE" altLang="en-US" sz="1300" dirty="0">
                <a:solidFill>
                  <a:srgbClr val="EEF4FB"/>
                </a:solidFill>
                <a:latin typeface="Segoe UI Semibold" pitchFamily="34" charset="0"/>
                <a:ea typeface="Segoe UI Semibold" pitchFamily="34" charset="-122"/>
                <a:cs typeface="Segoe UI Semibold" pitchFamily="34" charset="-120"/>
              </a:rPr>
              <a:t>  =  Schadenbedarf × Exposure</a:t>
            </a:r>
            <a:endParaRPr lang="de-DE" sz="1300" dirty="0"/>
          </a:p>
        </p:txBody>
      </p:sp>
      <p:pic>
        <p:nvPicPr>
          <p:cNvPr id="22" name="Image 0" descr="preencoded.png">    </p:cNvPr>
          <p:cNvPicPr>
            <a:picLocks noChangeAspect="1"/>
          </p:cNvPicPr>
          <p:nvPr/>
        </p:nvPicPr>
        <p:blipFill>
          <a:blip r:embed="rId2"/>
          <a:stretch>
            <a:fillRect/>
          </a:stretch>
        </p:blipFill>
        <p:spPr>
          <a:xfrm>
            <a:off x="822960" y="5477256"/>
            <a:ext cx="256032" cy="256032"/>
          </a:xfrm>
          <a:prstGeom prst="rect">
            <a:avLst/>
          </a:prstGeom>
        </p:spPr>
      </p:pic>
      <p:sp>
        <p:nvSpPr>
          <p:cNvPr id="23" name="Text 20"/>
          <p:cNvSpPr txBox="1"/>
          <p:nvPr/>
        </p:nvSpPr>
        <p:spPr>
          <a:xfrm>
            <a:off x="1188720" y="5413248"/>
            <a:ext cx="4526280" cy="402336"/>
          </a:xfrm>
          <a:prstGeom prst="rect">
            <a:avLst/>
          </a:prstGeom>
          <a:noFill/>
          <a:ln/>
        </p:spPr>
        <p:txBody>
          <a:bodyPr wrap="square" lIns="0" tIns="0" rIns="0" bIns="0" rtlCol="0" anchor="ctr"/>
          <a:lstStyle/>
          <a:p>
            <a:pPr indent="0" marL="0">
              <a:buNone/>
            </a:pPr>
            <a:r>
              <a:rPr lang="de-DE" altLang="en-US" sz="1050" dirty="0">
                <a:solidFill>
                  <a:srgbClr val="A9BBD0"/>
                </a:solidFill>
                <a:latin typeface="Segoe UI" pitchFamily="34" charset="0"/>
                <a:ea typeface="Segoe UI" pitchFamily="34" charset="-122"/>
                <a:cs typeface="Segoe UI" pitchFamily="34" charset="-120"/>
              </a:rPr>
              <a:t>Annualisierte Raten werden nie einfach summiert – weder im Modell noch in SQL oder DAX.</a:t>
            </a:r>
            <a:endParaRPr lang="de-DE" sz="1050" dirty="0"/>
          </a:p>
        </p:txBody>
      </p:sp>
      <p:sp>
        <p:nvSpPr>
          <p:cNvPr id="24" name="Shape 21"/>
          <p:cNvSpPr/>
          <p:nvPr/>
        </p:nvSpPr>
        <p:spPr>
          <a:xfrm>
            <a:off x="6199632" y="1572768"/>
            <a:ext cx="5440680" cy="4325112"/>
          </a:xfrm>
          <a:prstGeom prst="roundRect">
            <a:avLst>
              <a:gd name="adj" fmla="val 2537"/>
            </a:avLst>
          </a:prstGeom>
          <a:solidFill>
            <a:srgbClr val="10213F">
              <a:alpha val="92000"/>
            </a:srgbClr>
          </a:solidFill>
          <a:ln w="12700">
            <a:solidFill>
              <a:srgbClr val="1E3A5F"/>
            </a:solidFill>
            <a:prstDash val="solid"/>
          </a:ln>
        </p:spPr>
      </p:sp>
      <p:sp>
        <p:nvSpPr>
          <p:cNvPr id="25" name="Text 22"/>
          <p:cNvSpPr txBox="1"/>
          <p:nvPr/>
        </p:nvSpPr>
        <p:spPr>
          <a:xfrm>
            <a:off x="6473952" y="1755648"/>
            <a:ext cx="27432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LEITPLANKE 2</a:t>
            </a:r>
            <a:endParaRPr lang="de-DE" sz="1000" dirty="0"/>
          </a:p>
        </p:txBody>
      </p:sp>
      <p:sp>
        <p:nvSpPr>
          <p:cNvPr id="26" name="Text 23"/>
          <p:cNvSpPr txBox="1"/>
          <p:nvPr/>
        </p:nvSpPr>
        <p:spPr>
          <a:xfrm>
            <a:off x="6473952" y="2011680"/>
            <a:ext cx="4892040" cy="347472"/>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Fehlende Schadenhöhe ≠ 0 €</a:t>
            </a:r>
            <a:endParaRPr lang="de-DE" sz="1700" dirty="0"/>
          </a:p>
        </p:txBody>
      </p:sp>
      <p:sp>
        <p:nvSpPr>
          <p:cNvPr id="27" name="Text 24"/>
          <p:cNvSpPr txBox="1"/>
          <p:nvPr/>
        </p:nvSpPr>
        <p:spPr>
          <a:xfrm>
            <a:off x="6473952" y="2377440"/>
            <a:ext cx="4892040" cy="256032"/>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Drei Bewertungspopulationen im Holdout (135.603 Policen)</a:t>
            </a:r>
            <a:endParaRPr lang="de-DE" sz="1100" dirty="0"/>
          </a:p>
        </p:txBody>
      </p:sp>
      <p:sp>
        <p:nvSpPr>
          <p:cNvPr id="28" name="Text 25"/>
          <p:cNvSpPr txBox="1"/>
          <p:nvPr/>
        </p:nvSpPr>
        <p:spPr>
          <a:xfrm>
            <a:off x="6473952" y="2779776"/>
            <a:ext cx="2926080" cy="256032"/>
          </a:xfrm>
          <a:prstGeom prst="rect">
            <a:avLst/>
          </a:prstGeom>
          <a:noFill/>
          <a:ln/>
        </p:spPr>
        <p:txBody>
          <a:bodyPr wrap="square" lIns="0" tIns="0" rIns="0" bIns="0" rtlCol="0" anchor="ctr"/>
          <a:lstStyle/>
          <a:p>
            <a:pPr indent="0" marL="0">
              <a:buNone/>
            </a:pPr>
            <a:r>
              <a:rPr lang="de-DE" altLang="en-US" sz="1250" dirty="0">
                <a:solidFill>
                  <a:srgbClr val="38BDF8"/>
                </a:solidFill>
                <a:latin typeface="Segoe UI Semibold" pitchFamily="34" charset="0"/>
                <a:ea typeface="Segoe UI Semibold" pitchFamily="34" charset="-122"/>
                <a:cs typeface="Segoe UI Semibold" pitchFamily="34" charset="-120"/>
              </a:rPr>
              <a:t>Frequency</a:t>
            </a:r>
            <a:endParaRPr lang="de-DE" sz="1250" dirty="0"/>
          </a:p>
        </p:txBody>
      </p:sp>
      <p:sp>
        <p:nvSpPr>
          <p:cNvPr id="29" name="Text 26"/>
          <p:cNvSpPr txBox="1"/>
          <p:nvPr/>
        </p:nvSpPr>
        <p:spPr>
          <a:xfrm>
            <a:off x="9217152" y="2779776"/>
            <a:ext cx="2148840" cy="256032"/>
          </a:xfrm>
          <a:prstGeom prst="rect">
            <a:avLst/>
          </a:prstGeom>
          <a:noFill/>
          <a:ln/>
        </p:spPr>
        <p:txBody>
          <a:bodyPr wrap="square" lIns="0" tIns="0" rIns="0" bIns="0" rtlCol="0" anchor="ctr"/>
          <a:lstStyle/>
          <a:p>
            <a:pPr algn="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135.603 Policen</a:t>
            </a:r>
            <a:endParaRPr lang="de-DE" sz="1250" dirty="0"/>
          </a:p>
        </p:txBody>
      </p:sp>
      <p:sp>
        <p:nvSpPr>
          <p:cNvPr id="30" name="Shape 27"/>
          <p:cNvSpPr/>
          <p:nvPr/>
        </p:nvSpPr>
        <p:spPr>
          <a:xfrm>
            <a:off x="6473952" y="3081528"/>
            <a:ext cx="4892040" cy="182880"/>
          </a:xfrm>
          <a:prstGeom prst="roundRect">
            <a:avLst>
              <a:gd name="adj" fmla="val 50000"/>
            </a:avLst>
          </a:prstGeom>
          <a:solidFill>
            <a:srgbClr val="0B2440"/>
          </a:solidFill>
          <a:ln w="9525">
            <a:solidFill>
              <a:srgbClr val="1E3A5F"/>
            </a:solidFill>
            <a:prstDash val="solid"/>
          </a:ln>
        </p:spPr>
      </p:sp>
      <p:sp>
        <p:nvSpPr>
          <p:cNvPr id="31" name="Shape 28"/>
          <p:cNvSpPr/>
          <p:nvPr/>
        </p:nvSpPr>
        <p:spPr>
          <a:xfrm>
            <a:off x="6473952" y="3081528"/>
            <a:ext cx="4892040" cy="182880"/>
          </a:xfrm>
          <a:prstGeom prst="roundRect">
            <a:avLst>
              <a:gd name="adj" fmla="val 50000"/>
            </a:avLst>
          </a:prstGeom>
          <a:solidFill>
            <a:srgbClr val="38BDF8"/>
          </a:solidFill>
          <a:ln w="12700">
            <a:solidFill>
              <a:srgbClr val="38BDF8"/>
            </a:solidFill>
            <a:prstDash val="solid"/>
          </a:ln>
        </p:spPr>
      </p:sp>
      <p:sp>
        <p:nvSpPr>
          <p:cNvPr id="32" name="Text 29"/>
          <p:cNvSpPr txBox="1"/>
          <p:nvPr/>
        </p:nvSpPr>
        <p:spPr>
          <a:xfrm>
            <a:off x="6473952" y="3300984"/>
            <a:ext cx="4892040" cy="237744"/>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alle Holdout-Policen – Schadenanzahl ist immer bekannt</a:t>
            </a:r>
            <a:endParaRPr lang="de-DE" sz="1000" dirty="0"/>
          </a:p>
        </p:txBody>
      </p:sp>
      <p:sp>
        <p:nvSpPr>
          <p:cNvPr id="33" name="Text 30"/>
          <p:cNvSpPr txBox="1"/>
          <p:nvPr/>
        </p:nvSpPr>
        <p:spPr>
          <a:xfrm>
            <a:off x="6473952" y="3630168"/>
            <a:ext cx="2926080" cy="256032"/>
          </a:xfrm>
          <a:prstGeom prst="rect">
            <a:avLst/>
          </a:prstGeom>
          <a:noFill/>
          <a:ln/>
        </p:spPr>
        <p:txBody>
          <a:bodyPr wrap="square" lIns="0" tIns="0" rIns="0" bIns="0" rtlCol="0" anchor="ctr"/>
          <a:lstStyle/>
          <a:p>
            <a:pPr indent="0" marL="0">
              <a:buNone/>
            </a:pPr>
            <a:r>
              <a:rPr lang="de-DE" altLang="en-US" sz="1250" dirty="0">
                <a:solidFill>
                  <a:srgbClr val="2DD4BF"/>
                </a:solidFill>
                <a:latin typeface="Segoe UI Semibold" pitchFamily="34" charset="0"/>
                <a:ea typeface="Segoe UI Semibold" pitchFamily="34" charset="-122"/>
                <a:cs typeface="Segoe UI Semibold" pitchFamily="34" charset="-120"/>
              </a:rPr>
              <a:t>Tweedie / Schadenaufwand</a:t>
            </a:r>
            <a:endParaRPr lang="de-DE" sz="1250" dirty="0"/>
          </a:p>
        </p:txBody>
      </p:sp>
      <p:sp>
        <p:nvSpPr>
          <p:cNvPr id="34" name="Text 31"/>
          <p:cNvSpPr txBox="1"/>
          <p:nvPr/>
        </p:nvSpPr>
        <p:spPr>
          <a:xfrm>
            <a:off x="9217152" y="3630168"/>
            <a:ext cx="2148840" cy="256032"/>
          </a:xfrm>
          <a:prstGeom prst="rect">
            <a:avLst/>
          </a:prstGeom>
          <a:noFill/>
          <a:ln/>
        </p:spPr>
        <p:txBody>
          <a:bodyPr wrap="square" lIns="0" tIns="0" rIns="0" bIns="0" rtlCol="0" anchor="ctr"/>
          <a:lstStyle/>
          <a:p>
            <a:pPr algn="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133.790 Policen</a:t>
            </a:r>
            <a:endParaRPr lang="de-DE" sz="1250" dirty="0"/>
          </a:p>
        </p:txBody>
      </p:sp>
      <p:sp>
        <p:nvSpPr>
          <p:cNvPr id="35" name="Shape 32"/>
          <p:cNvSpPr/>
          <p:nvPr/>
        </p:nvSpPr>
        <p:spPr>
          <a:xfrm>
            <a:off x="6473952" y="3931920"/>
            <a:ext cx="4892040" cy="182880"/>
          </a:xfrm>
          <a:prstGeom prst="roundRect">
            <a:avLst>
              <a:gd name="adj" fmla="val 50000"/>
            </a:avLst>
          </a:prstGeom>
          <a:solidFill>
            <a:srgbClr val="0B2440"/>
          </a:solidFill>
          <a:ln w="9525">
            <a:solidFill>
              <a:srgbClr val="1E3A5F"/>
            </a:solidFill>
            <a:prstDash val="solid"/>
          </a:ln>
        </p:spPr>
      </p:sp>
      <p:sp>
        <p:nvSpPr>
          <p:cNvPr id="36" name="Shape 33"/>
          <p:cNvSpPr/>
          <p:nvPr/>
        </p:nvSpPr>
        <p:spPr>
          <a:xfrm>
            <a:off x="6473952" y="3931920"/>
            <a:ext cx="4826634" cy="182880"/>
          </a:xfrm>
          <a:prstGeom prst="roundRect">
            <a:avLst>
              <a:gd name="adj" fmla="val 50000"/>
            </a:avLst>
          </a:prstGeom>
          <a:solidFill>
            <a:srgbClr val="2DD4BF"/>
          </a:solidFill>
          <a:ln w="12700">
            <a:solidFill>
              <a:srgbClr val="2DD4BF"/>
            </a:solidFill>
            <a:prstDash val="solid"/>
          </a:ln>
        </p:spPr>
      </p:sp>
      <p:sp>
        <p:nvSpPr>
          <p:cNvPr id="37" name="Text 34"/>
          <p:cNvSpPr txBox="1"/>
          <p:nvPr/>
        </p:nvSpPr>
        <p:spPr>
          <a:xfrm>
            <a:off x="6473952" y="4151376"/>
            <a:ext cx="4892040" cy="237744"/>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128.791 schadenfrei + 4.999 mit bekannter Schadenhöhe</a:t>
            </a:r>
            <a:endParaRPr lang="de-DE" sz="1000" dirty="0"/>
          </a:p>
        </p:txBody>
      </p:sp>
      <p:sp>
        <p:nvSpPr>
          <p:cNvPr id="38" name="Text 35"/>
          <p:cNvSpPr txBox="1"/>
          <p:nvPr/>
        </p:nvSpPr>
        <p:spPr>
          <a:xfrm>
            <a:off x="6473952" y="4480560"/>
            <a:ext cx="2926080" cy="256032"/>
          </a:xfrm>
          <a:prstGeom prst="rect">
            <a:avLst/>
          </a:prstGeom>
          <a:noFill/>
          <a:ln/>
        </p:spPr>
        <p:txBody>
          <a:bodyPr wrap="square" lIns="0" tIns="0" rIns="0" bIns="0" rtlCol="0" anchor="ctr"/>
          <a:lstStyle/>
          <a:p>
            <a:pPr indent="0" marL="0">
              <a:buNone/>
            </a:pPr>
            <a:r>
              <a:rPr lang="de-DE" altLang="en-US" sz="1250" dirty="0">
                <a:solidFill>
                  <a:srgbClr val="A78BFA"/>
                </a:solidFill>
                <a:latin typeface="Segoe UI Semibold" pitchFamily="34" charset="0"/>
                <a:ea typeface="Segoe UI Semibold" pitchFamily="34" charset="-122"/>
                <a:cs typeface="Segoe UI Semibold" pitchFamily="34" charset="-120"/>
              </a:rPr>
              <a:t>Severity</a:t>
            </a:r>
            <a:endParaRPr lang="de-DE" sz="1250" dirty="0"/>
          </a:p>
        </p:txBody>
      </p:sp>
      <p:sp>
        <p:nvSpPr>
          <p:cNvPr id="39" name="Text 36"/>
          <p:cNvSpPr txBox="1"/>
          <p:nvPr/>
        </p:nvSpPr>
        <p:spPr>
          <a:xfrm>
            <a:off x="9217152" y="4480560"/>
            <a:ext cx="2148840" cy="256032"/>
          </a:xfrm>
          <a:prstGeom prst="rect">
            <a:avLst/>
          </a:prstGeom>
          <a:noFill/>
          <a:ln/>
        </p:spPr>
        <p:txBody>
          <a:bodyPr wrap="square" lIns="0" tIns="0" rIns="0" bIns="0" rtlCol="0" anchor="ctr"/>
          <a:lstStyle/>
          <a:p>
            <a:pPr algn="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4.999 Policen</a:t>
            </a:r>
            <a:endParaRPr lang="de-DE" sz="1250" dirty="0"/>
          </a:p>
        </p:txBody>
      </p:sp>
      <p:sp>
        <p:nvSpPr>
          <p:cNvPr id="40" name="Shape 37"/>
          <p:cNvSpPr/>
          <p:nvPr/>
        </p:nvSpPr>
        <p:spPr>
          <a:xfrm>
            <a:off x="6473952" y="4782312"/>
            <a:ext cx="4892040" cy="182880"/>
          </a:xfrm>
          <a:prstGeom prst="roundRect">
            <a:avLst>
              <a:gd name="adj" fmla="val 50000"/>
            </a:avLst>
          </a:prstGeom>
          <a:solidFill>
            <a:srgbClr val="0B2440"/>
          </a:solidFill>
          <a:ln w="9525">
            <a:solidFill>
              <a:srgbClr val="1E3A5F"/>
            </a:solidFill>
            <a:prstDash val="solid"/>
          </a:ln>
        </p:spPr>
      </p:sp>
      <p:sp>
        <p:nvSpPr>
          <p:cNvPr id="41" name="Shape 38"/>
          <p:cNvSpPr/>
          <p:nvPr/>
        </p:nvSpPr>
        <p:spPr>
          <a:xfrm>
            <a:off x="6473952" y="4782312"/>
            <a:ext cx="182880" cy="182880"/>
          </a:xfrm>
          <a:prstGeom prst="roundRect">
            <a:avLst>
              <a:gd name="adj" fmla="val 50000"/>
            </a:avLst>
          </a:prstGeom>
          <a:solidFill>
            <a:srgbClr val="A78BFA"/>
          </a:solidFill>
          <a:ln w="12700">
            <a:solidFill>
              <a:srgbClr val="A78BFA"/>
            </a:solidFill>
            <a:prstDash val="solid"/>
          </a:ln>
        </p:spPr>
      </p:sp>
      <p:sp>
        <p:nvSpPr>
          <p:cNvPr id="42" name="Text 39"/>
          <p:cNvSpPr txBox="1"/>
          <p:nvPr/>
        </p:nvSpPr>
        <p:spPr>
          <a:xfrm>
            <a:off x="6473952" y="5001768"/>
            <a:ext cx="4892040" cy="237744"/>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nur beobachtbare positive Schadenhöhen · ClaimNb-gewichtet</a:t>
            </a:r>
            <a:endParaRPr lang="de-DE" sz="1000" dirty="0"/>
          </a:p>
        </p:txBody>
      </p:sp>
      <p:pic>
        <p:nvPicPr>
          <p:cNvPr id="43" name="Image 1" descr="preencoded.png">    </p:cNvPr>
          <p:cNvPicPr>
            <a:picLocks noChangeAspect="1"/>
          </p:cNvPicPr>
          <p:nvPr/>
        </p:nvPicPr>
        <p:blipFill>
          <a:blip r:embed="rId3"/>
          <a:stretch>
            <a:fillRect/>
          </a:stretch>
        </p:blipFill>
        <p:spPr>
          <a:xfrm>
            <a:off x="6473952" y="5477256"/>
            <a:ext cx="256032" cy="256032"/>
          </a:xfrm>
          <a:prstGeom prst="rect">
            <a:avLst/>
          </a:prstGeom>
        </p:spPr>
      </p:pic>
      <p:sp>
        <p:nvSpPr>
          <p:cNvPr id="44" name="Text 40"/>
          <p:cNvSpPr txBox="1"/>
          <p:nvPr/>
        </p:nvSpPr>
        <p:spPr>
          <a:xfrm>
            <a:off x="6839712" y="5413248"/>
            <a:ext cx="4526280" cy="402336"/>
          </a:xfrm>
          <a:prstGeom prst="rect">
            <a:avLst/>
          </a:prstGeom>
          <a:noFill/>
          <a:ln/>
        </p:spPr>
        <p:txBody>
          <a:bodyPr wrap="square" lIns="0" tIns="0" rIns="0" bIns="0" rtlCol="0" anchor="ctr"/>
          <a:lstStyle/>
          <a:p>
            <a:pPr indent="0" marL="0">
              <a:buNone/>
            </a:pPr>
            <a:r>
              <a:rPr lang="de-DE" altLang="en-US" sz="1050" dirty="0">
                <a:solidFill>
                  <a:srgbClr val="A9BBD0"/>
                </a:solidFill>
                <a:latin typeface="Segoe UI" pitchFamily="34" charset="0"/>
                <a:ea typeface="Segoe UI" pitchFamily="34" charset="-122"/>
                <a:cs typeface="Segoe UI" pitchFamily="34" charset="-120"/>
              </a:rPr>
              <a:t>Ausgeschlossen: 1.813 Holdout-Policen mit Schaden, aber unbekannter Schadenhöhe</a:t>
            </a:r>
            <a:endParaRPr lang="de-DE" sz="1050" dirty="0"/>
          </a:p>
        </p:txBody>
      </p:sp>
      <p:sp>
        <p:nvSpPr>
          <p:cNvPr id="45" name="Shape 41"/>
          <p:cNvSpPr/>
          <p:nvPr/>
        </p:nvSpPr>
        <p:spPr>
          <a:xfrm>
            <a:off x="548640" y="5989320"/>
            <a:ext cx="11091672" cy="292608"/>
          </a:xfrm>
          <a:prstGeom prst="roundRect">
            <a:avLst>
              <a:gd name="adj" fmla="val 25000"/>
            </a:avLst>
          </a:prstGeom>
          <a:solidFill>
            <a:srgbClr val="10213F">
              <a:alpha val="70000"/>
            </a:srgbClr>
          </a:solidFill>
          <a:ln w="12700">
            <a:solidFill>
              <a:srgbClr val="1E3A5F"/>
            </a:solidFill>
            <a:prstDash val="solid"/>
          </a:ln>
        </p:spPr>
      </p:sp>
      <p:pic>
        <p:nvPicPr>
          <p:cNvPr id="46" name="Image 2" descr="preencoded.png">    </p:cNvPr>
          <p:cNvPicPr>
            <a:picLocks noChangeAspect="1"/>
          </p:cNvPicPr>
          <p:nvPr/>
        </p:nvPicPr>
        <p:blipFill>
          <a:blip r:embed="rId4"/>
          <a:stretch>
            <a:fillRect/>
          </a:stretch>
        </p:blipFill>
        <p:spPr>
          <a:xfrm>
            <a:off x="713232" y="6025896"/>
            <a:ext cx="219456" cy="219456"/>
          </a:xfrm>
          <a:prstGeom prst="rect">
            <a:avLst/>
          </a:prstGeom>
        </p:spPr>
      </p:pic>
      <p:sp>
        <p:nvSpPr>
          <p:cNvPr id="47" name="Text 42"/>
          <p:cNvSpPr txBox="1"/>
          <p:nvPr/>
        </p:nvSpPr>
        <p:spPr>
          <a:xfrm>
            <a:off x="1051560" y="5989320"/>
            <a:ext cx="10424160" cy="292608"/>
          </a:xfrm>
          <a:prstGeom prst="rect">
            <a:avLst/>
          </a:prstGeom>
          <a:noFill/>
          <a:ln/>
        </p:spPr>
        <p:txBody>
          <a:bodyPr wrap="square" lIns="0" tIns="0" rIns="0" bIns="0" rtlCol="0" anchor="ctr"/>
          <a:lstStyle/>
          <a:p>
            <a:pPr indent="0" marL="0">
              <a:buNone/>
            </a:pPr>
            <a:r>
              <a:rPr lang="de-DE" altLang="en-US" sz="1050" dirty="0">
                <a:solidFill>
                  <a:srgbClr val="A9BBD0"/>
                </a:solidFill>
                <a:latin typeface="Segoe UI" pitchFamily="34" charset="0"/>
                <a:ea typeface="Segoe UI" pitchFamily="34" charset="-122"/>
                <a:cs typeface="Segoe UI" pitchFamily="34" charset="-120"/>
              </a:rPr>
              <a:t>Canonical Split: 542.410 Train · 135.603 Holdout – einmal festgelegt und projektweit wiederverwendet</a:t>
            </a:r>
            <a:endParaRPr lang="de-DE"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MODELLIERUNG</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Vier Modellperspektiven – vier klare Rollen</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8 / 19</a:t>
            </a:r>
            <a:endParaRPr lang="de-DE" sz="900" dirty="0"/>
          </a:p>
        </p:txBody>
      </p:sp>
      <p:sp>
        <p:nvSpPr>
          <p:cNvPr id="6" name="Text 4"/>
          <p:cNvSpPr txBox="1"/>
          <p:nvPr/>
        </p:nvSpPr>
        <p:spPr>
          <a:xfrm>
            <a:off x="548640" y="1517904"/>
            <a:ext cx="36576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ZWEISTUFIGER ANSATZ</a:t>
            </a:r>
            <a:endParaRPr lang="de-DE" sz="1000" dirty="0"/>
          </a:p>
        </p:txBody>
      </p:sp>
      <p:sp>
        <p:nvSpPr>
          <p:cNvPr id="7" name="Text 5"/>
          <p:cNvSpPr txBox="1"/>
          <p:nvPr/>
        </p:nvSpPr>
        <p:spPr>
          <a:xfrm>
            <a:off x="8458200" y="1517904"/>
            <a:ext cx="310896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DIREKTER ANSATZ</a:t>
            </a:r>
            <a:endParaRPr lang="de-DE" sz="1000" dirty="0"/>
          </a:p>
        </p:txBody>
      </p:sp>
      <p:sp>
        <p:nvSpPr>
          <p:cNvPr id="8" name="Shape 6"/>
          <p:cNvSpPr/>
          <p:nvPr/>
        </p:nvSpPr>
        <p:spPr>
          <a:xfrm>
            <a:off x="548640" y="1828800"/>
            <a:ext cx="3429000" cy="1783080"/>
          </a:xfrm>
          <a:prstGeom prst="roundRect">
            <a:avLst>
              <a:gd name="adj" fmla="val 6154"/>
            </a:avLst>
          </a:prstGeom>
          <a:solidFill>
            <a:srgbClr val="10213F">
              <a:alpha val="92000"/>
            </a:srgbClr>
          </a:solidFill>
          <a:ln w="12700">
            <a:solidFill>
              <a:srgbClr val="1E3A5F"/>
            </a:solidFill>
            <a:prstDash val="solid"/>
          </a:ln>
        </p:spPr>
      </p:sp>
      <p:sp>
        <p:nvSpPr>
          <p:cNvPr id="9" name="Shape 7"/>
          <p:cNvSpPr/>
          <p:nvPr/>
        </p:nvSpPr>
        <p:spPr>
          <a:xfrm>
            <a:off x="749808" y="2011680"/>
            <a:ext cx="512064" cy="512064"/>
          </a:xfrm>
          <a:prstGeom prst="ellipse">
            <a:avLst/>
          </a:prstGeom>
          <a:solidFill>
            <a:srgbClr val="0E2A47"/>
          </a:solidFill>
          <a:ln w="12700">
            <a:solidFill>
              <a:srgbClr val="38BDF8">
                <a:alpha val="55000"/>
              </a:srgbClr>
            </a:solidFill>
            <a:prstDash val="solid"/>
          </a:ln>
        </p:spPr>
      </p:sp>
      <p:pic>
        <p:nvPicPr>
          <p:cNvPr id="10" name="Image 0" descr="preencoded.png">    </p:cNvPr>
          <p:cNvPicPr>
            <a:picLocks noChangeAspect="1"/>
          </p:cNvPicPr>
          <p:nvPr/>
        </p:nvPicPr>
        <p:blipFill>
          <a:blip r:embed="rId2"/>
          <a:stretch>
            <a:fillRect/>
          </a:stretch>
        </p:blipFill>
        <p:spPr>
          <a:xfrm>
            <a:off x="877824" y="2139696"/>
            <a:ext cx="256032" cy="256032"/>
          </a:xfrm>
          <a:prstGeom prst="rect">
            <a:avLst/>
          </a:prstGeom>
        </p:spPr>
      </p:pic>
      <p:sp>
        <p:nvSpPr>
          <p:cNvPr id="11" name="Text 8"/>
          <p:cNvSpPr txBox="1"/>
          <p:nvPr/>
        </p:nvSpPr>
        <p:spPr>
          <a:xfrm>
            <a:off x="1389888" y="1975104"/>
            <a:ext cx="2423160" cy="310896"/>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Frequency</a:t>
            </a:r>
            <a:endParaRPr lang="de-DE" sz="1600" dirty="0"/>
          </a:p>
        </p:txBody>
      </p:sp>
      <p:sp>
        <p:nvSpPr>
          <p:cNvPr id="12" name="Text 9"/>
          <p:cNvSpPr txBox="1"/>
          <p:nvPr/>
        </p:nvSpPr>
        <p:spPr>
          <a:xfrm>
            <a:off x="1389888" y="2267712"/>
            <a:ext cx="2423160" cy="256032"/>
          </a:xfrm>
          <a:prstGeom prst="rect">
            <a:avLst/>
          </a:prstGeom>
          <a:noFill/>
          <a:ln/>
        </p:spPr>
        <p:txBody>
          <a:bodyPr wrap="square" lIns="0" tIns="0" rIns="0" bIns="0" rtlCol="0" anchor="t"/>
          <a:lstStyle/>
          <a:p>
            <a:pPr indent="0" marL="0">
              <a:buNone/>
            </a:pPr>
            <a:r>
              <a:rPr lang="de-DE" altLang="en-US" sz="1100" dirty="0">
                <a:solidFill>
                  <a:srgbClr val="38BDF8"/>
                </a:solidFill>
                <a:latin typeface="Segoe UI" pitchFamily="34" charset="0"/>
                <a:ea typeface="Segoe UI" pitchFamily="34" charset="-122"/>
                <a:cs typeface="Segoe UI" pitchFamily="34" charset="-120"/>
              </a:rPr>
              <a:t>Poisson-GLM</a:t>
            </a:r>
            <a:endParaRPr lang="de-DE" sz="1100" dirty="0"/>
          </a:p>
        </p:txBody>
      </p:sp>
      <p:sp>
        <p:nvSpPr>
          <p:cNvPr id="13" name="Text 10"/>
          <p:cNvSpPr txBox="1"/>
          <p:nvPr/>
        </p:nvSpPr>
        <p:spPr>
          <a:xfrm>
            <a:off x="749808" y="2651760"/>
            <a:ext cx="3026664" cy="457200"/>
          </a:xfrm>
          <a:prstGeom prst="rect">
            <a:avLst/>
          </a:prstGeom>
          <a:noFill/>
          <a:ln/>
        </p:spPr>
        <p:txBody>
          <a:bodyPr wrap="square" lIns="0" tIns="0" rIns="0" bIns="0" rtlCol="0" anchor="t"/>
          <a:lstStyle/>
          <a:p>
            <a:pPr indent="0" marL="0">
              <a:buNone/>
            </a:pPr>
            <a:r>
              <a:rPr lang="de-DE" altLang="en-US" sz="1250" i="1" dirty="0">
                <a:solidFill>
                  <a:srgbClr val="EEF4FB"/>
                </a:solidFill>
                <a:latin typeface="Segoe UI" pitchFamily="34" charset="0"/>
                <a:ea typeface="Segoe UI" pitchFamily="34" charset="-122"/>
                <a:cs typeface="Segoe UI" pitchFamily="34" charset="-120"/>
              </a:rPr>
              <a:t>„Wie oft tritt ein Schaden auf?“</a:t>
            </a:r>
            <a:endParaRPr lang="de-DE" sz="1250" dirty="0"/>
          </a:p>
        </p:txBody>
      </p:sp>
      <p:sp>
        <p:nvSpPr>
          <p:cNvPr id="14" name="Text 11"/>
          <p:cNvSpPr txBox="1"/>
          <p:nvPr/>
        </p:nvSpPr>
        <p:spPr>
          <a:xfrm>
            <a:off x="749808" y="2953512"/>
            <a:ext cx="1097280" cy="201168"/>
          </a:xfrm>
          <a:prstGeom prst="rect">
            <a:avLst/>
          </a:prstGeom>
          <a:noFill/>
          <a:ln/>
        </p:spPr>
        <p:txBody>
          <a:bodyPr wrap="square" lIns="0" tIns="0" rIns="0" bIns="0" rtlCol="0" anchor="t"/>
          <a:lstStyle/>
          <a:p>
            <a:pPr indent="0" marL="0">
              <a:buNone/>
            </a:pPr>
            <a:r>
              <a:rPr lang="de-DE" altLang="en-US" sz="850" b="1" spc="200" kern="0" dirty="0">
                <a:solidFill>
                  <a:srgbClr val="7389A6"/>
                </a:solidFill>
                <a:latin typeface="Segoe UI" pitchFamily="34" charset="0"/>
                <a:ea typeface="Segoe UI" pitchFamily="34" charset="-122"/>
                <a:cs typeface="Segoe UI" pitchFamily="34" charset="-120"/>
              </a:rPr>
              <a:t>ROLLE</a:t>
            </a:r>
            <a:endParaRPr lang="de-DE" sz="850" dirty="0"/>
          </a:p>
        </p:txBody>
      </p:sp>
      <p:sp>
        <p:nvSpPr>
          <p:cNvPr id="15" name="Text 12"/>
          <p:cNvSpPr txBox="1"/>
          <p:nvPr/>
        </p:nvSpPr>
        <p:spPr>
          <a:xfrm>
            <a:off x="749808" y="3154680"/>
            <a:ext cx="3026664" cy="384048"/>
          </a:xfrm>
          <a:prstGeom prst="rect">
            <a:avLst/>
          </a:prstGeom>
          <a:noFill/>
          <a:ln/>
        </p:spPr>
        <p:txBody>
          <a:bodyPr wrap="square" lIns="0" tIns="0" rIns="0" bIns="0" rtlCol="0" anchor="t"/>
          <a:lstStyle/>
          <a:p>
            <a:pPr indent="0" marL="0">
              <a:buNone/>
            </a:pPr>
            <a:r>
              <a:rPr lang="de-DE" altLang="en-US" sz="1150" dirty="0">
                <a:solidFill>
                  <a:srgbClr val="38BDF8"/>
                </a:solidFill>
                <a:latin typeface="Segoe UI Semibold" pitchFamily="34" charset="0"/>
                <a:ea typeface="Segoe UI Semibold" pitchFamily="34" charset="-122"/>
                <a:cs typeface="Segoe UI Semibold" pitchFamily="34" charset="-120"/>
              </a:rPr>
              <a:t>Schadenhäufigkeit &amp; Portfolio-Kalibrierung</a:t>
            </a:r>
            <a:endParaRPr lang="de-DE" sz="1150" dirty="0"/>
          </a:p>
        </p:txBody>
      </p:sp>
      <p:sp>
        <p:nvSpPr>
          <p:cNvPr id="16" name="Shape 13"/>
          <p:cNvSpPr/>
          <p:nvPr/>
        </p:nvSpPr>
        <p:spPr>
          <a:xfrm>
            <a:off x="548640" y="3794760"/>
            <a:ext cx="3429000" cy="1783080"/>
          </a:xfrm>
          <a:prstGeom prst="roundRect">
            <a:avLst>
              <a:gd name="adj" fmla="val 6154"/>
            </a:avLst>
          </a:prstGeom>
          <a:solidFill>
            <a:srgbClr val="10213F">
              <a:alpha val="92000"/>
            </a:srgbClr>
          </a:solidFill>
          <a:ln w="12700">
            <a:solidFill>
              <a:srgbClr val="1E3A5F"/>
            </a:solidFill>
            <a:prstDash val="solid"/>
          </a:ln>
        </p:spPr>
      </p:sp>
      <p:sp>
        <p:nvSpPr>
          <p:cNvPr id="17" name="Shape 14"/>
          <p:cNvSpPr/>
          <p:nvPr/>
        </p:nvSpPr>
        <p:spPr>
          <a:xfrm>
            <a:off x="749808" y="3977640"/>
            <a:ext cx="512064" cy="512064"/>
          </a:xfrm>
          <a:prstGeom prst="ellipse">
            <a:avLst/>
          </a:prstGeom>
          <a:solidFill>
            <a:srgbClr val="0E2A47"/>
          </a:solidFill>
          <a:ln w="12700">
            <a:solidFill>
              <a:srgbClr val="A78BFA">
                <a:alpha val="55000"/>
              </a:srgbClr>
            </a:solidFill>
            <a:prstDash val="solid"/>
          </a:ln>
        </p:spPr>
      </p:sp>
      <p:pic>
        <p:nvPicPr>
          <p:cNvPr id="18" name="Image 1" descr="preencoded.png">    </p:cNvPr>
          <p:cNvPicPr>
            <a:picLocks noChangeAspect="1"/>
          </p:cNvPicPr>
          <p:nvPr/>
        </p:nvPicPr>
        <p:blipFill>
          <a:blip r:embed="rId3"/>
          <a:stretch>
            <a:fillRect/>
          </a:stretch>
        </p:blipFill>
        <p:spPr>
          <a:xfrm>
            <a:off x="877824" y="4105656"/>
            <a:ext cx="256032" cy="256032"/>
          </a:xfrm>
          <a:prstGeom prst="rect">
            <a:avLst/>
          </a:prstGeom>
        </p:spPr>
      </p:pic>
      <p:sp>
        <p:nvSpPr>
          <p:cNvPr id="19" name="Text 15"/>
          <p:cNvSpPr txBox="1"/>
          <p:nvPr/>
        </p:nvSpPr>
        <p:spPr>
          <a:xfrm>
            <a:off x="1389888" y="3941064"/>
            <a:ext cx="2423160" cy="310896"/>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Severity</a:t>
            </a:r>
            <a:endParaRPr lang="de-DE" sz="1600" dirty="0"/>
          </a:p>
        </p:txBody>
      </p:sp>
      <p:sp>
        <p:nvSpPr>
          <p:cNvPr id="20" name="Text 16"/>
          <p:cNvSpPr txBox="1"/>
          <p:nvPr/>
        </p:nvSpPr>
        <p:spPr>
          <a:xfrm>
            <a:off x="1389888" y="4233672"/>
            <a:ext cx="2423160" cy="256032"/>
          </a:xfrm>
          <a:prstGeom prst="rect">
            <a:avLst/>
          </a:prstGeom>
          <a:noFill/>
          <a:ln/>
        </p:spPr>
        <p:txBody>
          <a:bodyPr wrap="square" lIns="0" tIns="0" rIns="0" bIns="0" rtlCol="0" anchor="t"/>
          <a:lstStyle/>
          <a:p>
            <a:pPr indent="0" marL="0">
              <a:buNone/>
            </a:pPr>
            <a:r>
              <a:rPr lang="de-DE" altLang="en-US" sz="1100" dirty="0">
                <a:solidFill>
                  <a:srgbClr val="A78BFA"/>
                </a:solidFill>
                <a:latin typeface="Segoe UI" pitchFamily="34" charset="0"/>
                <a:ea typeface="Segoe UI" pitchFamily="34" charset="-122"/>
                <a:cs typeface="Segoe UI" pitchFamily="34" charset="-120"/>
              </a:rPr>
              <a:t>Gamma-GLM</a:t>
            </a:r>
            <a:endParaRPr lang="de-DE" sz="1100" dirty="0"/>
          </a:p>
        </p:txBody>
      </p:sp>
      <p:sp>
        <p:nvSpPr>
          <p:cNvPr id="21" name="Text 17"/>
          <p:cNvSpPr txBox="1"/>
          <p:nvPr/>
        </p:nvSpPr>
        <p:spPr>
          <a:xfrm>
            <a:off x="749808" y="4617720"/>
            <a:ext cx="3026664" cy="457200"/>
          </a:xfrm>
          <a:prstGeom prst="rect">
            <a:avLst/>
          </a:prstGeom>
          <a:noFill/>
          <a:ln/>
        </p:spPr>
        <p:txBody>
          <a:bodyPr wrap="square" lIns="0" tIns="0" rIns="0" bIns="0" rtlCol="0" anchor="t"/>
          <a:lstStyle/>
          <a:p>
            <a:pPr indent="0" marL="0">
              <a:buNone/>
            </a:pPr>
            <a:r>
              <a:rPr lang="de-DE" altLang="en-US" sz="1250" i="1" dirty="0">
                <a:solidFill>
                  <a:srgbClr val="EEF4FB"/>
                </a:solidFill>
                <a:latin typeface="Segoe UI" pitchFamily="34" charset="0"/>
                <a:ea typeface="Segoe UI" pitchFamily="34" charset="-122"/>
                <a:cs typeface="Segoe UI" pitchFamily="34" charset="-120"/>
              </a:rPr>
              <a:t>„Wie teuer ist ein Schaden?“</a:t>
            </a:r>
            <a:endParaRPr lang="de-DE" sz="1250" dirty="0"/>
          </a:p>
        </p:txBody>
      </p:sp>
      <p:sp>
        <p:nvSpPr>
          <p:cNvPr id="22" name="Text 18"/>
          <p:cNvSpPr txBox="1"/>
          <p:nvPr/>
        </p:nvSpPr>
        <p:spPr>
          <a:xfrm>
            <a:off x="749808" y="4919472"/>
            <a:ext cx="1097280" cy="201168"/>
          </a:xfrm>
          <a:prstGeom prst="rect">
            <a:avLst/>
          </a:prstGeom>
          <a:noFill/>
          <a:ln/>
        </p:spPr>
        <p:txBody>
          <a:bodyPr wrap="square" lIns="0" tIns="0" rIns="0" bIns="0" rtlCol="0" anchor="t"/>
          <a:lstStyle/>
          <a:p>
            <a:pPr indent="0" marL="0">
              <a:buNone/>
            </a:pPr>
            <a:r>
              <a:rPr lang="de-DE" altLang="en-US" sz="850" b="1" spc="200" kern="0" dirty="0">
                <a:solidFill>
                  <a:srgbClr val="7389A6"/>
                </a:solidFill>
                <a:latin typeface="Segoe UI" pitchFamily="34" charset="0"/>
                <a:ea typeface="Segoe UI" pitchFamily="34" charset="-122"/>
                <a:cs typeface="Segoe UI" pitchFamily="34" charset="-120"/>
              </a:rPr>
              <a:t>ROLLE</a:t>
            </a:r>
            <a:endParaRPr lang="de-DE" sz="850" dirty="0"/>
          </a:p>
        </p:txBody>
      </p:sp>
      <p:sp>
        <p:nvSpPr>
          <p:cNvPr id="23" name="Text 19"/>
          <p:cNvSpPr txBox="1"/>
          <p:nvPr/>
        </p:nvSpPr>
        <p:spPr>
          <a:xfrm>
            <a:off x="749808" y="5120640"/>
            <a:ext cx="3026664" cy="384048"/>
          </a:xfrm>
          <a:prstGeom prst="rect">
            <a:avLst/>
          </a:prstGeom>
          <a:noFill/>
          <a:ln/>
        </p:spPr>
        <p:txBody>
          <a:bodyPr wrap="square" lIns="0" tIns="0" rIns="0" bIns="0" rtlCol="0" anchor="t"/>
          <a:lstStyle/>
          <a:p>
            <a:pPr indent="0" marL="0">
              <a:buNone/>
            </a:pPr>
            <a:r>
              <a:rPr lang="de-DE" altLang="en-US" sz="1150" dirty="0">
                <a:solidFill>
                  <a:srgbClr val="A78BFA"/>
                </a:solidFill>
                <a:latin typeface="Segoe UI Semibold" pitchFamily="34" charset="0"/>
                <a:ea typeface="Segoe UI Semibold" pitchFamily="34" charset="-122"/>
                <a:cs typeface="Segoe UI Semibold" pitchFamily="34" charset="-120"/>
              </a:rPr>
              <a:t>Monetäre Schadenhöhen-Komponente</a:t>
            </a:r>
            <a:endParaRPr lang="de-DE" sz="1150" dirty="0"/>
          </a:p>
        </p:txBody>
      </p:sp>
      <p:sp>
        <p:nvSpPr>
          <p:cNvPr id="24" name="Shape 20"/>
          <p:cNvSpPr/>
          <p:nvPr/>
        </p:nvSpPr>
        <p:spPr>
          <a:xfrm>
            <a:off x="3977640" y="2720340"/>
            <a:ext cx="301752" cy="786384"/>
          </a:xfrm>
          <a:prstGeom prst="line">
            <a:avLst/>
          </a:prstGeom>
          <a:noFill/>
          <a:ln w="15875">
            <a:solidFill>
              <a:srgbClr val="7389A6"/>
            </a:solidFill>
            <a:prstDash val="solid"/>
          </a:ln>
        </p:spPr>
      </p:sp>
      <p:sp>
        <p:nvSpPr>
          <p:cNvPr id="25" name="Shape 21"/>
          <p:cNvSpPr/>
          <p:nvPr/>
        </p:nvSpPr>
        <p:spPr>
          <a:xfrm flipV="1">
            <a:off x="3977640" y="3899916"/>
            <a:ext cx="301752" cy="786384"/>
          </a:xfrm>
          <a:prstGeom prst="line">
            <a:avLst/>
          </a:prstGeom>
          <a:noFill/>
          <a:ln w="15875">
            <a:solidFill>
              <a:srgbClr val="7389A6"/>
            </a:solidFill>
            <a:prstDash val="solid"/>
          </a:ln>
        </p:spPr>
      </p:sp>
      <p:sp>
        <p:nvSpPr>
          <p:cNvPr id="26" name="Shape 22"/>
          <p:cNvSpPr/>
          <p:nvPr/>
        </p:nvSpPr>
        <p:spPr>
          <a:xfrm>
            <a:off x="4206240" y="3474720"/>
            <a:ext cx="457200" cy="457200"/>
          </a:xfrm>
          <a:prstGeom prst="ellipse">
            <a:avLst/>
          </a:prstGeom>
          <a:solidFill>
            <a:srgbClr val="0E2A47"/>
          </a:solidFill>
          <a:ln w="15875">
            <a:solidFill>
              <a:srgbClr val="22D3EE"/>
            </a:solidFill>
            <a:prstDash val="solid"/>
          </a:ln>
        </p:spPr>
      </p:sp>
      <p:sp>
        <p:nvSpPr>
          <p:cNvPr id="27" name="Text 23"/>
          <p:cNvSpPr txBox="1"/>
          <p:nvPr/>
        </p:nvSpPr>
        <p:spPr>
          <a:xfrm>
            <a:off x="4206240" y="3474720"/>
            <a:ext cx="457200" cy="438912"/>
          </a:xfrm>
          <a:prstGeom prst="rect">
            <a:avLst/>
          </a:prstGeom>
          <a:noFill/>
          <a:ln/>
        </p:spPr>
        <p:txBody>
          <a:bodyPr wrap="square" lIns="0" tIns="0" rIns="0" bIns="0" rtlCol="0" anchor="ctr"/>
          <a:lstStyle/>
          <a:p>
            <a:pPr algn="ctr" indent="0" marL="0">
              <a:buNone/>
            </a:pPr>
            <a:r>
              <a:rPr lang="de-DE" altLang="en-US" sz="2000" dirty="0">
                <a:solidFill>
                  <a:srgbClr val="22D3EE"/>
                </a:solidFill>
                <a:latin typeface="Segoe UI Semibold" pitchFamily="34" charset="0"/>
                <a:ea typeface="Segoe UI Semibold" pitchFamily="34" charset="-122"/>
                <a:cs typeface="Segoe UI Semibold" pitchFamily="34" charset="-120"/>
              </a:rPr>
              <a:t>×</a:t>
            </a:r>
            <a:endParaRPr lang="de-DE" sz="2000" dirty="0"/>
          </a:p>
        </p:txBody>
      </p:sp>
      <p:sp>
        <p:nvSpPr>
          <p:cNvPr id="28" name="Shape 24"/>
          <p:cNvSpPr/>
          <p:nvPr/>
        </p:nvSpPr>
        <p:spPr>
          <a:xfrm>
            <a:off x="4663440" y="3703320"/>
            <a:ext cx="228600" cy="0"/>
          </a:xfrm>
          <a:prstGeom prst="line">
            <a:avLst/>
          </a:prstGeom>
          <a:noFill/>
          <a:ln w="15875">
            <a:solidFill>
              <a:srgbClr val="7389A6"/>
            </a:solidFill>
            <a:prstDash val="solid"/>
            <a:tailEnd type="triangle"/>
          </a:ln>
        </p:spPr>
      </p:sp>
      <p:sp>
        <p:nvSpPr>
          <p:cNvPr id="29" name="Shape 25"/>
          <p:cNvSpPr/>
          <p:nvPr/>
        </p:nvSpPr>
        <p:spPr>
          <a:xfrm>
            <a:off x="4892040" y="2651760"/>
            <a:ext cx="3291840" cy="2103120"/>
          </a:xfrm>
          <a:prstGeom prst="roundRect">
            <a:avLst>
              <a:gd name="adj" fmla="val 5217"/>
            </a:avLst>
          </a:prstGeom>
          <a:solidFill>
            <a:srgbClr val="10213F">
              <a:alpha val="92000"/>
            </a:srgbClr>
          </a:solidFill>
          <a:ln w="12700">
            <a:solidFill>
              <a:srgbClr val="1E3A5F"/>
            </a:solidFill>
            <a:prstDash val="solid"/>
          </a:ln>
        </p:spPr>
      </p:sp>
      <p:sp>
        <p:nvSpPr>
          <p:cNvPr id="30" name="Shape 26"/>
          <p:cNvSpPr/>
          <p:nvPr/>
        </p:nvSpPr>
        <p:spPr>
          <a:xfrm>
            <a:off x="5093208" y="2834640"/>
            <a:ext cx="512064" cy="512064"/>
          </a:xfrm>
          <a:prstGeom prst="ellipse">
            <a:avLst/>
          </a:prstGeom>
          <a:solidFill>
            <a:srgbClr val="0E2A47"/>
          </a:solidFill>
          <a:ln w="12700">
            <a:solidFill>
              <a:srgbClr val="94A3B8">
                <a:alpha val="55000"/>
              </a:srgbClr>
            </a:solidFill>
            <a:prstDash val="solid"/>
          </a:ln>
        </p:spPr>
      </p:sp>
      <p:pic>
        <p:nvPicPr>
          <p:cNvPr id="31" name="Image 2" descr="preencoded.png">    </p:cNvPr>
          <p:cNvPicPr>
            <a:picLocks noChangeAspect="1"/>
          </p:cNvPicPr>
          <p:nvPr/>
        </p:nvPicPr>
        <p:blipFill>
          <a:blip r:embed="rId4"/>
          <a:stretch>
            <a:fillRect/>
          </a:stretch>
        </p:blipFill>
        <p:spPr>
          <a:xfrm>
            <a:off x="5221224" y="2962656"/>
            <a:ext cx="256032" cy="256032"/>
          </a:xfrm>
          <a:prstGeom prst="rect">
            <a:avLst/>
          </a:prstGeom>
        </p:spPr>
      </p:pic>
      <p:sp>
        <p:nvSpPr>
          <p:cNvPr id="32" name="Text 27"/>
          <p:cNvSpPr txBox="1"/>
          <p:nvPr/>
        </p:nvSpPr>
        <p:spPr>
          <a:xfrm>
            <a:off x="5733288" y="2798064"/>
            <a:ext cx="2286000" cy="310896"/>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Two-Stage</a:t>
            </a:r>
            <a:endParaRPr lang="de-DE" sz="1600" dirty="0"/>
          </a:p>
        </p:txBody>
      </p:sp>
      <p:sp>
        <p:nvSpPr>
          <p:cNvPr id="33" name="Text 28"/>
          <p:cNvSpPr txBox="1"/>
          <p:nvPr/>
        </p:nvSpPr>
        <p:spPr>
          <a:xfrm>
            <a:off x="5733288" y="3090672"/>
            <a:ext cx="2286000" cy="256032"/>
          </a:xfrm>
          <a:prstGeom prst="rect">
            <a:avLst/>
          </a:prstGeom>
          <a:noFill/>
          <a:ln/>
        </p:spPr>
        <p:txBody>
          <a:bodyPr wrap="square" lIns="0" tIns="0" rIns="0" bIns="0" rtlCol="0" anchor="t"/>
          <a:lstStyle/>
          <a:p>
            <a:pPr indent="0" marL="0">
              <a:buNone/>
            </a:pPr>
            <a:r>
              <a:rPr lang="de-DE" altLang="en-US" sz="1100" dirty="0">
                <a:solidFill>
                  <a:srgbClr val="94A3B8"/>
                </a:solidFill>
                <a:latin typeface="Segoe UI" pitchFamily="34" charset="0"/>
                <a:ea typeface="Segoe UI" pitchFamily="34" charset="-122"/>
                <a:cs typeface="Segoe UI" pitchFamily="34" charset="-120"/>
              </a:rPr>
              <a:t>Frequency × Severity</a:t>
            </a:r>
            <a:endParaRPr lang="de-DE" sz="1100" dirty="0"/>
          </a:p>
        </p:txBody>
      </p:sp>
      <p:sp>
        <p:nvSpPr>
          <p:cNvPr id="34" name="Text 29"/>
          <p:cNvSpPr txBox="1"/>
          <p:nvPr/>
        </p:nvSpPr>
        <p:spPr>
          <a:xfrm>
            <a:off x="5093208" y="3474720"/>
            <a:ext cx="2889504" cy="457200"/>
          </a:xfrm>
          <a:prstGeom prst="rect">
            <a:avLst/>
          </a:prstGeom>
          <a:noFill/>
          <a:ln/>
        </p:spPr>
        <p:txBody>
          <a:bodyPr wrap="square" lIns="0" tIns="0" rIns="0" bIns="0" rtlCol="0" anchor="t"/>
          <a:lstStyle/>
          <a:p>
            <a:pPr indent="0" marL="0">
              <a:buNone/>
            </a:pPr>
            <a:r>
              <a:rPr lang="de-DE" altLang="en-US" sz="1250" i="1" dirty="0">
                <a:solidFill>
                  <a:srgbClr val="EEF4FB"/>
                </a:solidFill>
                <a:latin typeface="Segoe UI" pitchFamily="34" charset="0"/>
                <a:ea typeface="Segoe UI" pitchFamily="34" charset="-122"/>
                <a:cs typeface="Segoe UI" pitchFamily="34" charset="-120"/>
              </a:rPr>
              <a:t>„Kommt das Risiko aus Häufigkeit oder aus Schadenhöhe?“</a:t>
            </a:r>
            <a:endParaRPr lang="de-DE" sz="1250" dirty="0"/>
          </a:p>
        </p:txBody>
      </p:sp>
      <p:sp>
        <p:nvSpPr>
          <p:cNvPr id="35" name="Text 30"/>
          <p:cNvSpPr txBox="1"/>
          <p:nvPr/>
        </p:nvSpPr>
        <p:spPr>
          <a:xfrm>
            <a:off x="5093208" y="4096512"/>
            <a:ext cx="1097280" cy="201168"/>
          </a:xfrm>
          <a:prstGeom prst="rect">
            <a:avLst/>
          </a:prstGeom>
          <a:noFill/>
          <a:ln/>
        </p:spPr>
        <p:txBody>
          <a:bodyPr wrap="square" lIns="0" tIns="0" rIns="0" bIns="0" rtlCol="0" anchor="t"/>
          <a:lstStyle/>
          <a:p>
            <a:pPr indent="0" marL="0">
              <a:buNone/>
            </a:pPr>
            <a:r>
              <a:rPr lang="de-DE" altLang="en-US" sz="850" b="1" spc="200" kern="0" dirty="0">
                <a:solidFill>
                  <a:srgbClr val="7389A6"/>
                </a:solidFill>
                <a:latin typeface="Segoe UI" pitchFamily="34" charset="0"/>
                <a:ea typeface="Segoe UI" pitchFamily="34" charset="-122"/>
                <a:cs typeface="Segoe UI" pitchFamily="34" charset="-120"/>
              </a:rPr>
              <a:t>ROLLE</a:t>
            </a:r>
            <a:endParaRPr lang="de-DE" sz="850" dirty="0"/>
          </a:p>
        </p:txBody>
      </p:sp>
      <p:sp>
        <p:nvSpPr>
          <p:cNvPr id="36" name="Text 31"/>
          <p:cNvSpPr txBox="1"/>
          <p:nvPr/>
        </p:nvSpPr>
        <p:spPr>
          <a:xfrm>
            <a:off x="5093208" y="4297680"/>
            <a:ext cx="2889504" cy="384048"/>
          </a:xfrm>
          <a:prstGeom prst="rect">
            <a:avLst/>
          </a:prstGeom>
          <a:noFill/>
          <a:ln/>
        </p:spPr>
        <p:txBody>
          <a:bodyPr wrap="square" lIns="0" tIns="0" rIns="0" bIns="0" rtlCol="0" anchor="t"/>
          <a:lstStyle/>
          <a:p>
            <a:pPr indent="0" marL="0">
              <a:buNone/>
            </a:pPr>
            <a:r>
              <a:rPr lang="de-DE" altLang="en-US" sz="1150" dirty="0">
                <a:solidFill>
                  <a:srgbClr val="94A3B8"/>
                </a:solidFill>
                <a:latin typeface="Segoe UI Semibold" pitchFamily="34" charset="0"/>
                <a:ea typeface="Segoe UI Semibold" pitchFamily="34" charset="-122"/>
                <a:cs typeface="Segoe UI Semibold" pitchFamily="34" charset="-120"/>
              </a:rPr>
              <a:t>Dekomposition &amp; fachliche Erklärung</a:t>
            </a:r>
            <a:endParaRPr lang="de-DE" sz="1150" dirty="0"/>
          </a:p>
        </p:txBody>
      </p:sp>
      <p:sp>
        <p:nvSpPr>
          <p:cNvPr id="37" name="Shape 32"/>
          <p:cNvSpPr/>
          <p:nvPr/>
        </p:nvSpPr>
        <p:spPr>
          <a:xfrm>
            <a:off x="8458200" y="1828800"/>
            <a:ext cx="3182112" cy="3749040"/>
          </a:xfrm>
          <a:prstGeom prst="roundRect">
            <a:avLst>
              <a:gd name="adj" fmla="val 3448"/>
            </a:avLst>
          </a:prstGeom>
          <a:solidFill>
            <a:srgbClr val="10213F">
              <a:alpha val="92000"/>
            </a:srgbClr>
          </a:solidFill>
          <a:ln w="15875">
            <a:solidFill>
              <a:srgbClr val="2DD4BF"/>
            </a:solidFill>
            <a:prstDash val="solid"/>
          </a:ln>
          <a:effectLst>
            <a:outerShdw sx="100000" sy="100000" kx="0" ky="0" algn="bl" rotWithShape="0" blurRad="228600" dist="50800" dir="5400000">
              <a:srgbClr val="2DD4BF">
                <a:alpha val="32000"/>
              </a:srgbClr>
            </a:outerShdw>
          </a:effectLst>
        </p:spPr>
      </p:sp>
      <p:sp>
        <p:nvSpPr>
          <p:cNvPr id="38" name="Shape 33"/>
          <p:cNvSpPr/>
          <p:nvPr/>
        </p:nvSpPr>
        <p:spPr>
          <a:xfrm>
            <a:off x="8659368" y="2011680"/>
            <a:ext cx="512064" cy="512064"/>
          </a:xfrm>
          <a:prstGeom prst="ellipse">
            <a:avLst/>
          </a:prstGeom>
          <a:solidFill>
            <a:srgbClr val="0E2A47"/>
          </a:solidFill>
          <a:ln w="12700">
            <a:solidFill>
              <a:srgbClr val="2DD4BF">
                <a:alpha val="55000"/>
              </a:srgbClr>
            </a:solidFill>
            <a:prstDash val="solid"/>
          </a:ln>
        </p:spPr>
      </p:sp>
      <p:pic>
        <p:nvPicPr>
          <p:cNvPr id="39" name="Image 3" descr="preencoded.png">    </p:cNvPr>
          <p:cNvPicPr>
            <a:picLocks noChangeAspect="1"/>
          </p:cNvPicPr>
          <p:nvPr/>
        </p:nvPicPr>
        <p:blipFill>
          <a:blip r:embed="rId5"/>
          <a:stretch>
            <a:fillRect/>
          </a:stretch>
        </p:blipFill>
        <p:spPr>
          <a:xfrm>
            <a:off x="8787384" y="2139696"/>
            <a:ext cx="256032" cy="256032"/>
          </a:xfrm>
          <a:prstGeom prst="rect">
            <a:avLst/>
          </a:prstGeom>
        </p:spPr>
      </p:pic>
      <p:sp>
        <p:nvSpPr>
          <p:cNvPr id="40" name="Text 34"/>
          <p:cNvSpPr txBox="1"/>
          <p:nvPr/>
        </p:nvSpPr>
        <p:spPr>
          <a:xfrm>
            <a:off x="9299448" y="1975104"/>
            <a:ext cx="2176272" cy="310896"/>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Tweedie</a:t>
            </a:r>
            <a:endParaRPr lang="de-DE" sz="1600" dirty="0"/>
          </a:p>
        </p:txBody>
      </p:sp>
      <p:sp>
        <p:nvSpPr>
          <p:cNvPr id="41" name="Text 35"/>
          <p:cNvSpPr txBox="1"/>
          <p:nvPr/>
        </p:nvSpPr>
        <p:spPr>
          <a:xfrm>
            <a:off x="9299448" y="2267712"/>
            <a:ext cx="2176272" cy="256032"/>
          </a:xfrm>
          <a:prstGeom prst="rect">
            <a:avLst/>
          </a:prstGeom>
          <a:noFill/>
          <a:ln/>
        </p:spPr>
        <p:txBody>
          <a:bodyPr wrap="square" lIns="0" tIns="0" rIns="0" bIns="0" rtlCol="0" anchor="t"/>
          <a:lstStyle/>
          <a:p>
            <a:pPr indent="0" marL="0">
              <a:buNone/>
            </a:pPr>
            <a:r>
              <a:rPr lang="de-DE" altLang="en-US" sz="1100" dirty="0">
                <a:solidFill>
                  <a:srgbClr val="2DD4BF"/>
                </a:solidFill>
                <a:latin typeface="Segoe UI" pitchFamily="34" charset="0"/>
                <a:ea typeface="Segoe UI" pitchFamily="34" charset="-122"/>
                <a:cs typeface="Segoe UI" pitchFamily="34" charset="-120"/>
              </a:rPr>
              <a:t>Tweedie-GLM · Power 1,9</a:t>
            </a:r>
            <a:endParaRPr lang="de-DE" sz="1100" dirty="0"/>
          </a:p>
        </p:txBody>
      </p:sp>
      <p:sp>
        <p:nvSpPr>
          <p:cNvPr id="42" name="Text 36"/>
          <p:cNvSpPr txBox="1"/>
          <p:nvPr/>
        </p:nvSpPr>
        <p:spPr>
          <a:xfrm>
            <a:off x="8659368" y="2651760"/>
            <a:ext cx="2779776" cy="457200"/>
          </a:xfrm>
          <a:prstGeom prst="rect">
            <a:avLst/>
          </a:prstGeom>
          <a:noFill/>
          <a:ln/>
        </p:spPr>
        <p:txBody>
          <a:bodyPr wrap="square" lIns="0" tIns="0" rIns="0" bIns="0" rtlCol="0" anchor="t"/>
          <a:lstStyle/>
          <a:p>
            <a:pPr indent="0" marL="0">
              <a:buNone/>
            </a:pPr>
            <a:r>
              <a:rPr lang="de-DE" altLang="en-US" sz="1250" i="1" dirty="0">
                <a:solidFill>
                  <a:srgbClr val="EEF4FB"/>
                </a:solidFill>
                <a:latin typeface="Segoe UI" pitchFamily="34" charset="0"/>
                <a:ea typeface="Segoe UI" pitchFamily="34" charset="-122"/>
                <a:cs typeface="Segoe UI" pitchFamily="34" charset="-120"/>
              </a:rPr>
              <a:t>„Wie hoch ist der Schadenbedarf direkt?“</a:t>
            </a:r>
            <a:endParaRPr lang="de-DE" sz="1250" dirty="0"/>
          </a:p>
        </p:txBody>
      </p:sp>
      <p:sp>
        <p:nvSpPr>
          <p:cNvPr id="43" name="Text 37"/>
          <p:cNvSpPr txBox="1"/>
          <p:nvPr/>
        </p:nvSpPr>
        <p:spPr>
          <a:xfrm>
            <a:off x="8659368" y="3154680"/>
            <a:ext cx="2779776" cy="1645920"/>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Bildet viele Nullen und positive, stark schiefe Schadenbeträge in einem einzigen Modell ab.</a:t>
            </a:r>
            <a:endParaRPr lang="de-DE" sz="1100" dirty="0"/>
          </a:p>
          <a:p>
            <a:pPr indent="0" marL="0">
              <a:buNone/>
            </a:pPr>
            <a:endParaRPr lang="de-DE" sz="1100" dirty="0"/>
          </a:p>
          <a:p>
            <a:pPr indent="0" marL="0">
              <a:buNone/>
            </a:pPr>
            <a:r>
              <a:rPr lang="de-DE" altLang="en-US" sz="1100" dirty="0">
                <a:solidFill>
                  <a:srgbClr val="A9BBD0"/>
                </a:solidFill>
                <a:latin typeface="Segoe UI" pitchFamily="34" charset="0"/>
                <a:ea typeface="Segoe UI" pitchFamily="34" charset="-122"/>
                <a:cs typeface="Segoe UI" pitchFamily="34" charset="-120"/>
              </a:rPr>
              <a:t>Ziel: Schadenaufwand ÷ Exposure</a:t>
            </a:r>
            <a:endParaRPr lang="de-DE" sz="1100" dirty="0"/>
          </a:p>
          <a:p>
            <a:pPr indent="0" marL="0">
              <a:buNone/>
            </a:pPr>
            <a:r>
              <a:rPr lang="de-DE" altLang="en-US" sz="1100" dirty="0">
                <a:solidFill>
                  <a:srgbClr val="A9BBD0"/>
                </a:solidFill>
                <a:latin typeface="Segoe UI" pitchFamily="34" charset="0"/>
                <a:ea typeface="Segoe UI" pitchFamily="34" charset="-122"/>
                <a:cs typeface="Segoe UI" pitchFamily="34" charset="-120"/>
              </a:rPr>
              <a:t>Gewichtung: Exposure</a:t>
            </a:r>
            <a:endParaRPr lang="de-DE" sz="1100" dirty="0"/>
          </a:p>
          <a:p>
            <a:pPr indent="0" marL="0">
              <a:buNone/>
            </a:pPr>
            <a:r>
              <a:rPr lang="de-DE" altLang="en-US" sz="1100" dirty="0">
                <a:solidFill>
                  <a:srgbClr val="A9BBD0"/>
                </a:solidFill>
                <a:latin typeface="Segoe UI" pitchFamily="34" charset="0"/>
                <a:ea typeface="Segoe UI" pitchFamily="34" charset="-122"/>
                <a:cs typeface="Segoe UI" pitchFamily="34" charset="-120"/>
              </a:rPr>
              <a:t>Basis: Policen mit beobachtbarem Schadenaufwand</a:t>
            </a:r>
            <a:endParaRPr lang="de-DE" sz="1100" dirty="0"/>
          </a:p>
        </p:txBody>
      </p:sp>
      <p:sp>
        <p:nvSpPr>
          <p:cNvPr id="44" name="Text 38"/>
          <p:cNvSpPr txBox="1"/>
          <p:nvPr/>
        </p:nvSpPr>
        <p:spPr>
          <a:xfrm>
            <a:off x="8659368" y="4919472"/>
            <a:ext cx="1097280" cy="201168"/>
          </a:xfrm>
          <a:prstGeom prst="rect">
            <a:avLst/>
          </a:prstGeom>
          <a:noFill/>
          <a:ln/>
        </p:spPr>
        <p:txBody>
          <a:bodyPr wrap="square" lIns="0" tIns="0" rIns="0" bIns="0" rtlCol="0" anchor="t"/>
          <a:lstStyle/>
          <a:p>
            <a:pPr indent="0" marL="0">
              <a:buNone/>
            </a:pPr>
            <a:r>
              <a:rPr lang="de-DE" altLang="en-US" sz="850" b="1" spc="200" kern="0" dirty="0">
                <a:solidFill>
                  <a:srgbClr val="7389A6"/>
                </a:solidFill>
                <a:latin typeface="Segoe UI" pitchFamily="34" charset="0"/>
                <a:ea typeface="Segoe UI" pitchFamily="34" charset="-122"/>
                <a:cs typeface="Segoe UI" pitchFamily="34" charset="-120"/>
              </a:rPr>
              <a:t>ROLLE</a:t>
            </a:r>
            <a:endParaRPr lang="de-DE" sz="850" dirty="0"/>
          </a:p>
        </p:txBody>
      </p:sp>
      <p:sp>
        <p:nvSpPr>
          <p:cNvPr id="45" name="Text 39"/>
          <p:cNvSpPr txBox="1"/>
          <p:nvPr/>
        </p:nvSpPr>
        <p:spPr>
          <a:xfrm>
            <a:off x="8659368" y="5120640"/>
            <a:ext cx="2779776" cy="384048"/>
          </a:xfrm>
          <a:prstGeom prst="rect">
            <a:avLst/>
          </a:prstGeom>
          <a:noFill/>
          <a:ln/>
        </p:spPr>
        <p:txBody>
          <a:bodyPr wrap="square" lIns="0" tIns="0" rIns="0" bIns="0" rtlCol="0" anchor="t"/>
          <a:lstStyle/>
          <a:p>
            <a:pPr indent="0" marL="0">
              <a:buNone/>
            </a:pPr>
            <a:r>
              <a:rPr lang="de-DE" altLang="en-US" sz="1150" dirty="0">
                <a:solidFill>
                  <a:srgbClr val="2DD4BF"/>
                </a:solidFill>
                <a:latin typeface="Segoe UI Semibold" pitchFamily="34" charset="0"/>
                <a:ea typeface="Segoe UI Semibold" pitchFamily="34" charset="-122"/>
                <a:cs typeface="Segoe UI Semibold" pitchFamily="34" charset="-120"/>
              </a:rPr>
              <a:t>Zentraler Risikoscore für Ranking, Deciles &amp; Segmentierung</a:t>
            </a:r>
            <a:endParaRPr lang="de-DE" sz="1150" dirty="0"/>
          </a:p>
        </p:txBody>
      </p:sp>
      <p:sp>
        <p:nvSpPr>
          <p:cNvPr id="46" name="Shape 40"/>
          <p:cNvSpPr/>
          <p:nvPr/>
        </p:nvSpPr>
        <p:spPr>
          <a:xfrm>
            <a:off x="548640" y="5760720"/>
            <a:ext cx="11091672" cy="521208"/>
          </a:xfrm>
          <a:prstGeom prst="roundRect">
            <a:avLst>
              <a:gd name="adj" fmla="val 21053"/>
            </a:avLst>
          </a:prstGeom>
          <a:solidFill>
            <a:srgbClr val="10213F">
              <a:alpha val="75000"/>
            </a:srgbClr>
          </a:solidFill>
          <a:ln w="12700">
            <a:solidFill>
              <a:srgbClr val="1E3A5F"/>
            </a:solidFill>
            <a:prstDash val="solid"/>
          </a:ln>
        </p:spPr>
      </p:sp>
      <p:pic>
        <p:nvPicPr>
          <p:cNvPr id="47" name="Image 4" descr="preencoded.png">    </p:cNvPr>
          <p:cNvPicPr>
            <a:picLocks noChangeAspect="1"/>
          </p:cNvPicPr>
          <p:nvPr/>
        </p:nvPicPr>
        <p:blipFill>
          <a:blip r:embed="rId6"/>
          <a:stretch>
            <a:fillRect/>
          </a:stretch>
        </p:blipFill>
        <p:spPr>
          <a:xfrm>
            <a:off x="731520" y="5888736"/>
            <a:ext cx="256032" cy="256032"/>
          </a:xfrm>
          <a:prstGeom prst="rect">
            <a:avLst/>
          </a:prstGeom>
        </p:spPr>
      </p:pic>
      <p:sp>
        <p:nvSpPr>
          <p:cNvPr id="48" name="Text 41"/>
          <p:cNvSpPr txBox="1"/>
          <p:nvPr/>
        </p:nvSpPr>
        <p:spPr>
          <a:xfrm>
            <a:off x="1078992" y="5797296"/>
            <a:ext cx="3108960" cy="457200"/>
          </a:xfrm>
          <a:prstGeom prst="rect">
            <a:avLst/>
          </a:prstGeom>
          <a:noFill/>
          <a:ln/>
        </p:spPr>
        <p:txBody>
          <a:bodyPr wrap="square" lIns="0" tIns="0" rIns="0" bIns="0" rtlCol="0" anchor="ctr"/>
          <a:lstStyle/>
          <a:p>
            <a:pPr indent="0" marL="0">
              <a:buNone/>
            </a:pPr>
            <a:r>
              <a:rPr lang="de-DE" altLang="en-US" sz="1050" dirty="0">
                <a:solidFill>
                  <a:srgbClr val="EEF4FB"/>
                </a:solidFill>
                <a:latin typeface="Segoe UI" pitchFamily="34" charset="0"/>
                <a:ea typeface="Segoe UI" pitchFamily="34" charset="-122"/>
                <a:cs typeface="Segoe UI" pitchFamily="34" charset="-120"/>
              </a:rPr>
              <a:t>Erklärbare GLMs mit Splines für nichtlineare Effekte</a:t>
            </a:r>
            <a:endParaRPr lang="de-DE" sz="1050" dirty="0"/>
          </a:p>
        </p:txBody>
      </p:sp>
      <p:pic>
        <p:nvPicPr>
          <p:cNvPr id="49" name="Image 5" descr="preencoded.png">    </p:cNvPr>
          <p:cNvPicPr>
            <a:picLocks noChangeAspect="1"/>
          </p:cNvPicPr>
          <p:nvPr/>
        </p:nvPicPr>
        <p:blipFill>
          <a:blip r:embed="rId7"/>
          <a:stretch>
            <a:fillRect/>
          </a:stretch>
        </p:blipFill>
        <p:spPr>
          <a:xfrm>
            <a:off x="4425696" y="5888736"/>
            <a:ext cx="256032" cy="256032"/>
          </a:xfrm>
          <a:prstGeom prst="rect">
            <a:avLst/>
          </a:prstGeom>
        </p:spPr>
      </p:pic>
      <p:sp>
        <p:nvSpPr>
          <p:cNvPr id="50" name="Text 42"/>
          <p:cNvSpPr txBox="1"/>
          <p:nvPr/>
        </p:nvSpPr>
        <p:spPr>
          <a:xfrm>
            <a:off x="4773168" y="5797296"/>
            <a:ext cx="3108960" cy="457200"/>
          </a:xfrm>
          <a:prstGeom prst="rect">
            <a:avLst/>
          </a:prstGeom>
          <a:noFill/>
          <a:ln/>
        </p:spPr>
        <p:txBody>
          <a:bodyPr wrap="square" lIns="0" tIns="0" rIns="0" bIns="0" rtlCol="0" anchor="ctr"/>
          <a:lstStyle/>
          <a:p>
            <a:pPr indent="0" marL="0">
              <a:buNone/>
            </a:pPr>
            <a:r>
              <a:rPr lang="de-DE" altLang="en-US" sz="1050" dirty="0">
                <a:solidFill>
                  <a:srgbClr val="EEF4FB"/>
                </a:solidFill>
                <a:latin typeface="Segoe UI" pitchFamily="34" charset="0"/>
                <a:ea typeface="Segoe UI" pitchFamily="34" charset="-122"/>
                <a:cs typeface="Segoe UI" pitchFamily="34" charset="-120"/>
              </a:rPr>
              <a:t>Wichtigste Treiber: Bonus-Malus, Fahrzeug- und Fahreralter</a:t>
            </a:r>
            <a:endParaRPr lang="de-DE" sz="1050" dirty="0"/>
          </a:p>
        </p:txBody>
      </p:sp>
      <p:pic>
        <p:nvPicPr>
          <p:cNvPr id="51" name="Image 6" descr="preencoded.png">    </p:cNvPr>
          <p:cNvPicPr>
            <a:picLocks noChangeAspect="1"/>
          </p:cNvPicPr>
          <p:nvPr/>
        </p:nvPicPr>
        <p:blipFill>
          <a:blip r:embed="rId8"/>
          <a:stretch>
            <a:fillRect/>
          </a:stretch>
        </p:blipFill>
        <p:spPr>
          <a:xfrm>
            <a:off x="8119872" y="5888736"/>
            <a:ext cx="256032" cy="256032"/>
          </a:xfrm>
          <a:prstGeom prst="rect">
            <a:avLst/>
          </a:prstGeom>
        </p:spPr>
      </p:pic>
      <p:sp>
        <p:nvSpPr>
          <p:cNvPr id="52" name="Text 43"/>
          <p:cNvSpPr txBox="1"/>
          <p:nvPr/>
        </p:nvSpPr>
        <p:spPr>
          <a:xfrm>
            <a:off x="8467344" y="5797296"/>
            <a:ext cx="3108960" cy="457200"/>
          </a:xfrm>
          <a:prstGeom prst="rect">
            <a:avLst/>
          </a:prstGeom>
          <a:noFill/>
          <a:ln/>
        </p:spPr>
        <p:txBody>
          <a:bodyPr wrap="square" lIns="0" tIns="0" rIns="0" bIns="0" rtlCol="0" anchor="ctr"/>
          <a:lstStyle/>
          <a:p>
            <a:pPr indent="0" marL="0">
              <a:buNone/>
            </a:pPr>
            <a:r>
              <a:rPr lang="de-DE" altLang="en-US" sz="1050" dirty="0">
                <a:solidFill>
                  <a:srgbClr val="EEF4FB"/>
                </a:solidFill>
                <a:latin typeface="Segoe UI" pitchFamily="34" charset="0"/>
                <a:ea typeface="Segoe UI" pitchFamily="34" charset="-122"/>
                <a:cs typeface="Segoe UI" pitchFamily="34" charset="-120"/>
              </a:rPr>
              <a:t>Kein Winner-takes-all – klare Rollen</a:t>
            </a:r>
            <a:endParaRPr lang="de-DE"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EVALUATION</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Frequency überzeugt – Severity bleibt begrenzt</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9 / 19</a:t>
            </a:r>
            <a:endParaRPr lang="de-DE" sz="900" dirty="0"/>
          </a:p>
        </p:txBody>
      </p:sp>
      <p:sp>
        <p:nvSpPr>
          <p:cNvPr id="6" name="Shape 4"/>
          <p:cNvSpPr/>
          <p:nvPr/>
        </p:nvSpPr>
        <p:spPr>
          <a:xfrm>
            <a:off x="548640" y="1572768"/>
            <a:ext cx="5440680" cy="3639312"/>
          </a:xfrm>
          <a:prstGeom prst="roundRect">
            <a:avLst>
              <a:gd name="adj" fmla="val 3015"/>
            </a:avLst>
          </a:prstGeom>
          <a:solidFill>
            <a:srgbClr val="10213F">
              <a:alpha val="92000"/>
            </a:srgbClr>
          </a:solidFill>
          <a:ln w="12700">
            <a:solidFill>
              <a:srgbClr val="1E3A5F"/>
            </a:solidFill>
            <a:prstDash val="solid"/>
          </a:ln>
        </p:spPr>
      </p:sp>
      <p:sp>
        <p:nvSpPr>
          <p:cNvPr id="7" name="Shape 5"/>
          <p:cNvSpPr/>
          <p:nvPr/>
        </p:nvSpPr>
        <p:spPr>
          <a:xfrm>
            <a:off x="777240" y="1773936"/>
            <a:ext cx="512064" cy="512064"/>
          </a:xfrm>
          <a:prstGeom prst="ellipse">
            <a:avLst/>
          </a:prstGeom>
          <a:solidFill>
            <a:srgbClr val="0E2A47"/>
          </a:solidFill>
          <a:ln w="12700">
            <a:solidFill>
              <a:srgbClr val="38BDF8">
                <a:alpha val="55000"/>
              </a:srgbClr>
            </a:solidFill>
            <a:prstDash val="solid"/>
          </a:ln>
        </p:spPr>
      </p:sp>
      <p:pic>
        <p:nvPicPr>
          <p:cNvPr id="8" name="Image 0" descr="preencoded.png">    </p:cNvPr>
          <p:cNvPicPr>
            <a:picLocks noChangeAspect="1"/>
          </p:cNvPicPr>
          <p:nvPr/>
        </p:nvPicPr>
        <p:blipFill>
          <a:blip r:embed="rId2"/>
          <a:stretch>
            <a:fillRect/>
          </a:stretch>
        </p:blipFill>
        <p:spPr>
          <a:xfrm>
            <a:off x="905256" y="1901952"/>
            <a:ext cx="256032" cy="256032"/>
          </a:xfrm>
          <a:prstGeom prst="rect">
            <a:avLst/>
          </a:prstGeom>
        </p:spPr>
      </p:pic>
      <p:sp>
        <p:nvSpPr>
          <p:cNvPr id="9" name="Text 6"/>
          <p:cNvSpPr txBox="1"/>
          <p:nvPr/>
        </p:nvSpPr>
        <p:spPr>
          <a:xfrm>
            <a:off x="1417320" y="1755648"/>
            <a:ext cx="2926080" cy="310896"/>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Frequency · Poisson-GLM</a:t>
            </a:r>
            <a:endParaRPr lang="de-DE" sz="1500" dirty="0"/>
          </a:p>
        </p:txBody>
      </p:sp>
      <p:sp>
        <p:nvSpPr>
          <p:cNvPr id="10" name="Text 7"/>
          <p:cNvSpPr txBox="1"/>
          <p:nvPr/>
        </p:nvSpPr>
        <p:spPr>
          <a:xfrm>
            <a:off x="1417320" y="2048256"/>
            <a:ext cx="3017520" cy="256032"/>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Holdout: 135.603 Policen</a:t>
            </a:r>
            <a:endParaRPr lang="de-DE" sz="1050" dirty="0"/>
          </a:p>
        </p:txBody>
      </p:sp>
      <p:sp>
        <p:nvSpPr>
          <p:cNvPr id="11" name="Shape 8"/>
          <p:cNvSpPr/>
          <p:nvPr/>
        </p:nvSpPr>
        <p:spPr>
          <a:xfrm>
            <a:off x="4160520" y="1847088"/>
            <a:ext cx="1600200" cy="310896"/>
          </a:xfrm>
          <a:prstGeom prst="roundRect">
            <a:avLst>
              <a:gd name="adj" fmla="val 50000"/>
            </a:avLst>
          </a:prstGeom>
          <a:solidFill>
            <a:srgbClr val="34D399">
              <a:alpha val="18000"/>
            </a:srgbClr>
          </a:solidFill>
          <a:ln w="12700">
            <a:solidFill>
              <a:srgbClr val="34D399"/>
            </a:solidFill>
            <a:prstDash val="solid"/>
          </a:ln>
        </p:spPr>
      </p:sp>
      <p:sp>
        <p:nvSpPr>
          <p:cNvPr id="12" name="Text 9"/>
          <p:cNvSpPr txBox="1"/>
          <p:nvPr/>
        </p:nvSpPr>
        <p:spPr>
          <a:xfrm>
            <a:off x="4160520" y="1847088"/>
            <a:ext cx="1600200" cy="310896"/>
          </a:xfrm>
          <a:prstGeom prst="rect">
            <a:avLst/>
          </a:prstGeom>
          <a:noFill/>
          <a:ln/>
        </p:spPr>
        <p:txBody>
          <a:bodyPr wrap="square" lIns="0" tIns="0" rIns="0" bIns="0" rtlCol="0" anchor="ctr"/>
          <a:lstStyle/>
          <a:p>
            <a:pPr algn="ctr" indent="0" marL="0">
              <a:buNone/>
            </a:pPr>
            <a:r>
              <a:rPr lang="de-DE" altLang="en-US" sz="1000" dirty="0">
                <a:solidFill>
                  <a:srgbClr val="34D399"/>
                </a:solidFill>
                <a:latin typeface="Segoe UI Semibold" pitchFamily="34" charset="0"/>
                <a:ea typeface="Segoe UI Semibold" pitchFamily="34" charset="-122"/>
                <a:cs typeface="Segoe UI Semibold" pitchFamily="34" charset="-120"/>
              </a:rPr>
              <a:t>Stabilste Komponente</a:t>
            </a:r>
            <a:endParaRPr lang="de-DE" sz="1000" dirty="0"/>
          </a:p>
        </p:txBody>
      </p:sp>
      <p:sp>
        <p:nvSpPr>
          <p:cNvPr id="13" name="Shape 10"/>
          <p:cNvSpPr/>
          <p:nvPr/>
        </p:nvSpPr>
        <p:spPr>
          <a:xfrm>
            <a:off x="777240" y="2532888"/>
            <a:ext cx="1569720" cy="1627632"/>
          </a:xfrm>
          <a:prstGeom prst="roundRect">
            <a:avLst>
              <a:gd name="adj" fmla="val 5825"/>
            </a:avLst>
          </a:prstGeom>
          <a:solidFill>
            <a:srgbClr val="0B2440"/>
          </a:solidFill>
          <a:ln w="9525">
            <a:solidFill>
              <a:srgbClr val="1E3A5F"/>
            </a:solidFill>
            <a:prstDash val="solid"/>
          </a:ln>
        </p:spPr>
      </p:sp>
      <p:sp>
        <p:nvSpPr>
          <p:cNvPr id="14" name="Text 11"/>
          <p:cNvSpPr txBox="1"/>
          <p:nvPr/>
        </p:nvSpPr>
        <p:spPr>
          <a:xfrm>
            <a:off x="886968" y="2660904"/>
            <a:ext cx="1350264" cy="438912"/>
          </a:xfrm>
          <a:prstGeom prst="rect">
            <a:avLst/>
          </a:prstGeom>
          <a:noFill/>
          <a:ln/>
        </p:spPr>
        <p:txBody>
          <a:bodyPr wrap="square" lIns="0" tIns="0" rIns="0" bIns="0" rtlCol="0" anchor="ctr">
            <a:normAutofit/>
          </a:bodyPr>
          <a:lstStyle/>
          <a:p>
            <a:pPr indent="0" marL="0">
              <a:buNone/>
            </a:pPr>
            <a:r>
              <a:rPr lang="de-DE" altLang="en-US" sz="2200" dirty="0">
                <a:solidFill>
                  <a:srgbClr val="EEF4FB"/>
                </a:solidFill>
                <a:latin typeface="Segoe UI Semibold" pitchFamily="34" charset="0"/>
                <a:ea typeface="Segoe UI Semibold" pitchFamily="34" charset="-122"/>
                <a:cs typeface="Segoe UI Semibold" pitchFamily="34" charset="-120"/>
              </a:rPr>
              <a:t>−0,25 %</a:t>
            </a:r>
            <a:endParaRPr lang="de-DE" sz="2200" dirty="0"/>
          </a:p>
        </p:txBody>
      </p:sp>
      <p:sp>
        <p:nvSpPr>
          <p:cNvPr id="15" name="Text 12"/>
          <p:cNvSpPr txBox="1"/>
          <p:nvPr/>
        </p:nvSpPr>
        <p:spPr>
          <a:xfrm>
            <a:off x="886968" y="3136392"/>
            <a:ext cx="1350264" cy="256032"/>
          </a:xfrm>
          <a:prstGeom prst="rect">
            <a:avLst/>
          </a:prstGeom>
          <a:noFill/>
          <a:ln/>
        </p:spPr>
        <p:txBody>
          <a:bodyPr wrap="square" lIns="0" tIns="0" rIns="0" bIns="0" rtlCol="0" anchor="t"/>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Portfolio-Abweichung</a:t>
            </a:r>
            <a:endParaRPr lang="de-DE" sz="1050" dirty="0"/>
          </a:p>
        </p:txBody>
      </p:sp>
      <p:sp>
        <p:nvSpPr>
          <p:cNvPr id="16" name="Text 13"/>
          <p:cNvSpPr txBox="1"/>
          <p:nvPr/>
        </p:nvSpPr>
        <p:spPr>
          <a:xfrm>
            <a:off x="886968" y="3401568"/>
            <a:ext cx="1350264" cy="53035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7.218 prognostiziert vs. 7.236 beobachtet</a:t>
            </a:r>
            <a:endParaRPr lang="de-DE" sz="950" dirty="0"/>
          </a:p>
        </p:txBody>
      </p:sp>
      <p:sp>
        <p:nvSpPr>
          <p:cNvPr id="17" name="Shape 14"/>
          <p:cNvSpPr/>
          <p:nvPr/>
        </p:nvSpPr>
        <p:spPr>
          <a:xfrm>
            <a:off x="2484120" y="2532888"/>
            <a:ext cx="1569720" cy="1627632"/>
          </a:xfrm>
          <a:prstGeom prst="roundRect">
            <a:avLst>
              <a:gd name="adj" fmla="val 5825"/>
            </a:avLst>
          </a:prstGeom>
          <a:solidFill>
            <a:srgbClr val="0B2440"/>
          </a:solidFill>
          <a:ln w="9525">
            <a:solidFill>
              <a:srgbClr val="1E3A5F"/>
            </a:solidFill>
            <a:prstDash val="solid"/>
          </a:ln>
        </p:spPr>
      </p:sp>
      <p:sp>
        <p:nvSpPr>
          <p:cNvPr id="18" name="Text 15"/>
          <p:cNvSpPr txBox="1"/>
          <p:nvPr/>
        </p:nvSpPr>
        <p:spPr>
          <a:xfrm>
            <a:off x="2593848" y="2660904"/>
            <a:ext cx="1350264" cy="438912"/>
          </a:xfrm>
          <a:prstGeom prst="rect">
            <a:avLst/>
          </a:prstGeom>
          <a:noFill/>
          <a:ln/>
        </p:spPr>
        <p:txBody>
          <a:bodyPr wrap="square" lIns="0" tIns="0" rIns="0" bIns="0" rtlCol="0" anchor="ctr">
            <a:normAutofit/>
          </a:bodyPr>
          <a:lstStyle/>
          <a:p>
            <a:pPr indent="0" marL="0">
              <a:buNone/>
            </a:pPr>
            <a:r>
              <a:rPr lang="de-DE" altLang="en-US" sz="2200" dirty="0">
                <a:solidFill>
                  <a:srgbClr val="EEF4FB"/>
                </a:solidFill>
                <a:latin typeface="Segoe UI Semibold" pitchFamily="34" charset="0"/>
                <a:ea typeface="Segoe UI Semibold" pitchFamily="34" charset="-122"/>
                <a:cs typeface="Segoe UI Semibold" pitchFamily="34" charset="-120"/>
              </a:rPr>
              <a:t>0,290</a:t>
            </a:r>
            <a:endParaRPr lang="de-DE" sz="2200" dirty="0"/>
          </a:p>
        </p:txBody>
      </p:sp>
      <p:sp>
        <p:nvSpPr>
          <p:cNvPr id="19" name="Text 16"/>
          <p:cNvSpPr txBox="1"/>
          <p:nvPr/>
        </p:nvSpPr>
        <p:spPr>
          <a:xfrm>
            <a:off x="2593848" y="3136392"/>
            <a:ext cx="1350264" cy="256032"/>
          </a:xfrm>
          <a:prstGeom prst="rect">
            <a:avLst/>
          </a:prstGeom>
          <a:noFill/>
          <a:ln/>
        </p:spPr>
        <p:txBody>
          <a:bodyPr wrap="square" lIns="0" tIns="0" rIns="0" bIns="0" rtlCol="0" anchor="t"/>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Gini</a:t>
            </a:r>
            <a:endParaRPr lang="de-DE" sz="1050" dirty="0"/>
          </a:p>
        </p:txBody>
      </p:sp>
      <p:sp>
        <p:nvSpPr>
          <p:cNvPr id="20" name="Text 17"/>
          <p:cNvSpPr txBox="1"/>
          <p:nvPr/>
        </p:nvSpPr>
        <p:spPr>
          <a:xfrm>
            <a:off x="2593848" y="3401568"/>
            <a:ext cx="1350264" cy="53035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brauchbare Risikorangfolge</a:t>
            </a:r>
            <a:endParaRPr lang="de-DE" sz="950" dirty="0"/>
          </a:p>
        </p:txBody>
      </p:sp>
      <p:sp>
        <p:nvSpPr>
          <p:cNvPr id="21" name="Shape 18"/>
          <p:cNvSpPr/>
          <p:nvPr/>
        </p:nvSpPr>
        <p:spPr>
          <a:xfrm>
            <a:off x="4191000" y="2532888"/>
            <a:ext cx="1569720" cy="1627632"/>
          </a:xfrm>
          <a:prstGeom prst="roundRect">
            <a:avLst>
              <a:gd name="adj" fmla="val 5825"/>
            </a:avLst>
          </a:prstGeom>
          <a:solidFill>
            <a:srgbClr val="0B2440"/>
          </a:solidFill>
          <a:ln w="9525">
            <a:solidFill>
              <a:srgbClr val="1E3A5F"/>
            </a:solidFill>
            <a:prstDash val="solid"/>
          </a:ln>
        </p:spPr>
      </p:sp>
      <p:sp>
        <p:nvSpPr>
          <p:cNvPr id="22" name="Text 19"/>
          <p:cNvSpPr txBox="1"/>
          <p:nvPr/>
        </p:nvSpPr>
        <p:spPr>
          <a:xfrm>
            <a:off x="4300728" y="2660904"/>
            <a:ext cx="1350264" cy="438912"/>
          </a:xfrm>
          <a:prstGeom prst="rect">
            <a:avLst/>
          </a:prstGeom>
          <a:noFill/>
          <a:ln/>
        </p:spPr>
        <p:txBody>
          <a:bodyPr wrap="square" lIns="0" tIns="0" rIns="0" bIns="0" rtlCol="0" anchor="ctr">
            <a:normAutofit/>
          </a:bodyPr>
          <a:lstStyle/>
          <a:p>
            <a:pPr indent="0" marL="0">
              <a:buNone/>
            </a:pPr>
            <a:r>
              <a:rPr lang="de-DE" altLang="en-US" sz="2200" dirty="0">
                <a:solidFill>
                  <a:srgbClr val="34D399"/>
                </a:solidFill>
                <a:latin typeface="Segoe UI Semibold" pitchFamily="34" charset="0"/>
                <a:ea typeface="Segoe UI Semibold" pitchFamily="34" charset="-122"/>
                <a:cs typeface="Segoe UI Semibold" pitchFamily="34" charset="-120"/>
              </a:rPr>
              <a:t>5,3 %</a:t>
            </a:r>
            <a:endParaRPr lang="de-DE" sz="2200" dirty="0"/>
          </a:p>
        </p:txBody>
      </p:sp>
      <p:sp>
        <p:nvSpPr>
          <p:cNvPr id="23" name="Text 20"/>
          <p:cNvSpPr txBox="1"/>
          <p:nvPr/>
        </p:nvSpPr>
        <p:spPr>
          <a:xfrm>
            <a:off x="4300728" y="3136392"/>
            <a:ext cx="1350264" cy="256032"/>
          </a:xfrm>
          <a:prstGeom prst="rect">
            <a:avLst/>
          </a:prstGeom>
          <a:noFill/>
          <a:ln/>
        </p:spPr>
        <p:txBody>
          <a:bodyPr wrap="square" lIns="0" tIns="0" rIns="0" bIns="0" rtlCol="0" anchor="t"/>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besser als Baseline</a:t>
            </a:r>
            <a:endParaRPr lang="de-DE" sz="1050" dirty="0"/>
          </a:p>
        </p:txBody>
      </p:sp>
      <p:sp>
        <p:nvSpPr>
          <p:cNvPr id="24" name="Text 21"/>
          <p:cNvSpPr txBox="1"/>
          <p:nvPr/>
        </p:nvSpPr>
        <p:spPr>
          <a:xfrm>
            <a:off x="4300728" y="3401568"/>
            <a:ext cx="1350264" cy="53035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Deviance 0,593 vs. 0,626</a:t>
            </a:r>
            <a:endParaRPr lang="de-DE" sz="950" dirty="0"/>
          </a:p>
        </p:txBody>
      </p:sp>
      <p:pic>
        <p:nvPicPr>
          <p:cNvPr id="25" name="Image 1" descr="preencoded.png">    </p:cNvPr>
          <p:cNvPicPr>
            <a:picLocks noChangeAspect="1"/>
          </p:cNvPicPr>
          <p:nvPr/>
        </p:nvPicPr>
        <p:blipFill>
          <a:blip r:embed="rId3"/>
          <a:stretch>
            <a:fillRect/>
          </a:stretch>
        </p:blipFill>
        <p:spPr>
          <a:xfrm>
            <a:off x="804672" y="4517136"/>
            <a:ext cx="274320" cy="274320"/>
          </a:xfrm>
          <a:prstGeom prst="rect">
            <a:avLst/>
          </a:prstGeom>
        </p:spPr>
      </p:pic>
      <p:sp>
        <p:nvSpPr>
          <p:cNvPr id="26" name="Text 22"/>
          <p:cNvSpPr txBox="1"/>
          <p:nvPr/>
        </p:nvSpPr>
        <p:spPr>
          <a:xfrm>
            <a:off x="1207008" y="4315968"/>
            <a:ext cx="4526280" cy="685800"/>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Trifft das Portfolio-Niveau nahezu exakt und sortiert Risiken sinnvoll.</a:t>
            </a:r>
            <a:endParaRPr lang="de-DE" sz="1250" dirty="0"/>
          </a:p>
        </p:txBody>
      </p:sp>
      <p:sp>
        <p:nvSpPr>
          <p:cNvPr id="27" name="Shape 23"/>
          <p:cNvSpPr/>
          <p:nvPr/>
        </p:nvSpPr>
        <p:spPr>
          <a:xfrm>
            <a:off x="6199632" y="1572768"/>
            <a:ext cx="5440680" cy="3639312"/>
          </a:xfrm>
          <a:prstGeom prst="roundRect">
            <a:avLst>
              <a:gd name="adj" fmla="val 3015"/>
            </a:avLst>
          </a:prstGeom>
          <a:solidFill>
            <a:srgbClr val="10213F">
              <a:alpha val="92000"/>
            </a:srgbClr>
          </a:solidFill>
          <a:ln w="12700">
            <a:solidFill>
              <a:srgbClr val="1E3A5F"/>
            </a:solidFill>
            <a:prstDash val="solid"/>
          </a:ln>
        </p:spPr>
      </p:sp>
      <p:sp>
        <p:nvSpPr>
          <p:cNvPr id="28" name="Shape 24"/>
          <p:cNvSpPr/>
          <p:nvPr/>
        </p:nvSpPr>
        <p:spPr>
          <a:xfrm>
            <a:off x="6428232" y="1773936"/>
            <a:ext cx="512064" cy="512064"/>
          </a:xfrm>
          <a:prstGeom prst="ellipse">
            <a:avLst/>
          </a:prstGeom>
          <a:solidFill>
            <a:srgbClr val="0E2A47"/>
          </a:solidFill>
          <a:ln w="12700">
            <a:solidFill>
              <a:srgbClr val="A78BFA">
                <a:alpha val="55000"/>
              </a:srgbClr>
            </a:solidFill>
            <a:prstDash val="solid"/>
          </a:ln>
        </p:spPr>
      </p:sp>
      <p:pic>
        <p:nvPicPr>
          <p:cNvPr id="29" name="Image 2" descr="preencoded.png">    </p:cNvPr>
          <p:cNvPicPr>
            <a:picLocks noChangeAspect="1"/>
          </p:cNvPicPr>
          <p:nvPr/>
        </p:nvPicPr>
        <p:blipFill>
          <a:blip r:embed="rId4"/>
          <a:stretch>
            <a:fillRect/>
          </a:stretch>
        </p:blipFill>
        <p:spPr>
          <a:xfrm>
            <a:off x="6556248" y="1901952"/>
            <a:ext cx="256032" cy="256032"/>
          </a:xfrm>
          <a:prstGeom prst="rect">
            <a:avLst/>
          </a:prstGeom>
        </p:spPr>
      </p:pic>
      <p:sp>
        <p:nvSpPr>
          <p:cNvPr id="30" name="Text 25"/>
          <p:cNvSpPr txBox="1"/>
          <p:nvPr/>
        </p:nvSpPr>
        <p:spPr>
          <a:xfrm>
            <a:off x="7068312" y="1755648"/>
            <a:ext cx="2926080" cy="310896"/>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Severity · Gamma-GLM</a:t>
            </a:r>
            <a:endParaRPr lang="de-DE" sz="1500" dirty="0"/>
          </a:p>
        </p:txBody>
      </p:sp>
      <p:sp>
        <p:nvSpPr>
          <p:cNvPr id="31" name="Text 26"/>
          <p:cNvSpPr txBox="1"/>
          <p:nvPr/>
        </p:nvSpPr>
        <p:spPr>
          <a:xfrm>
            <a:off x="7068312" y="2048256"/>
            <a:ext cx="3017520" cy="256032"/>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Holdout: 4.999 Policen · ClaimNb-gewichtet</a:t>
            </a:r>
            <a:endParaRPr lang="de-DE" sz="1050" dirty="0"/>
          </a:p>
        </p:txBody>
      </p:sp>
      <p:sp>
        <p:nvSpPr>
          <p:cNvPr id="32" name="Shape 27"/>
          <p:cNvSpPr/>
          <p:nvPr/>
        </p:nvSpPr>
        <p:spPr>
          <a:xfrm>
            <a:off x="9811512" y="1847088"/>
            <a:ext cx="1600200" cy="310896"/>
          </a:xfrm>
          <a:prstGeom prst="roundRect">
            <a:avLst>
              <a:gd name="adj" fmla="val 50000"/>
            </a:avLst>
          </a:prstGeom>
          <a:solidFill>
            <a:srgbClr val="FBBF24">
              <a:alpha val="18000"/>
            </a:srgbClr>
          </a:solidFill>
          <a:ln w="12700">
            <a:solidFill>
              <a:srgbClr val="FBBF24"/>
            </a:solidFill>
            <a:prstDash val="solid"/>
          </a:ln>
        </p:spPr>
      </p:sp>
      <p:sp>
        <p:nvSpPr>
          <p:cNvPr id="33" name="Text 28"/>
          <p:cNvSpPr txBox="1"/>
          <p:nvPr/>
        </p:nvSpPr>
        <p:spPr>
          <a:xfrm>
            <a:off x="9811512" y="1847088"/>
            <a:ext cx="1600200" cy="310896"/>
          </a:xfrm>
          <a:prstGeom prst="rect">
            <a:avLst/>
          </a:prstGeom>
          <a:noFill/>
          <a:ln/>
        </p:spPr>
        <p:txBody>
          <a:bodyPr wrap="square" lIns="0" tIns="0" rIns="0" bIns="0" rtlCol="0" anchor="ctr"/>
          <a:lstStyle/>
          <a:p>
            <a:pPr algn="ctr" indent="0" marL="0">
              <a:buNone/>
            </a:pPr>
            <a:r>
              <a:rPr lang="de-DE" altLang="en-US" sz="1000" dirty="0">
                <a:solidFill>
                  <a:srgbClr val="FBBF24"/>
                </a:solidFill>
                <a:latin typeface="Segoe UI Semibold" pitchFamily="34" charset="0"/>
                <a:ea typeface="Segoe UI Semibold" pitchFamily="34" charset="-122"/>
                <a:cs typeface="Segoe UI Semibold" pitchFamily="34" charset="-120"/>
              </a:rPr>
              <a:t>Begrenzt</a:t>
            </a:r>
            <a:endParaRPr lang="de-DE" sz="1000" dirty="0"/>
          </a:p>
        </p:txBody>
      </p:sp>
      <p:sp>
        <p:nvSpPr>
          <p:cNvPr id="34" name="Shape 29"/>
          <p:cNvSpPr/>
          <p:nvPr/>
        </p:nvSpPr>
        <p:spPr>
          <a:xfrm>
            <a:off x="6428232" y="2532888"/>
            <a:ext cx="1569720" cy="1627632"/>
          </a:xfrm>
          <a:prstGeom prst="roundRect">
            <a:avLst>
              <a:gd name="adj" fmla="val 5825"/>
            </a:avLst>
          </a:prstGeom>
          <a:solidFill>
            <a:srgbClr val="0B2440"/>
          </a:solidFill>
          <a:ln w="9525">
            <a:solidFill>
              <a:srgbClr val="1E3A5F"/>
            </a:solidFill>
            <a:prstDash val="solid"/>
          </a:ln>
        </p:spPr>
      </p:sp>
      <p:sp>
        <p:nvSpPr>
          <p:cNvPr id="35" name="Text 30"/>
          <p:cNvSpPr txBox="1"/>
          <p:nvPr/>
        </p:nvSpPr>
        <p:spPr>
          <a:xfrm>
            <a:off x="6537960" y="2660904"/>
            <a:ext cx="1350264" cy="438912"/>
          </a:xfrm>
          <a:prstGeom prst="rect">
            <a:avLst/>
          </a:prstGeom>
          <a:noFill/>
          <a:ln/>
        </p:spPr>
        <p:txBody>
          <a:bodyPr wrap="square" lIns="0" tIns="0" rIns="0" bIns="0" rtlCol="0" anchor="ctr">
            <a:normAutofit/>
          </a:bodyPr>
          <a:lstStyle/>
          <a:p>
            <a:pPr indent="0" marL="0">
              <a:buNone/>
            </a:pPr>
            <a:r>
              <a:rPr lang="de-DE" altLang="en-US" sz="2200" dirty="0">
                <a:solidFill>
                  <a:srgbClr val="EEF4FB"/>
                </a:solidFill>
                <a:latin typeface="Segoe UI Semibold" pitchFamily="34" charset="0"/>
                <a:ea typeface="Segoe UI Semibold" pitchFamily="34" charset="-122"/>
                <a:cs typeface="Segoe UI Semibold" pitchFamily="34" charset="-120"/>
              </a:rPr>
              <a:t>+3,99 %</a:t>
            </a:r>
            <a:endParaRPr lang="de-DE" sz="2200" dirty="0"/>
          </a:p>
        </p:txBody>
      </p:sp>
      <p:sp>
        <p:nvSpPr>
          <p:cNvPr id="36" name="Text 31"/>
          <p:cNvSpPr txBox="1"/>
          <p:nvPr/>
        </p:nvSpPr>
        <p:spPr>
          <a:xfrm>
            <a:off x="6537960" y="3136392"/>
            <a:ext cx="1350264" cy="256032"/>
          </a:xfrm>
          <a:prstGeom prst="rect">
            <a:avLst/>
          </a:prstGeom>
          <a:noFill/>
          <a:ln/>
        </p:spPr>
        <p:txBody>
          <a:bodyPr wrap="square" lIns="0" tIns="0" rIns="0" bIns="0" rtlCol="0" anchor="t"/>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Portfolio-Abweichung</a:t>
            </a:r>
            <a:endParaRPr lang="de-DE" sz="1050" dirty="0"/>
          </a:p>
        </p:txBody>
      </p:sp>
      <p:sp>
        <p:nvSpPr>
          <p:cNvPr id="37" name="Text 32"/>
          <p:cNvSpPr txBox="1"/>
          <p:nvPr/>
        </p:nvSpPr>
        <p:spPr>
          <a:xfrm>
            <a:off x="6537960" y="3401568"/>
            <a:ext cx="1350264" cy="53035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2.164 € vs. 2.081 € je Schaden</a:t>
            </a:r>
            <a:endParaRPr lang="de-DE" sz="950" dirty="0"/>
          </a:p>
        </p:txBody>
      </p:sp>
      <p:sp>
        <p:nvSpPr>
          <p:cNvPr id="38" name="Shape 33"/>
          <p:cNvSpPr/>
          <p:nvPr/>
        </p:nvSpPr>
        <p:spPr>
          <a:xfrm>
            <a:off x="8135112" y="2532888"/>
            <a:ext cx="1569720" cy="1627632"/>
          </a:xfrm>
          <a:prstGeom prst="roundRect">
            <a:avLst>
              <a:gd name="adj" fmla="val 5825"/>
            </a:avLst>
          </a:prstGeom>
          <a:solidFill>
            <a:srgbClr val="0B2440"/>
          </a:solidFill>
          <a:ln w="9525">
            <a:solidFill>
              <a:srgbClr val="1E3A5F"/>
            </a:solidFill>
            <a:prstDash val="solid"/>
          </a:ln>
        </p:spPr>
      </p:sp>
      <p:sp>
        <p:nvSpPr>
          <p:cNvPr id="39" name="Text 34"/>
          <p:cNvSpPr txBox="1"/>
          <p:nvPr/>
        </p:nvSpPr>
        <p:spPr>
          <a:xfrm>
            <a:off x="8244840" y="2660904"/>
            <a:ext cx="1350264" cy="438912"/>
          </a:xfrm>
          <a:prstGeom prst="rect">
            <a:avLst/>
          </a:prstGeom>
          <a:noFill/>
          <a:ln/>
        </p:spPr>
        <p:txBody>
          <a:bodyPr wrap="square" lIns="0" tIns="0" rIns="0" bIns="0" rtlCol="0" anchor="ctr">
            <a:normAutofit/>
          </a:bodyPr>
          <a:lstStyle/>
          <a:p>
            <a:pPr indent="0" marL="0">
              <a:buNone/>
            </a:pPr>
            <a:r>
              <a:rPr lang="de-DE" altLang="en-US" sz="2200" dirty="0">
                <a:solidFill>
                  <a:srgbClr val="F87171"/>
                </a:solidFill>
                <a:latin typeface="Segoe UI Semibold" pitchFamily="34" charset="0"/>
                <a:ea typeface="Segoe UI Semibold" pitchFamily="34" charset="-122"/>
                <a:cs typeface="Segoe UI Semibold" pitchFamily="34" charset="-120"/>
              </a:rPr>
              <a:t>0,003</a:t>
            </a:r>
            <a:endParaRPr lang="de-DE" sz="2200" dirty="0"/>
          </a:p>
        </p:txBody>
      </p:sp>
      <p:sp>
        <p:nvSpPr>
          <p:cNvPr id="40" name="Text 35"/>
          <p:cNvSpPr txBox="1"/>
          <p:nvPr/>
        </p:nvSpPr>
        <p:spPr>
          <a:xfrm>
            <a:off x="8244840" y="3136392"/>
            <a:ext cx="1350264" cy="256032"/>
          </a:xfrm>
          <a:prstGeom prst="rect">
            <a:avLst/>
          </a:prstGeom>
          <a:noFill/>
          <a:ln/>
        </p:spPr>
        <p:txBody>
          <a:bodyPr wrap="square" lIns="0" tIns="0" rIns="0" bIns="0" rtlCol="0" anchor="t"/>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Gini</a:t>
            </a:r>
            <a:endParaRPr lang="de-DE" sz="1050" dirty="0"/>
          </a:p>
        </p:txBody>
      </p:sp>
      <p:sp>
        <p:nvSpPr>
          <p:cNvPr id="41" name="Text 36"/>
          <p:cNvSpPr txBox="1"/>
          <p:nvPr/>
        </p:nvSpPr>
        <p:spPr>
          <a:xfrm>
            <a:off x="8244840" y="3401568"/>
            <a:ext cx="1350264" cy="53035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kaum Rangordnung</a:t>
            </a:r>
            <a:endParaRPr lang="de-DE" sz="950" dirty="0"/>
          </a:p>
        </p:txBody>
      </p:sp>
      <p:sp>
        <p:nvSpPr>
          <p:cNvPr id="42" name="Shape 37"/>
          <p:cNvSpPr/>
          <p:nvPr/>
        </p:nvSpPr>
        <p:spPr>
          <a:xfrm>
            <a:off x="9841992" y="2532888"/>
            <a:ext cx="1569720" cy="1627632"/>
          </a:xfrm>
          <a:prstGeom prst="roundRect">
            <a:avLst>
              <a:gd name="adj" fmla="val 5825"/>
            </a:avLst>
          </a:prstGeom>
          <a:solidFill>
            <a:srgbClr val="0B2440"/>
          </a:solidFill>
          <a:ln w="9525">
            <a:solidFill>
              <a:srgbClr val="1E3A5F"/>
            </a:solidFill>
            <a:prstDash val="solid"/>
          </a:ln>
        </p:spPr>
      </p:sp>
      <p:sp>
        <p:nvSpPr>
          <p:cNvPr id="43" name="Text 38"/>
          <p:cNvSpPr txBox="1"/>
          <p:nvPr/>
        </p:nvSpPr>
        <p:spPr>
          <a:xfrm>
            <a:off x="9951720" y="2660904"/>
            <a:ext cx="1350264" cy="438912"/>
          </a:xfrm>
          <a:prstGeom prst="rect">
            <a:avLst/>
          </a:prstGeom>
          <a:noFill/>
          <a:ln/>
        </p:spPr>
        <p:txBody>
          <a:bodyPr wrap="square" lIns="0" tIns="0" rIns="0" bIns="0" rtlCol="0" anchor="ctr">
            <a:normAutofit/>
          </a:bodyPr>
          <a:lstStyle/>
          <a:p>
            <a:pPr indent="0" marL="0">
              <a:buNone/>
            </a:pPr>
            <a:r>
              <a:rPr lang="de-DE" altLang="en-US" sz="2200" dirty="0">
                <a:solidFill>
                  <a:srgbClr val="F87171"/>
                </a:solidFill>
                <a:latin typeface="Segoe UI Semibold" pitchFamily="34" charset="0"/>
                <a:ea typeface="Segoe UI Semibold" pitchFamily="34" charset="-122"/>
                <a:cs typeface="Segoe UI Semibold" pitchFamily="34" charset="-120"/>
              </a:rPr>
              <a:t>1,5 %</a:t>
            </a:r>
            <a:endParaRPr lang="de-DE" sz="2200" dirty="0"/>
          </a:p>
        </p:txBody>
      </p:sp>
      <p:sp>
        <p:nvSpPr>
          <p:cNvPr id="44" name="Text 39"/>
          <p:cNvSpPr txBox="1"/>
          <p:nvPr/>
        </p:nvSpPr>
        <p:spPr>
          <a:xfrm>
            <a:off x="9951720" y="3136392"/>
            <a:ext cx="1350264" cy="256032"/>
          </a:xfrm>
          <a:prstGeom prst="rect">
            <a:avLst/>
          </a:prstGeom>
          <a:noFill/>
          <a:ln/>
        </p:spPr>
        <p:txBody>
          <a:bodyPr wrap="square" lIns="0" tIns="0" rIns="0" bIns="0" rtlCol="0" anchor="t"/>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schlechter als Baseline</a:t>
            </a:r>
            <a:endParaRPr lang="de-DE" sz="1050" dirty="0"/>
          </a:p>
        </p:txBody>
      </p:sp>
      <p:sp>
        <p:nvSpPr>
          <p:cNvPr id="45" name="Text 40"/>
          <p:cNvSpPr txBox="1"/>
          <p:nvPr/>
        </p:nvSpPr>
        <p:spPr>
          <a:xfrm>
            <a:off x="9951720" y="3401568"/>
            <a:ext cx="1350264" cy="530352"/>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Deviance 1,567 vs. 1,544</a:t>
            </a:r>
            <a:endParaRPr lang="de-DE" sz="950" dirty="0"/>
          </a:p>
        </p:txBody>
      </p:sp>
      <p:pic>
        <p:nvPicPr>
          <p:cNvPr id="46" name="Image 3" descr="preencoded.png">    </p:cNvPr>
          <p:cNvPicPr>
            <a:picLocks noChangeAspect="1"/>
          </p:cNvPicPr>
          <p:nvPr/>
        </p:nvPicPr>
        <p:blipFill>
          <a:blip r:embed="rId5"/>
          <a:stretch>
            <a:fillRect/>
          </a:stretch>
        </p:blipFill>
        <p:spPr>
          <a:xfrm>
            <a:off x="6455664" y="4517136"/>
            <a:ext cx="274320" cy="274320"/>
          </a:xfrm>
          <a:prstGeom prst="rect">
            <a:avLst/>
          </a:prstGeom>
        </p:spPr>
      </p:pic>
      <p:sp>
        <p:nvSpPr>
          <p:cNvPr id="47" name="Text 41"/>
          <p:cNvSpPr txBox="1"/>
          <p:nvPr/>
        </p:nvSpPr>
        <p:spPr>
          <a:xfrm>
            <a:off x="6858000" y="4315968"/>
            <a:ext cx="4526280" cy="685800"/>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Trifft das Euro-Niveau, sortiert aber kaum: nur monetäre Komponente – kein eigenständiger Risikoscore.</a:t>
            </a:r>
            <a:endParaRPr lang="de-DE" sz="1250" dirty="0"/>
          </a:p>
        </p:txBody>
      </p:sp>
      <p:sp>
        <p:nvSpPr>
          <p:cNvPr id="48" name="Shape 42"/>
          <p:cNvSpPr/>
          <p:nvPr/>
        </p:nvSpPr>
        <p:spPr>
          <a:xfrm>
            <a:off x="548640" y="5376672"/>
            <a:ext cx="11091672" cy="905256"/>
          </a:xfrm>
          <a:prstGeom prst="roundRect">
            <a:avLst>
              <a:gd name="adj" fmla="val 12121"/>
            </a:avLst>
          </a:prstGeom>
          <a:solidFill>
            <a:srgbClr val="10213F">
              <a:alpha val="80000"/>
            </a:srgbClr>
          </a:solidFill>
          <a:ln w="12700">
            <a:solidFill>
              <a:srgbClr val="1E3A5F"/>
            </a:solidFill>
            <a:prstDash val="solid"/>
          </a:ln>
        </p:spPr>
      </p:sp>
      <p:sp>
        <p:nvSpPr>
          <p:cNvPr id="49" name="Text 43"/>
          <p:cNvSpPr txBox="1"/>
          <p:nvPr/>
        </p:nvSpPr>
        <p:spPr>
          <a:xfrm>
            <a:off x="777240" y="5468112"/>
            <a:ext cx="4572000" cy="219456"/>
          </a:xfrm>
          <a:prstGeom prst="rect">
            <a:avLst/>
          </a:prstGeom>
          <a:noFill/>
          <a:ln/>
        </p:spPr>
        <p:txBody>
          <a:bodyPr wrap="square" lIns="0" tIns="0" rIns="0" bIns="0" rtlCol="0" anchor="t"/>
          <a:lstStyle/>
          <a:p>
            <a:pPr indent="0" marL="0">
              <a:buNone/>
            </a:pPr>
            <a:r>
              <a:rPr lang="de-DE" altLang="en-US" sz="950" b="1" spc="200" kern="0" dirty="0">
                <a:solidFill>
                  <a:srgbClr val="22D3EE"/>
                </a:solidFill>
                <a:latin typeface="Segoe UI" pitchFamily="34" charset="0"/>
                <a:ea typeface="Segoe UI" pitchFamily="34" charset="-122"/>
                <a:cs typeface="Segoe UI" pitchFamily="34" charset="-120"/>
              </a:rPr>
              <a:t>SO LESE ICH DIE KENNZAHLEN</a:t>
            </a:r>
            <a:endParaRPr lang="de-DE" sz="950" dirty="0"/>
          </a:p>
        </p:txBody>
      </p:sp>
      <p:sp>
        <p:nvSpPr>
          <p:cNvPr id="50" name="Text 44"/>
          <p:cNvSpPr txBox="1"/>
          <p:nvPr/>
        </p:nvSpPr>
        <p:spPr>
          <a:xfrm>
            <a:off x="777240" y="5715000"/>
            <a:ext cx="3474720" cy="475488"/>
          </a:xfrm>
          <a:prstGeom prst="rect">
            <a:avLst/>
          </a:prstGeom>
          <a:noFill/>
          <a:ln/>
        </p:spPr>
        <p:txBody>
          <a:bodyPr wrap="square" lIns="0" tIns="0" rIns="0" bIns="0" rtlCol="0" anchor="ctr"/>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Deviance vs. Baseline  </a:t>
            </a:r>
            <a:pPr indent="0" marL="0">
              <a:buNone/>
            </a:pPr>
            <a:r>
              <a:rPr lang="de-DE" altLang="en-US" sz="1050" dirty="0">
                <a:solidFill>
                  <a:srgbClr val="A9BBD0"/>
                </a:solidFill>
                <a:latin typeface="Segoe UI" pitchFamily="34" charset="0"/>
                <a:ea typeface="Segoe UI" pitchFamily="34" charset="-122"/>
                <a:cs typeface="Segoe UI" pitchFamily="34" charset="-120"/>
              </a:rPr>
              <a:t>Besser als ein Durchschnittswert für alle?</a:t>
            </a:r>
            <a:endParaRPr lang="de-DE" sz="1050" dirty="0"/>
          </a:p>
        </p:txBody>
      </p:sp>
      <p:sp>
        <p:nvSpPr>
          <p:cNvPr id="51" name="Text 45"/>
          <p:cNvSpPr txBox="1"/>
          <p:nvPr/>
        </p:nvSpPr>
        <p:spPr>
          <a:xfrm>
            <a:off x="4416552" y="5715000"/>
            <a:ext cx="3474720" cy="475488"/>
          </a:xfrm>
          <a:prstGeom prst="rect">
            <a:avLst/>
          </a:prstGeom>
          <a:noFill/>
          <a:ln/>
        </p:spPr>
        <p:txBody>
          <a:bodyPr wrap="square" lIns="0" tIns="0" rIns="0" bIns="0" rtlCol="0" anchor="ctr"/>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Portfolio-Abweichung  </a:t>
            </a:r>
            <a:pPr indent="0" marL="0">
              <a:buNone/>
            </a:pPr>
            <a:r>
              <a:rPr lang="de-DE" altLang="en-US" sz="1050" dirty="0">
                <a:solidFill>
                  <a:srgbClr val="A9BBD0"/>
                </a:solidFill>
                <a:latin typeface="Segoe UI" pitchFamily="34" charset="0"/>
                <a:ea typeface="Segoe UI" pitchFamily="34" charset="-122"/>
                <a:cs typeface="Segoe UI" pitchFamily="34" charset="-120"/>
              </a:rPr>
              <a:t>Trifft die Summe der Prognosen das beobachtete Niveau?</a:t>
            </a:r>
            <a:endParaRPr lang="de-DE" sz="1050" dirty="0"/>
          </a:p>
        </p:txBody>
      </p:sp>
      <p:sp>
        <p:nvSpPr>
          <p:cNvPr id="52" name="Text 46"/>
          <p:cNvSpPr txBox="1"/>
          <p:nvPr/>
        </p:nvSpPr>
        <p:spPr>
          <a:xfrm>
            <a:off x="8055864" y="5715000"/>
            <a:ext cx="3474720" cy="475488"/>
          </a:xfrm>
          <a:prstGeom prst="rect">
            <a:avLst/>
          </a:prstGeom>
          <a:noFill/>
          <a:ln/>
        </p:spPr>
        <p:txBody>
          <a:bodyPr wrap="square" lIns="0" tIns="0" rIns="0" bIns="0" rtlCol="0" anchor="ctr"/>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Gini  </a:t>
            </a:r>
            <a:pPr indent="0" marL="0">
              <a:buNone/>
            </a:pPr>
            <a:r>
              <a:rPr lang="de-DE" altLang="en-US" sz="1050" dirty="0">
                <a:solidFill>
                  <a:srgbClr val="A9BBD0"/>
                </a:solidFill>
                <a:latin typeface="Segoe UI" pitchFamily="34" charset="0"/>
                <a:ea typeface="Segoe UI" pitchFamily="34" charset="-122"/>
                <a:cs typeface="Segoe UI" pitchFamily="34" charset="-120"/>
              </a:rPr>
              <a:t>Bringt das Modell Risiken in die richtige Reihenfolge?</a:t>
            </a:r>
            <a:endParaRPr lang="de-DE"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MODELLVERGLEICH</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Two-Stage und Tweedie: gleiche Basis, andere Stärken</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10 / 19</a:t>
            </a:r>
            <a:endParaRPr lang="de-DE" sz="900" dirty="0"/>
          </a:p>
        </p:txBody>
      </p:sp>
      <p:sp>
        <p:nvSpPr>
          <p:cNvPr id="6" name="Shape 4"/>
          <p:cNvSpPr/>
          <p:nvPr/>
        </p:nvSpPr>
        <p:spPr>
          <a:xfrm>
            <a:off x="548640" y="1572768"/>
            <a:ext cx="3840480" cy="2286000"/>
          </a:xfrm>
          <a:prstGeom prst="roundRect">
            <a:avLst>
              <a:gd name="adj" fmla="val 4800"/>
            </a:avLst>
          </a:prstGeom>
          <a:solidFill>
            <a:srgbClr val="10213F">
              <a:alpha val="92000"/>
            </a:srgbClr>
          </a:solidFill>
          <a:ln w="12700">
            <a:solidFill>
              <a:srgbClr val="1E3A5F"/>
            </a:solidFill>
            <a:prstDash val="solid"/>
          </a:ln>
        </p:spPr>
      </p:sp>
      <p:sp>
        <p:nvSpPr>
          <p:cNvPr id="7" name="Shape 5"/>
          <p:cNvSpPr/>
          <p:nvPr/>
        </p:nvSpPr>
        <p:spPr>
          <a:xfrm>
            <a:off x="777240" y="1773936"/>
            <a:ext cx="512064" cy="512064"/>
          </a:xfrm>
          <a:prstGeom prst="ellipse">
            <a:avLst/>
          </a:prstGeom>
          <a:solidFill>
            <a:srgbClr val="0E2A47"/>
          </a:solidFill>
          <a:ln w="12700">
            <a:solidFill>
              <a:srgbClr val="94A3B8">
                <a:alpha val="55000"/>
              </a:srgbClr>
            </a:solidFill>
            <a:prstDash val="solid"/>
          </a:ln>
        </p:spPr>
      </p:sp>
      <p:pic>
        <p:nvPicPr>
          <p:cNvPr id="8" name="Image 0" descr="preencoded.png">    </p:cNvPr>
          <p:cNvPicPr>
            <a:picLocks noChangeAspect="1"/>
          </p:cNvPicPr>
          <p:nvPr/>
        </p:nvPicPr>
        <p:blipFill>
          <a:blip r:embed="rId2"/>
          <a:stretch>
            <a:fillRect/>
          </a:stretch>
        </p:blipFill>
        <p:spPr>
          <a:xfrm>
            <a:off x="905256" y="1901952"/>
            <a:ext cx="256032" cy="256032"/>
          </a:xfrm>
          <a:prstGeom prst="rect">
            <a:avLst/>
          </a:prstGeom>
        </p:spPr>
      </p:pic>
      <p:sp>
        <p:nvSpPr>
          <p:cNvPr id="9" name="Text 6"/>
          <p:cNvSpPr txBox="1"/>
          <p:nvPr/>
        </p:nvSpPr>
        <p:spPr>
          <a:xfrm>
            <a:off x="1417320" y="1737360"/>
            <a:ext cx="2743200" cy="310896"/>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Two-Stage</a:t>
            </a:r>
            <a:endParaRPr lang="de-DE" sz="1600" dirty="0"/>
          </a:p>
        </p:txBody>
      </p:sp>
      <p:sp>
        <p:nvSpPr>
          <p:cNvPr id="10" name="Text 7"/>
          <p:cNvSpPr txBox="1"/>
          <p:nvPr/>
        </p:nvSpPr>
        <p:spPr>
          <a:xfrm>
            <a:off x="1417320" y="2029968"/>
            <a:ext cx="2834640" cy="256032"/>
          </a:xfrm>
          <a:prstGeom prst="rect">
            <a:avLst/>
          </a:prstGeom>
          <a:noFill/>
          <a:ln/>
        </p:spPr>
        <p:txBody>
          <a:bodyPr wrap="square" lIns="0" tIns="0" rIns="0" bIns="0" rtlCol="0" anchor="t"/>
          <a:lstStyle/>
          <a:p>
            <a:pPr indent="0" marL="0">
              <a:buNone/>
            </a:pPr>
            <a:r>
              <a:rPr lang="de-DE" altLang="en-US" sz="1100" dirty="0">
                <a:solidFill>
                  <a:srgbClr val="94A3B8"/>
                </a:solidFill>
                <a:latin typeface="Segoe UI" pitchFamily="34" charset="0"/>
                <a:ea typeface="Segoe UI" pitchFamily="34" charset="-122"/>
                <a:cs typeface="Segoe UI" pitchFamily="34" charset="-120"/>
              </a:rPr>
              <a:t>Frequency × Severity</a:t>
            </a:r>
            <a:endParaRPr lang="de-DE" sz="1100" dirty="0"/>
          </a:p>
        </p:txBody>
      </p:sp>
      <p:pic>
        <p:nvPicPr>
          <p:cNvPr id="11" name="Image 1" descr="preencoded.png">    </p:cNvPr>
          <p:cNvPicPr>
            <a:picLocks noChangeAspect="1"/>
          </p:cNvPicPr>
          <p:nvPr/>
        </p:nvPicPr>
        <p:blipFill>
          <a:blip r:embed="rId3"/>
          <a:stretch>
            <a:fillRect/>
          </a:stretch>
        </p:blipFill>
        <p:spPr>
          <a:xfrm>
            <a:off x="795528" y="2505456"/>
            <a:ext cx="237744" cy="237744"/>
          </a:xfrm>
          <a:prstGeom prst="rect">
            <a:avLst/>
          </a:prstGeom>
        </p:spPr>
      </p:pic>
      <p:sp>
        <p:nvSpPr>
          <p:cNvPr id="12" name="Text 8"/>
          <p:cNvSpPr txBox="1"/>
          <p:nvPr/>
        </p:nvSpPr>
        <p:spPr>
          <a:xfrm>
            <a:off x="1143000" y="2459736"/>
            <a:ext cx="3063240" cy="566928"/>
          </a:xfrm>
          <a:prstGeom prst="rect">
            <a:avLst/>
          </a:prstGeom>
          <a:noFill/>
          <a:ln/>
        </p:spPr>
        <p:txBody>
          <a:bodyPr wrap="square" lIns="0" tIns="0" rIns="0" bIns="0" rtlCol="0" anchor="t"/>
          <a:lstStyle/>
          <a:p>
            <a:pPr indent="0" marL="0">
              <a:buNone/>
            </a:pPr>
            <a:r>
              <a:rPr lang="de-DE" altLang="en-US" sz="1200" dirty="0">
                <a:solidFill>
                  <a:srgbClr val="EEF4FB"/>
                </a:solidFill>
                <a:latin typeface="Segoe UI" pitchFamily="34" charset="0"/>
                <a:ea typeface="Segoe UI" pitchFamily="34" charset="-122"/>
                <a:cs typeface="Segoe UI" pitchFamily="34" charset="-120"/>
              </a:rPr>
              <a:t>Zeigt, ob Risiko aus Häufigkeit oder aus Schadenhöhe entsteht</a:t>
            </a:r>
            <a:endParaRPr lang="de-DE" sz="1200" dirty="0"/>
          </a:p>
        </p:txBody>
      </p:sp>
      <p:sp>
        <p:nvSpPr>
          <p:cNvPr id="13" name="Shape 9"/>
          <p:cNvSpPr/>
          <p:nvPr/>
        </p:nvSpPr>
        <p:spPr>
          <a:xfrm>
            <a:off x="777240" y="3255264"/>
            <a:ext cx="3383280" cy="365760"/>
          </a:xfrm>
          <a:prstGeom prst="roundRect">
            <a:avLst>
              <a:gd name="adj" fmla="val 50000"/>
            </a:avLst>
          </a:prstGeom>
          <a:solidFill>
            <a:srgbClr val="94A3B8">
              <a:alpha val="20000"/>
            </a:srgbClr>
          </a:solidFill>
          <a:ln w="12700">
            <a:solidFill>
              <a:srgbClr val="94A3B8"/>
            </a:solidFill>
            <a:prstDash val="solid"/>
          </a:ln>
        </p:spPr>
      </p:sp>
      <p:sp>
        <p:nvSpPr>
          <p:cNvPr id="14" name="Text 10"/>
          <p:cNvSpPr txBox="1"/>
          <p:nvPr/>
        </p:nvSpPr>
        <p:spPr>
          <a:xfrm>
            <a:off x="777240" y="3255264"/>
            <a:ext cx="3383280" cy="365760"/>
          </a:xfrm>
          <a:prstGeom prst="rect">
            <a:avLst/>
          </a:prstGeom>
          <a:noFill/>
          <a:ln/>
        </p:spPr>
        <p:txBody>
          <a:bodyPr wrap="square" lIns="0" tIns="0" rIns="0" bIns="0" rtlCol="0" anchor="ctr"/>
          <a:lstStyle/>
          <a:p>
            <a:pPr algn="ctr" indent="0" marL="0">
              <a:buNone/>
            </a:pPr>
            <a:r>
              <a:rPr lang="de-DE" altLang="en-US" sz="1150" dirty="0">
                <a:solidFill>
                  <a:srgbClr val="EEF4FB"/>
                </a:solidFill>
                <a:latin typeface="Segoe UI Semibold" pitchFamily="34" charset="0"/>
                <a:ea typeface="Segoe UI Semibold" pitchFamily="34" charset="-122"/>
                <a:cs typeface="Segoe UI Semibold" pitchFamily="34" charset="-120"/>
              </a:rPr>
              <a:t>→  Erklären &amp; zerlegen</a:t>
            </a:r>
            <a:endParaRPr lang="de-DE" sz="1150" dirty="0"/>
          </a:p>
        </p:txBody>
      </p:sp>
      <p:sp>
        <p:nvSpPr>
          <p:cNvPr id="15" name="Shape 11"/>
          <p:cNvSpPr/>
          <p:nvPr/>
        </p:nvSpPr>
        <p:spPr>
          <a:xfrm>
            <a:off x="548640" y="3995928"/>
            <a:ext cx="3840480" cy="2267712"/>
          </a:xfrm>
          <a:prstGeom prst="roundRect">
            <a:avLst>
              <a:gd name="adj" fmla="val 4839"/>
            </a:avLst>
          </a:prstGeom>
          <a:solidFill>
            <a:srgbClr val="10213F">
              <a:alpha val="92000"/>
            </a:srgbClr>
          </a:solidFill>
          <a:ln w="12700">
            <a:solidFill>
              <a:srgbClr val="2DD4BF"/>
            </a:solidFill>
            <a:prstDash val="solid"/>
          </a:ln>
          <a:effectLst>
            <a:outerShdw sx="100000" sy="100000" kx="0" ky="0" algn="bl" rotWithShape="0" blurRad="228600" dist="50800" dir="5400000">
              <a:srgbClr val="2DD4BF">
                <a:alpha val="32000"/>
              </a:srgbClr>
            </a:outerShdw>
          </a:effectLst>
        </p:spPr>
      </p:sp>
      <p:sp>
        <p:nvSpPr>
          <p:cNvPr id="16" name="Shape 12"/>
          <p:cNvSpPr/>
          <p:nvPr/>
        </p:nvSpPr>
        <p:spPr>
          <a:xfrm>
            <a:off x="777240" y="4197096"/>
            <a:ext cx="512064" cy="512064"/>
          </a:xfrm>
          <a:prstGeom prst="ellipse">
            <a:avLst/>
          </a:prstGeom>
          <a:solidFill>
            <a:srgbClr val="0E2A47"/>
          </a:solidFill>
          <a:ln w="12700">
            <a:solidFill>
              <a:srgbClr val="2DD4BF">
                <a:alpha val="55000"/>
              </a:srgbClr>
            </a:solidFill>
            <a:prstDash val="solid"/>
          </a:ln>
        </p:spPr>
      </p:sp>
      <p:pic>
        <p:nvPicPr>
          <p:cNvPr id="17" name="Image 2" descr="preencoded.png">    </p:cNvPr>
          <p:cNvPicPr>
            <a:picLocks noChangeAspect="1"/>
          </p:cNvPicPr>
          <p:nvPr/>
        </p:nvPicPr>
        <p:blipFill>
          <a:blip r:embed="rId4"/>
          <a:stretch>
            <a:fillRect/>
          </a:stretch>
        </p:blipFill>
        <p:spPr>
          <a:xfrm>
            <a:off x="905256" y="4325112"/>
            <a:ext cx="256032" cy="256032"/>
          </a:xfrm>
          <a:prstGeom prst="rect">
            <a:avLst/>
          </a:prstGeom>
        </p:spPr>
      </p:pic>
      <p:sp>
        <p:nvSpPr>
          <p:cNvPr id="18" name="Text 13"/>
          <p:cNvSpPr txBox="1"/>
          <p:nvPr/>
        </p:nvSpPr>
        <p:spPr>
          <a:xfrm>
            <a:off x="1417320" y="4160520"/>
            <a:ext cx="2743200" cy="310896"/>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Tweedie</a:t>
            </a:r>
            <a:endParaRPr lang="de-DE" sz="1600" dirty="0"/>
          </a:p>
        </p:txBody>
      </p:sp>
      <p:sp>
        <p:nvSpPr>
          <p:cNvPr id="19" name="Text 14"/>
          <p:cNvSpPr txBox="1"/>
          <p:nvPr/>
        </p:nvSpPr>
        <p:spPr>
          <a:xfrm>
            <a:off x="1417320" y="4453128"/>
            <a:ext cx="2834640" cy="256032"/>
          </a:xfrm>
          <a:prstGeom prst="rect">
            <a:avLst/>
          </a:prstGeom>
          <a:noFill/>
          <a:ln/>
        </p:spPr>
        <p:txBody>
          <a:bodyPr wrap="square" lIns="0" tIns="0" rIns="0" bIns="0" rtlCol="0" anchor="t"/>
          <a:lstStyle/>
          <a:p>
            <a:pPr indent="0" marL="0">
              <a:buNone/>
            </a:pPr>
            <a:r>
              <a:rPr lang="de-DE" altLang="en-US" sz="1100" dirty="0">
                <a:solidFill>
                  <a:srgbClr val="2DD4BF"/>
                </a:solidFill>
                <a:latin typeface="Segoe UI" pitchFamily="34" charset="0"/>
                <a:ea typeface="Segoe UI" pitchFamily="34" charset="-122"/>
                <a:cs typeface="Segoe UI" pitchFamily="34" charset="-120"/>
              </a:rPr>
              <a:t>Direkte Schätzung · Power 1,9</a:t>
            </a:r>
            <a:endParaRPr lang="de-DE" sz="1100" dirty="0"/>
          </a:p>
        </p:txBody>
      </p:sp>
      <p:pic>
        <p:nvPicPr>
          <p:cNvPr id="20" name="Image 3" descr="preencoded.png">    </p:cNvPr>
          <p:cNvPicPr>
            <a:picLocks noChangeAspect="1"/>
          </p:cNvPicPr>
          <p:nvPr/>
        </p:nvPicPr>
        <p:blipFill>
          <a:blip r:embed="rId5"/>
          <a:stretch>
            <a:fillRect/>
          </a:stretch>
        </p:blipFill>
        <p:spPr>
          <a:xfrm>
            <a:off x="795528" y="4928616"/>
            <a:ext cx="237744" cy="237744"/>
          </a:xfrm>
          <a:prstGeom prst="rect">
            <a:avLst/>
          </a:prstGeom>
        </p:spPr>
      </p:pic>
      <p:sp>
        <p:nvSpPr>
          <p:cNvPr id="21" name="Text 15"/>
          <p:cNvSpPr txBox="1"/>
          <p:nvPr/>
        </p:nvSpPr>
        <p:spPr>
          <a:xfrm>
            <a:off x="1143000" y="4882896"/>
            <a:ext cx="3063240" cy="566928"/>
          </a:xfrm>
          <a:prstGeom prst="rect">
            <a:avLst/>
          </a:prstGeom>
          <a:noFill/>
          <a:ln/>
        </p:spPr>
        <p:txBody>
          <a:bodyPr wrap="square" lIns="0" tIns="0" rIns="0" bIns="0" rtlCol="0" anchor="t"/>
          <a:lstStyle/>
          <a:p>
            <a:pPr indent="0" marL="0">
              <a:buNone/>
            </a:pPr>
            <a:r>
              <a:rPr lang="de-DE" altLang="en-US" sz="1200" dirty="0">
                <a:solidFill>
                  <a:srgbClr val="EEF4FB"/>
                </a:solidFill>
                <a:latin typeface="Segoe UI" pitchFamily="34" charset="0"/>
                <a:ea typeface="Segoe UI" pitchFamily="34" charset="-122"/>
                <a:cs typeface="Segoe UI" pitchFamily="34" charset="-120"/>
              </a:rPr>
              <a:t>Viele Nullen und schiefe Beträge in einem Modell</a:t>
            </a:r>
            <a:endParaRPr lang="de-DE" sz="1200" dirty="0"/>
          </a:p>
        </p:txBody>
      </p:sp>
      <p:sp>
        <p:nvSpPr>
          <p:cNvPr id="22" name="Shape 16"/>
          <p:cNvSpPr/>
          <p:nvPr/>
        </p:nvSpPr>
        <p:spPr>
          <a:xfrm>
            <a:off x="777240" y="5660136"/>
            <a:ext cx="3383280" cy="365760"/>
          </a:xfrm>
          <a:prstGeom prst="roundRect">
            <a:avLst>
              <a:gd name="adj" fmla="val 50000"/>
            </a:avLst>
          </a:prstGeom>
          <a:solidFill>
            <a:srgbClr val="2DD4BF">
              <a:alpha val="20000"/>
            </a:srgbClr>
          </a:solidFill>
          <a:ln w="12700">
            <a:solidFill>
              <a:srgbClr val="2DD4BF"/>
            </a:solidFill>
            <a:prstDash val="solid"/>
          </a:ln>
        </p:spPr>
      </p:sp>
      <p:sp>
        <p:nvSpPr>
          <p:cNvPr id="23" name="Text 17"/>
          <p:cNvSpPr txBox="1"/>
          <p:nvPr/>
        </p:nvSpPr>
        <p:spPr>
          <a:xfrm>
            <a:off x="777240" y="5660136"/>
            <a:ext cx="3383280" cy="365760"/>
          </a:xfrm>
          <a:prstGeom prst="rect">
            <a:avLst/>
          </a:prstGeom>
          <a:noFill/>
          <a:ln/>
        </p:spPr>
        <p:txBody>
          <a:bodyPr wrap="square" lIns="0" tIns="0" rIns="0" bIns="0" rtlCol="0" anchor="ctr"/>
          <a:lstStyle/>
          <a:p>
            <a:pPr algn="ctr" indent="0" marL="0">
              <a:buNone/>
            </a:pPr>
            <a:r>
              <a:rPr lang="de-DE" altLang="en-US" sz="1150" dirty="0">
                <a:solidFill>
                  <a:srgbClr val="EEF4FB"/>
                </a:solidFill>
                <a:latin typeface="Segoe UI Semibold" pitchFamily="34" charset="0"/>
                <a:ea typeface="Segoe UI Semibold" pitchFamily="34" charset="-122"/>
                <a:cs typeface="Segoe UI Semibold" pitchFamily="34" charset="-120"/>
              </a:rPr>
              <a:t>→  Ranking &amp; Segmentierung</a:t>
            </a:r>
            <a:endParaRPr lang="de-DE" sz="1150" dirty="0"/>
          </a:p>
        </p:txBody>
      </p:sp>
      <p:sp>
        <p:nvSpPr>
          <p:cNvPr id="24" name="Shape 18"/>
          <p:cNvSpPr/>
          <p:nvPr/>
        </p:nvSpPr>
        <p:spPr>
          <a:xfrm>
            <a:off x="4617720" y="1572768"/>
            <a:ext cx="7022592" cy="4690872"/>
          </a:xfrm>
          <a:prstGeom prst="roundRect">
            <a:avLst>
              <a:gd name="adj" fmla="val 2339"/>
            </a:avLst>
          </a:prstGeom>
          <a:solidFill>
            <a:srgbClr val="10213F">
              <a:alpha val="92000"/>
            </a:srgbClr>
          </a:solidFill>
          <a:ln w="12700">
            <a:solidFill>
              <a:srgbClr val="1E3A5F"/>
            </a:solidFill>
            <a:prstDash val="solid"/>
          </a:ln>
        </p:spPr>
      </p:sp>
      <p:sp>
        <p:nvSpPr>
          <p:cNvPr id="25" name="Text 19"/>
          <p:cNvSpPr txBox="1"/>
          <p:nvPr/>
        </p:nvSpPr>
        <p:spPr>
          <a:xfrm>
            <a:off x="4892040" y="1737360"/>
            <a:ext cx="4114800" cy="310896"/>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Vergleich auf identischer Basis</a:t>
            </a:r>
            <a:endParaRPr lang="de-DE" sz="1500" dirty="0"/>
          </a:p>
        </p:txBody>
      </p:sp>
      <p:sp>
        <p:nvSpPr>
          <p:cNvPr id="26" name="Text 20"/>
          <p:cNvSpPr txBox="1"/>
          <p:nvPr/>
        </p:nvSpPr>
        <p:spPr>
          <a:xfrm>
            <a:off x="4892040" y="2048256"/>
            <a:ext cx="4389120" cy="256032"/>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133.790 Holdout-Policen mit beobachtbarem Schadenaufwand</a:t>
            </a:r>
            <a:endParaRPr lang="de-DE" sz="1100" dirty="0"/>
          </a:p>
        </p:txBody>
      </p:sp>
      <p:sp>
        <p:nvSpPr>
          <p:cNvPr id="27" name="Shape 21"/>
          <p:cNvSpPr/>
          <p:nvPr/>
        </p:nvSpPr>
        <p:spPr>
          <a:xfrm>
            <a:off x="9308592" y="1847088"/>
            <a:ext cx="182880" cy="182880"/>
          </a:xfrm>
          <a:prstGeom prst="roundRect">
            <a:avLst>
              <a:gd name="adj" fmla="val 20000"/>
            </a:avLst>
          </a:prstGeom>
          <a:solidFill>
            <a:srgbClr val="94A3B8"/>
          </a:solidFill>
          <a:ln w="12700">
            <a:solidFill>
              <a:srgbClr val="94A3B8"/>
            </a:solidFill>
            <a:prstDash val="solid"/>
          </a:ln>
        </p:spPr>
      </p:sp>
      <p:sp>
        <p:nvSpPr>
          <p:cNvPr id="28" name="Text 22"/>
          <p:cNvSpPr txBox="1"/>
          <p:nvPr/>
        </p:nvSpPr>
        <p:spPr>
          <a:xfrm>
            <a:off x="9564624" y="1792224"/>
            <a:ext cx="914400" cy="292608"/>
          </a:xfrm>
          <a:prstGeom prst="rect">
            <a:avLst/>
          </a:prstGeom>
          <a:noFill/>
          <a:ln/>
        </p:spPr>
        <p:txBody>
          <a:bodyPr wrap="square" lIns="0" tIns="0" rIns="0" bIns="0" rtlCol="0" anchor="ctr"/>
          <a:lstStyle/>
          <a:p>
            <a:pPr indent="0" marL="0">
              <a:buNone/>
            </a:pPr>
            <a:r>
              <a:rPr lang="de-DE" altLang="en-US" sz="1100" dirty="0">
                <a:solidFill>
                  <a:srgbClr val="EEF4FB"/>
                </a:solidFill>
                <a:latin typeface="Segoe UI" pitchFamily="34" charset="0"/>
                <a:ea typeface="Segoe UI" pitchFamily="34" charset="-122"/>
                <a:cs typeface="Segoe UI" pitchFamily="34" charset="-120"/>
              </a:rPr>
              <a:t>Two-Stage</a:t>
            </a:r>
            <a:endParaRPr lang="de-DE" sz="1100" dirty="0"/>
          </a:p>
        </p:txBody>
      </p:sp>
      <p:sp>
        <p:nvSpPr>
          <p:cNvPr id="29" name="Shape 23"/>
          <p:cNvSpPr/>
          <p:nvPr/>
        </p:nvSpPr>
        <p:spPr>
          <a:xfrm>
            <a:off x="10497312" y="1847088"/>
            <a:ext cx="182880" cy="182880"/>
          </a:xfrm>
          <a:prstGeom prst="roundRect">
            <a:avLst>
              <a:gd name="adj" fmla="val 20000"/>
            </a:avLst>
          </a:prstGeom>
          <a:solidFill>
            <a:srgbClr val="2DD4BF"/>
          </a:solidFill>
          <a:ln w="12700">
            <a:solidFill>
              <a:srgbClr val="2DD4BF"/>
            </a:solidFill>
            <a:prstDash val="solid"/>
          </a:ln>
        </p:spPr>
      </p:sp>
      <p:sp>
        <p:nvSpPr>
          <p:cNvPr id="30" name="Text 24"/>
          <p:cNvSpPr txBox="1"/>
          <p:nvPr/>
        </p:nvSpPr>
        <p:spPr>
          <a:xfrm>
            <a:off x="10753344" y="1792224"/>
            <a:ext cx="914400" cy="292608"/>
          </a:xfrm>
          <a:prstGeom prst="rect">
            <a:avLst/>
          </a:prstGeom>
          <a:noFill/>
          <a:ln/>
        </p:spPr>
        <p:txBody>
          <a:bodyPr wrap="square" lIns="0" tIns="0" rIns="0" bIns="0" rtlCol="0" anchor="ctr"/>
          <a:lstStyle/>
          <a:p>
            <a:pPr indent="0" marL="0">
              <a:buNone/>
            </a:pPr>
            <a:r>
              <a:rPr lang="de-DE" altLang="en-US" sz="1100" dirty="0">
                <a:solidFill>
                  <a:srgbClr val="EEF4FB"/>
                </a:solidFill>
                <a:latin typeface="Segoe UI" pitchFamily="34" charset="0"/>
                <a:ea typeface="Segoe UI" pitchFamily="34" charset="-122"/>
                <a:cs typeface="Segoe UI" pitchFamily="34" charset="-120"/>
              </a:rPr>
              <a:t>Tweedie</a:t>
            </a:r>
            <a:endParaRPr lang="de-DE" sz="1100" dirty="0"/>
          </a:p>
        </p:txBody>
      </p:sp>
      <p:sp>
        <p:nvSpPr>
          <p:cNvPr id="31" name="Shape 25"/>
          <p:cNvSpPr/>
          <p:nvPr/>
        </p:nvSpPr>
        <p:spPr>
          <a:xfrm>
            <a:off x="4892040" y="2487168"/>
            <a:ext cx="2066544" cy="2651760"/>
          </a:xfrm>
          <a:prstGeom prst="roundRect">
            <a:avLst>
              <a:gd name="adj" fmla="val 4425"/>
            </a:avLst>
          </a:prstGeom>
          <a:solidFill>
            <a:srgbClr val="0B2440"/>
          </a:solidFill>
          <a:ln w="9525">
            <a:solidFill>
              <a:srgbClr val="1E3A5F"/>
            </a:solidFill>
            <a:prstDash val="solid"/>
          </a:ln>
        </p:spPr>
      </p:sp>
      <p:sp>
        <p:nvSpPr>
          <p:cNvPr id="32" name="Text 26"/>
          <p:cNvSpPr txBox="1"/>
          <p:nvPr/>
        </p:nvSpPr>
        <p:spPr>
          <a:xfrm>
            <a:off x="5029200" y="2596896"/>
            <a:ext cx="1792224" cy="274320"/>
          </a:xfrm>
          <a:prstGeom prst="rect">
            <a:avLst/>
          </a:prstGeom>
          <a:noFill/>
          <a:ln/>
        </p:spPr>
        <p:txBody>
          <a:bodyPr wrap="square" lIns="0" tIns="0" rIns="0" bIns="0" rtlCol="0" anchor="t"/>
          <a:lstStyle/>
          <a:p>
            <a:pPr indent="0" marL="0">
              <a:buNone/>
            </a:pPr>
            <a:r>
              <a:rPr lang="de-DE" altLang="en-US" sz="1150" dirty="0">
                <a:solidFill>
                  <a:srgbClr val="EEF4FB"/>
                </a:solidFill>
                <a:latin typeface="Segoe UI Semibold" pitchFamily="34" charset="0"/>
                <a:ea typeface="Segoe UI Semibold" pitchFamily="34" charset="-122"/>
                <a:cs typeface="Segoe UI Semibold" pitchFamily="34" charset="-120"/>
              </a:rPr>
              <a:t>Mean Tweedie Deviance</a:t>
            </a:r>
            <a:endParaRPr lang="de-DE" sz="1150" dirty="0"/>
          </a:p>
        </p:txBody>
      </p:sp>
      <p:sp>
        <p:nvSpPr>
          <p:cNvPr id="33" name="Text 27"/>
          <p:cNvSpPr txBox="1"/>
          <p:nvPr/>
        </p:nvSpPr>
        <p:spPr>
          <a:xfrm>
            <a:off x="5029200" y="4636008"/>
            <a:ext cx="1792224" cy="411480"/>
          </a:xfrm>
          <a:prstGeom prst="rect">
            <a:avLst/>
          </a:prstGeom>
          <a:noFill/>
          <a:ln/>
        </p:spPr>
        <p:txBody>
          <a:bodyPr wrap="square" lIns="0" tIns="0" rIns="0" bIns="0" rtlCol="0" anchor="ctr"/>
          <a:lstStyle/>
          <a:p>
            <a:pPr indent="0" marL="0">
              <a:buNone/>
            </a:pPr>
            <a:r>
              <a:rPr lang="de-DE" altLang="en-US" sz="1050" dirty="0">
                <a:solidFill>
                  <a:srgbClr val="A9BBD0"/>
                </a:solidFill>
                <a:latin typeface="Segoe UI Semibold" pitchFamily="34" charset="0"/>
                <a:ea typeface="Segoe UI Semibold" pitchFamily="34" charset="-122"/>
                <a:cs typeface="Segoe UI Semibold" pitchFamily="34" charset="-120"/>
              </a:rPr>
              <a:t>praktisch gleichauf</a:t>
            </a:r>
            <a:endParaRPr lang="de-DE" sz="1050" dirty="0"/>
          </a:p>
        </p:txBody>
      </p:sp>
      <p:sp>
        <p:nvSpPr>
          <p:cNvPr id="34" name="Shape 28"/>
          <p:cNvSpPr/>
          <p:nvPr/>
        </p:nvSpPr>
        <p:spPr>
          <a:xfrm>
            <a:off x="7095744" y="2487168"/>
            <a:ext cx="2066544" cy="2651760"/>
          </a:xfrm>
          <a:prstGeom prst="roundRect">
            <a:avLst>
              <a:gd name="adj" fmla="val 4425"/>
            </a:avLst>
          </a:prstGeom>
          <a:solidFill>
            <a:srgbClr val="0B2440"/>
          </a:solidFill>
          <a:ln w="9525">
            <a:solidFill>
              <a:srgbClr val="1E3A5F"/>
            </a:solidFill>
            <a:prstDash val="solid"/>
          </a:ln>
        </p:spPr>
      </p:sp>
      <p:sp>
        <p:nvSpPr>
          <p:cNvPr id="35" name="Text 29"/>
          <p:cNvSpPr txBox="1"/>
          <p:nvPr/>
        </p:nvSpPr>
        <p:spPr>
          <a:xfrm>
            <a:off x="7232904" y="2596896"/>
            <a:ext cx="1792224" cy="274320"/>
          </a:xfrm>
          <a:prstGeom prst="rect">
            <a:avLst/>
          </a:prstGeom>
          <a:noFill/>
          <a:ln/>
        </p:spPr>
        <p:txBody>
          <a:bodyPr wrap="square" lIns="0" tIns="0" rIns="0" bIns="0" rtlCol="0" anchor="t"/>
          <a:lstStyle/>
          <a:p>
            <a:pPr indent="0" marL="0">
              <a:buNone/>
            </a:pPr>
            <a:r>
              <a:rPr lang="de-DE" altLang="en-US" sz="1150" dirty="0">
                <a:solidFill>
                  <a:srgbClr val="EEF4FB"/>
                </a:solidFill>
                <a:latin typeface="Segoe UI Semibold" pitchFamily="34" charset="0"/>
                <a:ea typeface="Segoe UI Semibold" pitchFamily="34" charset="-122"/>
                <a:cs typeface="Segoe UI Semibold" pitchFamily="34" charset="-120"/>
              </a:rPr>
              <a:t>Portfolio-Abweichung</a:t>
            </a:r>
            <a:endParaRPr lang="de-DE" sz="1150" dirty="0"/>
          </a:p>
        </p:txBody>
      </p:sp>
      <p:sp>
        <p:nvSpPr>
          <p:cNvPr id="36" name="Text 30"/>
          <p:cNvSpPr txBox="1"/>
          <p:nvPr/>
        </p:nvSpPr>
        <p:spPr>
          <a:xfrm>
            <a:off x="7232904" y="4636008"/>
            <a:ext cx="1792224" cy="411480"/>
          </a:xfrm>
          <a:prstGeom prst="rect">
            <a:avLst/>
          </a:prstGeom>
          <a:noFill/>
          <a:ln/>
        </p:spPr>
        <p:txBody>
          <a:bodyPr wrap="square" lIns="0" tIns="0" rIns="0" bIns="0" rtlCol="0" anchor="ctr"/>
          <a:lstStyle/>
          <a:p>
            <a:pPr indent="0" marL="0">
              <a:buNone/>
            </a:pPr>
            <a:r>
              <a:rPr lang="de-DE" altLang="en-US" sz="1050" dirty="0">
                <a:solidFill>
                  <a:srgbClr val="2DD4BF"/>
                </a:solidFill>
                <a:latin typeface="Segoe UI Semibold" pitchFamily="34" charset="0"/>
                <a:ea typeface="Segoe UI Semibold" pitchFamily="34" charset="-122"/>
                <a:cs typeface="Segoe UI Semibold" pitchFamily="34" charset="-120"/>
              </a:rPr>
              <a:t>Tweedie näher am beobachteten Schaden</a:t>
            </a:r>
            <a:endParaRPr lang="de-DE" sz="1050" dirty="0"/>
          </a:p>
        </p:txBody>
      </p:sp>
      <p:sp>
        <p:nvSpPr>
          <p:cNvPr id="37" name="Shape 31"/>
          <p:cNvSpPr/>
          <p:nvPr/>
        </p:nvSpPr>
        <p:spPr>
          <a:xfrm>
            <a:off x="9299448" y="2487168"/>
            <a:ext cx="2066544" cy="2651760"/>
          </a:xfrm>
          <a:prstGeom prst="roundRect">
            <a:avLst>
              <a:gd name="adj" fmla="val 4425"/>
            </a:avLst>
          </a:prstGeom>
          <a:solidFill>
            <a:srgbClr val="0B2440"/>
          </a:solidFill>
          <a:ln w="9525">
            <a:solidFill>
              <a:srgbClr val="1E3A5F"/>
            </a:solidFill>
            <a:prstDash val="solid"/>
          </a:ln>
        </p:spPr>
      </p:sp>
      <p:sp>
        <p:nvSpPr>
          <p:cNvPr id="38" name="Text 32"/>
          <p:cNvSpPr txBox="1"/>
          <p:nvPr/>
        </p:nvSpPr>
        <p:spPr>
          <a:xfrm>
            <a:off x="9436608" y="2596896"/>
            <a:ext cx="1792224" cy="274320"/>
          </a:xfrm>
          <a:prstGeom prst="rect">
            <a:avLst/>
          </a:prstGeom>
          <a:noFill/>
          <a:ln/>
        </p:spPr>
        <p:txBody>
          <a:bodyPr wrap="square" lIns="0" tIns="0" rIns="0" bIns="0" rtlCol="0" anchor="t"/>
          <a:lstStyle/>
          <a:p>
            <a:pPr indent="0" marL="0">
              <a:buNone/>
            </a:pPr>
            <a:r>
              <a:rPr lang="de-DE" altLang="en-US" sz="1150" dirty="0">
                <a:solidFill>
                  <a:srgbClr val="EEF4FB"/>
                </a:solidFill>
                <a:latin typeface="Segoe UI Semibold" pitchFamily="34" charset="0"/>
                <a:ea typeface="Segoe UI Semibold" pitchFamily="34" charset="-122"/>
                <a:cs typeface="Segoe UI Semibold" pitchFamily="34" charset="-120"/>
              </a:rPr>
              <a:t>Gini (Ranking)</a:t>
            </a:r>
            <a:endParaRPr lang="de-DE" sz="1150" dirty="0"/>
          </a:p>
        </p:txBody>
      </p:sp>
      <p:sp>
        <p:nvSpPr>
          <p:cNvPr id="39" name="Text 33"/>
          <p:cNvSpPr txBox="1"/>
          <p:nvPr/>
        </p:nvSpPr>
        <p:spPr>
          <a:xfrm>
            <a:off x="9436608" y="4636008"/>
            <a:ext cx="1792224" cy="411480"/>
          </a:xfrm>
          <a:prstGeom prst="rect">
            <a:avLst/>
          </a:prstGeom>
          <a:noFill/>
          <a:ln/>
        </p:spPr>
        <p:txBody>
          <a:bodyPr wrap="square" lIns="0" tIns="0" rIns="0" bIns="0" rtlCol="0" anchor="ctr"/>
          <a:lstStyle/>
          <a:p>
            <a:pPr indent="0" marL="0">
              <a:buNone/>
            </a:pPr>
            <a:r>
              <a:rPr lang="de-DE" altLang="en-US" sz="1050" dirty="0">
                <a:solidFill>
                  <a:srgbClr val="2DD4BF"/>
                </a:solidFill>
                <a:latin typeface="Segoe UI Semibold" pitchFamily="34" charset="0"/>
                <a:ea typeface="Segoe UI Semibold" pitchFamily="34" charset="-122"/>
                <a:cs typeface="Segoe UI Semibold" pitchFamily="34" charset="-120"/>
              </a:rPr>
              <a:t>Tweedie sortiert besser</a:t>
            </a:r>
            <a:endParaRPr lang="de-DE" sz="1050" dirty="0"/>
          </a:p>
        </p:txBody>
      </p:sp>
      <p:sp>
        <p:nvSpPr>
          <p:cNvPr id="40" name="Text 34"/>
          <p:cNvSpPr txBox="1"/>
          <p:nvPr/>
        </p:nvSpPr>
        <p:spPr>
          <a:xfrm>
            <a:off x="5029200" y="2990088"/>
            <a:ext cx="1792224" cy="384048"/>
          </a:xfrm>
          <a:prstGeom prst="rect">
            <a:avLst/>
          </a:prstGeom>
          <a:noFill/>
          <a:ln/>
        </p:spPr>
        <p:txBody>
          <a:bodyPr wrap="square" lIns="0" tIns="0" rIns="0" bIns="0" rtlCol="0" anchor="ctr"/>
          <a:lstStyle/>
          <a:p>
            <a:pPr indent="0" marL="0">
              <a:buNone/>
            </a:pPr>
            <a:r>
              <a:rPr lang="de-DE" altLang="en-US" sz="2200" dirty="0">
                <a:solidFill>
                  <a:srgbClr val="94A3B8"/>
                </a:solidFill>
                <a:latin typeface="Segoe UI Semibold" pitchFamily="34" charset="0"/>
                <a:ea typeface="Segoe UI Semibold" pitchFamily="34" charset="-122"/>
                <a:cs typeface="Segoe UI Semibold" pitchFamily="34" charset="-120"/>
              </a:rPr>
              <a:t>34,357</a:t>
            </a:r>
            <a:endParaRPr lang="de-DE" sz="2200" dirty="0"/>
          </a:p>
        </p:txBody>
      </p:sp>
      <p:sp>
        <p:nvSpPr>
          <p:cNvPr id="41" name="Text 35"/>
          <p:cNvSpPr txBox="1"/>
          <p:nvPr/>
        </p:nvSpPr>
        <p:spPr>
          <a:xfrm>
            <a:off x="5029200" y="3355848"/>
            <a:ext cx="1792224" cy="219456"/>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Two-Stage</a:t>
            </a:r>
            <a:endParaRPr lang="de-DE" sz="950" dirty="0"/>
          </a:p>
        </p:txBody>
      </p:sp>
      <p:sp>
        <p:nvSpPr>
          <p:cNvPr id="42" name="Text 36"/>
          <p:cNvSpPr txBox="1"/>
          <p:nvPr/>
        </p:nvSpPr>
        <p:spPr>
          <a:xfrm>
            <a:off x="5029200" y="3648456"/>
            <a:ext cx="1792224" cy="384048"/>
          </a:xfrm>
          <a:prstGeom prst="rect">
            <a:avLst/>
          </a:prstGeom>
          <a:noFill/>
          <a:ln/>
        </p:spPr>
        <p:txBody>
          <a:bodyPr wrap="square" lIns="0" tIns="0" rIns="0" bIns="0" rtlCol="0" anchor="ctr"/>
          <a:lstStyle/>
          <a:p>
            <a:pPr indent="0" marL="0">
              <a:buNone/>
            </a:pPr>
            <a:r>
              <a:rPr lang="de-DE" altLang="en-US" sz="2200" dirty="0">
                <a:solidFill>
                  <a:srgbClr val="2DD4BF"/>
                </a:solidFill>
                <a:latin typeface="Segoe UI Semibold" pitchFamily="34" charset="0"/>
                <a:ea typeface="Segoe UI Semibold" pitchFamily="34" charset="-122"/>
                <a:cs typeface="Segoe UI Semibold" pitchFamily="34" charset="-120"/>
              </a:rPr>
              <a:t>34,364</a:t>
            </a:r>
            <a:endParaRPr lang="de-DE" sz="2200" dirty="0"/>
          </a:p>
        </p:txBody>
      </p:sp>
      <p:sp>
        <p:nvSpPr>
          <p:cNvPr id="43" name="Text 37"/>
          <p:cNvSpPr txBox="1"/>
          <p:nvPr/>
        </p:nvSpPr>
        <p:spPr>
          <a:xfrm>
            <a:off x="5029200" y="4014216"/>
            <a:ext cx="1792224" cy="219456"/>
          </a:xfrm>
          <a:prstGeom prst="rect">
            <a:avLst/>
          </a:prstGeom>
          <a:noFill/>
          <a:ln/>
        </p:spPr>
        <p:txBody>
          <a:bodyPr wrap="square" lIns="0" tIns="0" rIns="0" bIns="0" rtlCol="0" anchor="t"/>
          <a:lstStyle/>
          <a:p>
            <a:pPr indent="0" marL="0">
              <a:buNone/>
            </a:pPr>
            <a:r>
              <a:rPr lang="de-DE" altLang="en-US" sz="950" dirty="0">
                <a:solidFill>
                  <a:srgbClr val="A9BBD0"/>
                </a:solidFill>
                <a:latin typeface="Segoe UI" pitchFamily="34" charset="0"/>
                <a:ea typeface="Segoe UI" pitchFamily="34" charset="-122"/>
                <a:cs typeface="Segoe UI" pitchFamily="34" charset="-120"/>
              </a:rPr>
              <a:t>Tweedie</a:t>
            </a:r>
            <a:endParaRPr lang="de-DE" sz="950" dirty="0"/>
          </a:p>
        </p:txBody>
      </p:sp>
      <p:sp>
        <p:nvSpPr>
          <p:cNvPr id="44" name="Text 38"/>
          <p:cNvSpPr txBox="1"/>
          <p:nvPr/>
        </p:nvSpPr>
        <p:spPr>
          <a:xfrm>
            <a:off x="5029200" y="4334256"/>
            <a:ext cx="1792224" cy="237744"/>
          </a:xfrm>
          <a:prstGeom prst="rect">
            <a:avLst/>
          </a:prstGeom>
          <a:noFill/>
          <a:ln/>
        </p:spPr>
        <p:txBody>
          <a:bodyPr wrap="square" lIns="0" tIns="0" rIns="0" bIns="0" rtlCol="0" anchor="t"/>
          <a:lstStyle/>
          <a:p>
            <a:pPr indent="0" marL="0">
              <a:buNone/>
            </a:pPr>
            <a:r>
              <a:rPr lang="de-DE" altLang="en-US" sz="1000" dirty="0">
                <a:solidFill>
                  <a:srgbClr val="7389A6"/>
                </a:solidFill>
                <a:latin typeface="Segoe UI" pitchFamily="34" charset="0"/>
                <a:ea typeface="Segoe UI" pitchFamily="34" charset="-122"/>
                <a:cs typeface="Segoe UI" pitchFamily="34" charset="-120"/>
              </a:rPr>
              <a:t>Baseline: 34,602</a:t>
            </a:r>
            <a:endParaRPr lang="de-DE" sz="1000" dirty="0"/>
          </a:p>
        </p:txBody>
      </p:sp>
      <p:sp>
        <p:nvSpPr>
          <p:cNvPr id="45" name="Shape 39"/>
          <p:cNvSpPr/>
          <p:nvPr/>
        </p:nvSpPr>
        <p:spPr>
          <a:xfrm>
            <a:off x="7470648" y="3363620"/>
            <a:ext cx="566928" cy="1135228"/>
          </a:xfrm>
          <a:prstGeom prst="rect">
            <a:avLst/>
          </a:prstGeom>
          <a:solidFill>
            <a:srgbClr val="94A3B8"/>
          </a:solidFill>
          <a:ln w="12700">
            <a:solidFill>
              <a:srgbClr val="94A3B8"/>
            </a:solidFill>
            <a:prstDash val="solid"/>
          </a:ln>
        </p:spPr>
      </p:sp>
      <p:sp>
        <p:nvSpPr>
          <p:cNvPr id="46" name="Text 40"/>
          <p:cNvSpPr txBox="1"/>
          <p:nvPr/>
        </p:nvSpPr>
        <p:spPr>
          <a:xfrm>
            <a:off x="7242048" y="3052724"/>
            <a:ext cx="1024128" cy="274320"/>
          </a:xfrm>
          <a:prstGeom prst="rect">
            <a:avLst/>
          </a:prstGeom>
          <a:noFill/>
          <a:ln/>
        </p:spPr>
        <p:txBody>
          <a:bodyPr wrap="square" lIns="0" tIns="0" rIns="0" bIns="0" rtlCol="0" anchor="b"/>
          <a:lstStyle/>
          <a:p>
            <a:pPr algn="ctr" indent="0" marL="0">
              <a:buNone/>
            </a:pPr>
            <a:r>
              <a:rPr lang="de-DE" altLang="en-US" sz="1300" dirty="0">
                <a:solidFill>
                  <a:srgbClr val="EEF4FB"/>
                </a:solidFill>
                <a:latin typeface="Segoe UI Semibold" pitchFamily="34" charset="0"/>
                <a:ea typeface="Segoe UI Semibold" pitchFamily="34" charset="-122"/>
                <a:cs typeface="Segoe UI Semibold" pitchFamily="34" charset="-120"/>
              </a:rPr>
              <a:t>+36,3 %</a:t>
            </a:r>
            <a:endParaRPr lang="de-DE" sz="1300" dirty="0"/>
          </a:p>
        </p:txBody>
      </p:sp>
      <p:sp>
        <p:nvSpPr>
          <p:cNvPr id="47" name="Shape 41"/>
          <p:cNvSpPr/>
          <p:nvPr/>
        </p:nvSpPr>
        <p:spPr>
          <a:xfrm>
            <a:off x="8220456" y="4298643"/>
            <a:ext cx="566928" cy="200205"/>
          </a:xfrm>
          <a:prstGeom prst="rect">
            <a:avLst/>
          </a:prstGeom>
          <a:solidFill>
            <a:srgbClr val="2DD4BF"/>
          </a:solidFill>
          <a:ln w="12700">
            <a:solidFill>
              <a:srgbClr val="2DD4BF"/>
            </a:solidFill>
            <a:prstDash val="solid"/>
          </a:ln>
        </p:spPr>
      </p:sp>
      <p:sp>
        <p:nvSpPr>
          <p:cNvPr id="48" name="Text 42"/>
          <p:cNvSpPr txBox="1"/>
          <p:nvPr/>
        </p:nvSpPr>
        <p:spPr>
          <a:xfrm>
            <a:off x="7991856" y="3987747"/>
            <a:ext cx="1024128" cy="274320"/>
          </a:xfrm>
          <a:prstGeom prst="rect">
            <a:avLst/>
          </a:prstGeom>
          <a:noFill/>
          <a:ln/>
        </p:spPr>
        <p:txBody>
          <a:bodyPr wrap="square" lIns="0" tIns="0" rIns="0" bIns="0" rtlCol="0" anchor="b"/>
          <a:lstStyle/>
          <a:p>
            <a:pPr algn="ctr" indent="0" marL="0">
              <a:buNone/>
            </a:pPr>
            <a:r>
              <a:rPr lang="de-DE" altLang="en-US" sz="1300" dirty="0">
                <a:solidFill>
                  <a:srgbClr val="2DD4BF"/>
                </a:solidFill>
                <a:latin typeface="Segoe UI Semibold" pitchFamily="34" charset="0"/>
                <a:ea typeface="Segoe UI Semibold" pitchFamily="34" charset="-122"/>
                <a:cs typeface="Segoe UI Semibold" pitchFamily="34" charset="-120"/>
              </a:rPr>
              <a:t>+6,4 %</a:t>
            </a:r>
            <a:endParaRPr lang="de-DE" sz="1300" dirty="0"/>
          </a:p>
        </p:txBody>
      </p:sp>
      <p:sp>
        <p:nvSpPr>
          <p:cNvPr id="49" name="Shape 43"/>
          <p:cNvSpPr/>
          <p:nvPr/>
        </p:nvSpPr>
        <p:spPr>
          <a:xfrm>
            <a:off x="7333488" y="4498848"/>
            <a:ext cx="1591056" cy="0"/>
          </a:xfrm>
          <a:prstGeom prst="line">
            <a:avLst/>
          </a:prstGeom>
          <a:noFill/>
          <a:ln w="12700">
            <a:solidFill>
              <a:srgbClr val="2F5F8C"/>
            </a:solidFill>
            <a:prstDash val="solid"/>
          </a:ln>
        </p:spPr>
      </p:sp>
      <p:sp>
        <p:nvSpPr>
          <p:cNvPr id="50" name="Shape 44"/>
          <p:cNvSpPr/>
          <p:nvPr/>
        </p:nvSpPr>
        <p:spPr>
          <a:xfrm>
            <a:off x="9674352" y="3564514"/>
            <a:ext cx="566928" cy="934334"/>
          </a:xfrm>
          <a:prstGeom prst="rect">
            <a:avLst/>
          </a:prstGeom>
          <a:solidFill>
            <a:srgbClr val="94A3B8"/>
          </a:solidFill>
          <a:ln w="12700">
            <a:solidFill>
              <a:srgbClr val="94A3B8"/>
            </a:solidFill>
            <a:prstDash val="solid"/>
          </a:ln>
        </p:spPr>
      </p:sp>
      <p:sp>
        <p:nvSpPr>
          <p:cNvPr id="51" name="Text 45"/>
          <p:cNvSpPr txBox="1"/>
          <p:nvPr/>
        </p:nvSpPr>
        <p:spPr>
          <a:xfrm>
            <a:off x="9445752" y="3253618"/>
            <a:ext cx="1024128" cy="274320"/>
          </a:xfrm>
          <a:prstGeom prst="rect">
            <a:avLst/>
          </a:prstGeom>
          <a:noFill/>
          <a:ln/>
        </p:spPr>
        <p:txBody>
          <a:bodyPr wrap="square" lIns="0" tIns="0" rIns="0" bIns="0" rtlCol="0" anchor="b"/>
          <a:lstStyle/>
          <a:p>
            <a:pPr algn="ctr" indent="0" marL="0">
              <a:buNone/>
            </a:pPr>
            <a:r>
              <a:rPr lang="de-DE" altLang="en-US" sz="1300" dirty="0">
                <a:solidFill>
                  <a:srgbClr val="EEF4FB"/>
                </a:solidFill>
                <a:latin typeface="Segoe UI Semibold" pitchFamily="34" charset="0"/>
                <a:ea typeface="Segoe UI Semibold" pitchFamily="34" charset="-122"/>
                <a:cs typeface="Segoe UI Semibold" pitchFamily="34" charset="-120"/>
              </a:rPr>
              <a:t>0,236</a:t>
            </a:r>
            <a:endParaRPr lang="de-DE" sz="1300" dirty="0"/>
          </a:p>
        </p:txBody>
      </p:sp>
      <p:sp>
        <p:nvSpPr>
          <p:cNvPr id="52" name="Shape 46"/>
          <p:cNvSpPr/>
          <p:nvPr/>
        </p:nvSpPr>
        <p:spPr>
          <a:xfrm>
            <a:off x="10424160" y="3438114"/>
            <a:ext cx="566928" cy="1060734"/>
          </a:xfrm>
          <a:prstGeom prst="rect">
            <a:avLst/>
          </a:prstGeom>
          <a:solidFill>
            <a:srgbClr val="2DD4BF"/>
          </a:solidFill>
          <a:ln w="12700">
            <a:solidFill>
              <a:srgbClr val="2DD4BF"/>
            </a:solidFill>
            <a:prstDash val="solid"/>
          </a:ln>
        </p:spPr>
      </p:sp>
      <p:sp>
        <p:nvSpPr>
          <p:cNvPr id="53" name="Text 47"/>
          <p:cNvSpPr txBox="1"/>
          <p:nvPr/>
        </p:nvSpPr>
        <p:spPr>
          <a:xfrm>
            <a:off x="10195560" y="3127218"/>
            <a:ext cx="1024128" cy="274320"/>
          </a:xfrm>
          <a:prstGeom prst="rect">
            <a:avLst/>
          </a:prstGeom>
          <a:noFill/>
          <a:ln/>
        </p:spPr>
        <p:txBody>
          <a:bodyPr wrap="square" lIns="0" tIns="0" rIns="0" bIns="0" rtlCol="0" anchor="b"/>
          <a:lstStyle/>
          <a:p>
            <a:pPr algn="ctr" indent="0" marL="0">
              <a:buNone/>
            </a:pPr>
            <a:r>
              <a:rPr lang="de-DE" altLang="en-US" sz="1300" dirty="0">
                <a:solidFill>
                  <a:srgbClr val="2DD4BF"/>
                </a:solidFill>
                <a:latin typeface="Segoe UI Semibold" pitchFamily="34" charset="0"/>
                <a:ea typeface="Segoe UI Semibold" pitchFamily="34" charset="-122"/>
                <a:cs typeface="Segoe UI Semibold" pitchFamily="34" charset="-120"/>
              </a:rPr>
              <a:t>0,268</a:t>
            </a:r>
            <a:endParaRPr lang="de-DE" sz="1300" dirty="0"/>
          </a:p>
        </p:txBody>
      </p:sp>
      <p:sp>
        <p:nvSpPr>
          <p:cNvPr id="54" name="Shape 48"/>
          <p:cNvSpPr/>
          <p:nvPr/>
        </p:nvSpPr>
        <p:spPr>
          <a:xfrm>
            <a:off x="9537192" y="4498848"/>
            <a:ext cx="1591056" cy="0"/>
          </a:xfrm>
          <a:prstGeom prst="line">
            <a:avLst/>
          </a:prstGeom>
          <a:noFill/>
          <a:ln w="12700">
            <a:solidFill>
              <a:srgbClr val="2F5F8C"/>
            </a:solidFill>
            <a:prstDash val="solid"/>
          </a:ln>
        </p:spPr>
      </p:sp>
      <p:pic>
        <p:nvPicPr>
          <p:cNvPr id="55" name="Image 4" descr="preencoded.png">    </p:cNvPr>
          <p:cNvPicPr>
            <a:picLocks noChangeAspect="1"/>
          </p:cNvPicPr>
          <p:nvPr/>
        </p:nvPicPr>
        <p:blipFill>
          <a:blip r:embed="rId6"/>
          <a:stretch>
            <a:fillRect/>
          </a:stretch>
        </p:blipFill>
        <p:spPr>
          <a:xfrm>
            <a:off x="4892040" y="5303520"/>
            <a:ext cx="237744" cy="237744"/>
          </a:xfrm>
          <a:prstGeom prst="rect">
            <a:avLst/>
          </a:prstGeom>
        </p:spPr>
      </p:pic>
      <p:sp>
        <p:nvSpPr>
          <p:cNvPr id="56" name="Text 49"/>
          <p:cNvSpPr txBox="1"/>
          <p:nvPr/>
        </p:nvSpPr>
        <p:spPr>
          <a:xfrm>
            <a:off x="5239512" y="5230368"/>
            <a:ext cx="6108192" cy="457200"/>
          </a:xfrm>
          <a:prstGeom prst="rect">
            <a:avLst/>
          </a:prstGeom>
          <a:noFill/>
          <a:ln/>
        </p:spPr>
        <p:txBody>
          <a:bodyPr wrap="square" lIns="0" tIns="0" rIns="0" bIns="0" rtlCol="0" anchor="ctr"/>
          <a:lstStyle/>
          <a:p>
            <a:pPr indent="0" marL="0">
              <a:buNone/>
            </a:pPr>
            <a:r>
              <a:rPr lang="de-DE" altLang="en-US" sz="1000" dirty="0">
                <a:solidFill>
                  <a:srgbClr val="A9BBD0"/>
                </a:solidFill>
                <a:latin typeface="Segoe UI" pitchFamily="34" charset="0"/>
                <a:ea typeface="Segoe UI" pitchFamily="34" charset="-122"/>
                <a:cs typeface="Segoe UI" pitchFamily="34" charset="-120"/>
              </a:rPr>
              <a:t>Einordnung: Die Two-Stage-Abweichung enthält teilweise einen Selektionseffekt – das Frequency-Modell hat auch aus Schäden ohne beobachtbare Schadenhöhe gelernt.</a:t>
            </a:r>
            <a:endParaRPr lang="de-DE" sz="1000" dirty="0"/>
          </a:p>
        </p:txBody>
      </p:sp>
      <p:sp>
        <p:nvSpPr>
          <p:cNvPr id="57" name="Text 50"/>
          <p:cNvSpPr txBox="1"/>
          <p:nvPr/>
        </p:nvSpPr>
        <p:spPr>
          <a:xfrm>
            <a:off x="4892040" y="5733288"/>
            <a:ext cx="6473952" cy="384048"/>
          </a:xfrm>
          <a:prstGeom prst="rect">
            <a:avLst/>
          </a:prstGeom>
          <a:noFill/>
          <a:ln/>
        </p:spPr>
        <p:txBody>
          <a:bodyPr wrap="square" lIns="0" tIns="0" rIns="0" bIns="0" rtlCol="0" anchor="ctr"/>
          <a:lstStyle/>
          <a:p>
            <a:pPr indent="0" marL="0">
              <a:buNone/>
            </a:pPr>
            <a:r>
              <a:rPr lang="de-DE" altLang="en-US" sz="1350" dirty="0">
                <a:solidFill>
                  <a:srgbClr val="22D3EE"/>
                </a:solidFill>
                <a:latin typeface="Segoe UI Semibold" pitchFamily="34" charset="0"/>
                <a:ea typeface="Segoe UI Semibold" pitchFamily="34" charset="-122"/>
                <a:cs typeface="Segoe UI Semibold" pitchFamily="34" charset="-120"/>
              </a:rPr>
              <a:t>Ergebnis: kein Winner-takes-all – Two-Stage erklärt, Tweedie priorisiert.</a:t>
            </a:r>
            <a:endParaRPr lang="de-DE"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RISIKOSEGMENTIERUNG</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10 % der Policen – 32 % des erwarteten Schadens</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11 / 19</a:t>
            </a:r>
            <a:endParaRPr lang="de-DE" sz="900" dirty="0"/>
          </a:p>
        </p:txBody>
      </p:sp>
      <p:sp>
        <p:nvSpPr>
          <p:cNvPr id="6" name="Shape 4"/>
          <p:cNvSpPr/>
          <p:nvPr/>
        </p:nvSpPr>
        <p:spPr>
          <a:xfrm>
            <a:off x="548640" y="1572768"/>
            <a:ext cx="6903720" cy="4690872"/>
          </a:xfrm>
          <a:prstGeom prst="roundRect">
            <a:avLst>
              <a:gd name="adj" fmla="val 2339"/>
            </a:avLst>
          </a:prstGeom>
          <a:solidFill>
            <a:srgbClr val="10213F">
              <a:alpha val="92000"/>
            </a:srgbClr>
          </a:solidFill>
          <a:ln w="12700">
            <a:solidFill>
              <a:srgbClr val="1E3A5F"/>
            </a:solidFill>
            <a:prstDash val="solid"/>
          </a:ln>
        </p:spPr>
      </p:sp>
      <p:sp>
        <p:nvSpPr>
          <p:cNvPr id="7" name="Text 5"/>
          <p:cNvSpPr txBox="1"/>
          <p:nvPr/>
        </p:nvSpPr>
        <p:spPr>
          <a:xfrm>
            <a:off x="822960" y="1755648"/>
            <a:ext cx="27432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SEGMENTLOGIK</a:t>
            </a:r>
            <a:endParaRPr lang="de-DE" sz="1000" dirty="0"/>
          </a:p>
        </p:txBody>
      </p:sp>
      <p:sp>
        <p:nvSpPr>
          <p:cNvPr id="8" name="Text 6"/>
          <p:cNvSpPr txBox="1"/>
          <p:nvPr/>
        </p:nvSpPr>
        <p:spPr>
          <a:xfrm>
            <a:off x="822960" y="1993392"/>
            <a:ext cx="5943600" cy="329184"/>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Quantile des Tweedie-Schadenbedarfs</a:t>
            </a:r>
            <a:endParaRPr lang="de-DE" sz="1600" dirty="0"/>
          </a:p>
        </p:txBody>
      </p:sp>
      <p:sp>
        <p:nvSpPr>
          <p:cNvPr id="9" name="Text 7"/>
          <p:cNvSpPr txBox="1"/>
          <p:nvPr/>
        </p:nvSpPr>
        <p:spPr>
          <a:xfrm>
            <a:off x="822960" y="2322576"/>
            <a:ext cx="5943600" cy="256032"/>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alle 678.013 Policen nach modelliertem Risiko sortiert</a:t>
            </a:r>
            <a:endParaRPr lang="de-DE" sz="1100" dirty="0"/>
          </a:p>
        </p:txBody>
      </p:sp>
      <p:sp>
        <p:nvSpPr>
          <p:cNvPr id="10" name="Text 8"/>
          <p:cNvSpPr txBox="1"/>
          <p:nvPr/>
        </p:nvSpPr>
        <p:spPr>
          <a:xfrm>
            <a:off x="822960" y="2697480"/>
            <a:ext cx="2743200" cy="237744"/>
          </a:xfrm>
          <a:prstGeom prst="rect">
            <a:avLst/>
          </a:prstGeom>
          <a:noFill/>
          <a:ln/>
        </p:spPr>
        <p:txBody>
          <a:bodyPr wrap="square" lIns="0" tIns="0" rIns="0" bIns="0" rtlCol="0" anchor="t"/>
          <a:lstStyle/>
          <a:p>
            <a:pPr indent="0" marL="0">
              <a:buNone/>
            </a:pPr>
            <a:r>
              <a:rPr lang="de-DE" altLang="en-US" sz="950" dirty="0">
                <a:solidFill>
                  <a:srgbClr val="7389A6"/>
                </a:solidFill>
                <a:latin typeface="Segoe UI" pitchFamily="34" charset="0"/>
                <a:ea typeface="Segoe UI" pitchFamily="34" charset="-122"/>
                <a:cs typeface="Segoe UI" pitchFamily="34" charset="-120"/>
              </a:rPr>
              <a:t>niedriger Schadenbedarf</a:t>
            </a:r>
            <a:endParaRPr lang="de-DE" sz="950" dirty="0"/>
          </a:p>
        </p:txBody>
      </p:sp>
      <p:sp>
        <p:nvSpPr>
          <p:cNvPr id="11" name="Text 9"/>
          <p:cNvSpPr txBox="1"/>
          <p:nvPr/>
        </p:nvSpPr>
        <p:spPr>
          <a:xfrm>
            <a:off x="4434840" y="2697480"/>
            <a:ext cx="2743200" cy="237744"/>
          </a:xfrm>
          <a:prstGeom prst="rect">
            <a:avLst/>
          </a:prstGeom>
          <a:noFill/>
          <a:ln/>
        </p:spPr>
        <p:txBody>
          <a:bodyPr wrap="square" lIns="0" tIns="0" rIns="0" bIns="0" rtlCol="0" anchor="t"/>
          <a:lstStyle/>
          <a:p>
            <a:pPr algn="r" indent="0" marL="0">
              <a:buNone/>
            </a:pPr>
            <a:r>
              <a:rPr lang="de-DE" altLang="en-US" sz="950" dirty="0">
                <a:solidFill>
                  <a:srgbClr val="7389A6"/>
                </a:solidFill>
                <a:latin typeface="Segoe UI" pitchFamily="34" charset="0"/>
                <a:ea typeface="Segoe UI" pitchFamily="34" charset="-122"/>
                <a:cs typeface="Segoe UI" pitchFamily="34" charset="-120"/>
              </a:rPr>
              <a:t>hoher Schadenbedarf  →</a:t>
            </a:r>
            <a:endParaRPr lang="de-DE" sz="950" dirty="0"/>
          </a:p>
        </p:txBody>
      </p:sp>
      <p:sp>
        <p:nvSpPr>
          <p:cNvPr id="12" name="Shape 10"/>
          <p:cNvSpPr/>
          <p:nvPr/>
        </p:nvSpPr>
        <p:spPr>
          <a:xfrm>
            <a:off x="822960" y="2990088"/>
            <a:ext cx="3177540" cy="777240"/>
          </a:xfrm>
          <a:prstGeom prst="rect">
            <a:avLst/>
          </a:prstGeom>
          <a:solidFill>
            <a:srgbClr val="2F7FA3"/>
          </a:solidFill>
          <a:ln w="19050">
            <a:solidFill>
              <a:srgbClr val="0A1628"/>
            </a:solidFill>
            <a:prstDash val="solid"/>
          </a:ln>
        </p:spPr>
      </p:sp>
      <p:sp>
        <p:nvSpPr>
          <p:cNvPr id="13" name="Text 11"/>
          <p:cNvSpPr txBox="1"/>
          <p:nvPr/>
        </p:nvSpPr>
        <p:spPr>
          <a:xfrm>
            <a:off x="822960" y="2990088"/>
            <a:ext cx="3177540" cy="777240"/>
          </a:xfrm>
          <a:prstGeom prst="rect">
            <a:avLst/>
          </a:prstGeom>
          <a:noFill/>
          <a:ln/>
        </p:spPr>
        <p:txBody>
          <a:bodyPr wrap="square" lIns="0" tIns="0" rIns="0" bIns="0" rtlCol="0" anchor="ctr"/>
          <a:lstStyle/>
          <a:p>
            <a:pPr algn="ctr" indent="0" marL="0">
              <a:buNone/>
            </a:pPr>
            <a:r>
              <a:rPr lang="de-DE" altLang="en-US" sz="1000" dirty="0">
                <a:solidFill>
                  <a:srgbClr val="EEF4FB"/>
                </a:solidFill>
                <a:latin typeface="Segoe UI Semibold" pitchFamily="34" charset="0"/>
                <a:ea typeface="Segoe UI Semibold" pitchFamily="34" charset="-122"/>
                <a:cs typeface="Segoe UI Semibold" pitchFamily="34" charset="-120"/>
              </a:rPr>
              <a:t>LOW</a:t>
            </a:r>
            <a:endParaRPr lang="de-DE" sz="1400" dirty="0"/>
          </a:p>
          <a:p>
            <a:pPr algn="ctr" indent="0" marL="0">
              <a:buNone/>
            </a:pPr>
            <a:r>
              <a:rPr lang="de-DE" altLang="en-US" sz="1400" dirty="0">
                <a:solidFill>
                  <a:srgbClr val="EEF4FB"/>
                </a:solidFill>
                <a:latin typeface="Segoe UI Semibold" pitchFamily="34" charset="0"/>
                <a:ea typeface="Segoe UI Semibold" pitchFamily="34" charset="-122"/>
                <a:cs typeface="Segoe UI Semibold" pitchFamily="34" charset="-120"/>
              </a:rPr>
              <a:t>50 %</a:t>
            </a:r>
            <a:endParaRPr lang="de-DE" sz="1400" dirty="0"/>
          </a:p>
        </p:txBody>
      </p:sp>
      <p:sp>
        <p:nvSpPr>
          <p:cNvPr id="14" name="Text 12"/>
          <p:cNvSpPr txBox="1"/>
          <p:nvPr/>
        </p:nvSpPr>
        <p:spPr>
          <a:xfrm>
            <a:off x="822960" y="4187952"/>
            <a:ext cx="3177540" cy="237744"/>
          </a:xfrm>
          <a:prstGeom prst="rect">
            <a:avLst/>
          </a:prstGeom>
          <a:noFill/>
          <a:ln/>
        </p:spPr>
        <p:txBody>
          <a:bodyPr wrap="square" lIns="0" tIns="0" rIns="0" bIns="0" rtlCol="0" anchor="t"/>
          <a:lstStyle/>
          <a:p>
            <a:pPr algn="ctr" indent="0" marL="0">
              <a:buNone/>
            </a:pPr>
            <a:r>
              <a:rPr lang="de-DE" altLang="en-US" sz="1000" dirty="0">
                <a:solidFill>
                  <a:srgbClr val="A9BBD0"/>
                </a:solidFill>
                <a:latin typeface="Segoe UI" pitchFamily="34" charset="0"/>
                <a:ea typeface="Segoe UI" pitchFamily="34" charset="-122"/>
                <a:cs typeface="Segoe UI" pitchFamily="34" charset="-120"/>
              </a:rPr>
              <a:t>339.008</a:t>
            </a:r>
            <a:endParaRPr lang="de-DE" sz="1000" dirty="0"/>
          </a:p>
        </p:txBody>
      </p:sp>
      <p:sp>
        <p:nvSpPr>
          <p:cNvPr id="15" name="Shape 13"/>
          <p:cNvSpPr/>
          <p:nvPr/>
        </p:nvSpPr>
        <p:spPr>
          <a:xfrm>
            <a:off x="4000500" y="2990088"/>
            <a:ext cx="1588770" cy="777240"/>
          </a:xfrm>
          <a:prstGeom prst="rect">
            <a:avLst/>
          </a:prstGeom>
          <a:solidFill>
            <a:srgbClr val="22D3EE"/>
          </a:solidFill>
          <a:ln w="19050">
            <a:solidFill>
              <a:srgbClr val="0A1628"/>
            </a:solidFill>
            <a:prstDash val="solid"/>
          </a:ln>
        </p:spPr>
      </p:sp>
      <p:sp>
        <p:nvSpPr>
          <p:cNvPr id="16" name="Text 14"/>
          <p:cNvSpPr txBox="1"/>
          <p:nvPr/>
        </p:nvSpPr>
        <p:spPr>
          <a:xfrm>
            <a:off x="4000500" y="2990088"/>
            <a:ext cx="1588770" cy="777240"/>
          </a:xfrm>
          <a:prstGeom prst="rect">
            <a:avLst/>
          </a:prstGeom>
          <a:noFill/>
          <a:ln/>
        </p:spPr>
        <p:txBody>
          <a:bodyPr wrap="square" lIns="0" tIns="0" rIns="0" bIns="0" rtlCol="0" anchor="ctr"/>
          <a:lstStyle/>
          <a:p>
            <a:pPr algn="ctr" indent="0" marL="0">
              <a:buNone/>
            </a:pPr>
            <a:r>
              <a:rPr lang="de-DE" altLang="en-US" sz="1000" dirty="0">
                <a:solidFill>
                  <a:srgbClr val="0A1628"/>
                </a:solidFill>
                <a:latin typeface="Segoe UI Semibold" pitchFamily="34" charset="0"/>
                <a:ea typeface="Segoe UI Semibold" pitchFamily="34" charset="-122"/>
                <a:cs typeface="Segoe UI Semibold" pitchFamily="34" charset="-120"/>
              </a:rPr>
              <a:t>STANDARD</a:t>
            </a:r>
            <a:endParaRPr lang="de-DE" sz="1400" dirty="0"/>
          </a:p>
          <a:p>
            <a:pPr algn="ctr" indent="0" marL="0">
              <a:buNone/>
            </a:pPr>
            <a:r>
              <a:rPr lang="de-DE" altLang="en-US" sz="1400" dirty="0">
                <a:solidFill>
                  <a:srgbClr val="0A1628"/>
                </a:solidFill>
                <a:latin typeface="Segoe UI Semibold" pitchFamily="34" charset="0"/>
                <a:ea typeface="Segoe UI Semibold" pitchFamily="34" charset="-122"/>
                <a:cs typeface="Segoe UI Semibold" pitchFamily="34" charset="-120"/>
              </a:rPr>
              <a:t>25 %</a:t>
            </a:r>
            <a:endParaRPr lang="de-DE" sz="1400" dirty="0"/>
          </a:p>
        </p:txBody>
      </p:sp>
      <p:sp>
        <p:nvSpPr>
          <p:cNvPr id="17" name="Text 15"/>
          <p:cNvSpPr txBox="1"/>
          <p:nvPr/>
        </p:nvSpPr>
        <p:spPr>
          <a:xfrm>
            <a:off x="4000500" y="4187952"/>
            <a:ext cx="1588770" cy="237744"/>
          </a:xfrm>
          <a:prstGeom prst="rect">
            <a:avLst/>
          </a:prstGeom>
          <a:noFill/>
          <a:ln/>
        </p:spPr>
        <p:txBody>
          <a:bodyPr wrap="square" lIns="0" tIns="0" rIns="0" bIns="0" rtlCol="0" anchor="t"/>
          <a:lstStyle/>
          <a:p>
            <a:pPr algn="ctr" indent="0" marL="0">
              <a:buNone/>
            </a:pPr>
            <a:r>
              <a:rPr lang="de-DE" altLang="en-US" sz="1000" dirty="0">
                <a:solidFill>
                  <a:srgbClr val="A9BBD0"/>
                </a:solidFill>
                <a:latin typeface="Segoe UI" pitchFamily="34" charset="0"/>
                <a:ea typeface="Segoe UI" pitchFamily="34" charset="-122"/>
                <a:cs typeface="Segoe UI" pitchFamily="34" charset="-120"/>
              </a:rPr>
              <a:t>169.508</a:t>
            </a:r>
            <a:endParaRPr lang="de-DE" sz="1000" dirty="0"/>
          </a:p>
        </p:txBody>
      </p:sp>
      <p:sp>
        <p:nvSpPr>
          <p:cNvPr id="18" name="Shape 16"/>
          <p:cNvSpPr/>
          <p:nvPr/>
        </p:nvSpPr>
        <p:spPr>
          <a:xfrm>
            <a:off x="5589270" y="2990088"/>
            <a:ext cx="953262" cy="777240"/>
          </a:xfrm>
          <a:prstGeom prst="rect">
            <a:avLst/>
          </a:prstGeom>
          <a:solidFill>
            <a:srgbClr val="FBBF24"/>
          </a:solidFill>
          <a:ln w="19050">
            <a:solidFill>
              <a:srgbClr val="0A1628"/>
            </a:solidFill>
            <a:prstDash val="solid"/>
          </a:ln>
        </p:spPr>
      </p:sp>
      <p:sp>
        <p:nvSpPr>
          <p:cNvPr id="19" name="Text 17"/>
          <p:cNvSpPr txBox="1"/>
          <p:nvPr/>
        </p:nvSpPr>
        <p:spPr>
          <a:xfrm>
            <a:off x="5589270" y="2990088"/>
            <a:ext cx="953262" cy="777240"/>
          </a:xfrm>
          <a:prstGeom prst="rect">
            <a:avLst/>
          </a:prstGeom>
          <a:noFill/>
          <a:ln/>
        </p:spPr>
        <p:txBody>
          <a:bodyPr wrap="square" lIns="0" tIns="0" rIns="0" bIns="0" rtlCol="0" anchor="ctr"/>
          <a:lstStyle/>
          <a:p>
            <a:pPr algn="ctr" indent="0" marL="0">
              <a:buNone/>
            </a:pPr>
            <a:r>
              <a:rPr lang="de-DE" altLang="en-US" sz="1000" dirty="0">
                <a:solidFill>
                  <a:srgbClr val="0A1628"/>
                </a:solidFill>
                <a:latin typeface="Segoe UI Semibold" pitchFamily="34" charset="0"/>
                <a:ea typeface="Segoe UI Semibold" pitchFamily="34" charset="-122"/>
                <a:cs typeface="Segoe UI Semibold" pitchFamily="34" charset="-120"/>
              </a:rPr>
              <a:t>ELEVATED</a:t>
            </a:r>
            <a:endParaRPr lang="de-DE" sz="1400" dirty="0"/>
          </a:p>
          <a:p>
            <a:pPr algn="ctr" indent="0" marL="0">
              <a:buNone/>
            </a:pPr>
            <a:r>
              <a:rPr lang="de-DE" altLang="en-US" sz="1400" dirty="0">
                <a:solidFill>
                  <a:srgbClr val="0A1628"/>
                </a:solidFill>
                <a:latin typeface="Segoe UI Semibold" pitchFamily="34" charset="0"/>
                <a:ea typeface="Segoe UI Semibold" pitchFamily="34" charset="-122"/>
                <a:cs typeface="Segoe UI Semibold" pitchFamily="34" charset="-120"/>
              </a:rPr>
              <a:t>15 %</a:t>
            </a:r>
            <a:endParaRPr lang="de-DE" sz="1400" dirty="0"/>
          </a:p>
        </p:txBody>
      </p:sp>
      <p:sp>
        <p:nvSpPr>
          <p:cNvPr id="20" name="Text 18"/>
          <p:cNvSpPr txBox="1"/>
          <p:nvPr/>
        </p:nvSpPr>
        <p:spPr>
          <a:xfrm>
            <a:off x="5589270" y="4187952"/>
            <a:ext cx="953262" cy="237744"/>
          </a:xfrm>
          <a:prstGeom prst="rect">
            <a:avLst/>
          </a:prstGeom>
          <a:noFill/>
          <a:ln/>
        </p:spPr>
        <p:txBody>
          <a:bodyPr wrap="square" lIns="0" tIns="0" rIns="0" bIns="0" rtlCol="0" anchor="t"/>
          <a:lstStyle/>
          <a:p>
            <a:pPr algn="ctr" indent="0" marL="0">
              <a:buNone/>
            </a:pPr>
            <a:r>
              <a:rPr lang="de-DE" altLang="en-US" sz="1000" dirty="0">
                <a:solidFill>
                  <a:srgbClr val="A9BBD0"/>
                </a:solidFill>
                <a:latin typeface="Segoe UI" pitchFamily="34" charset="0"/>
                <a:ea typeface="Segoe UI" pitchFamily="34" charset="-122"/>
                <a:cs typeface="Segoe UI" pitchFamily="34" charset="-120"/>
              </a:rPr>
              <a:t>101.695</a:t>
            </a:r>
            <a:endParaRPr lang="de-DE" sz="1000" dirty="0"/>
          </a:p>
        </p:txBody>
      </p:sp>
      <p:sp>
        <p:nvSpPr>
          <p:cNvPr id="21" name="Shape 19"/>
          <p:cNvSpPr/>
          <p:nvPr/>
        </p:nvSpPr>
        <p:spPr>
          <a:xfrm>
            <a:off x="6542532" y="2990088"/>
            <a:ext cx="635508" cy="777240"/>
          </a:xfrm>
          <a:prstGeom prst="rect">
            <a:avLst/>
          </a:prstGeom>
          <a:solidFill>
            <a:srgbClr val="F87171"/>
          </a:solidFill>
          <a:ln w="19050">
            <a:solidFill>
              <a:srgbClr val="0A1628"/>
            </a:solidFill>
            <a:prstDash val="solid"/>
          </a:ln>
        </p:spPr>
      </p:sp>
      <p:sp>
        <p:nvSpPr>
          <p:cNvPr id="22" name="Text 20"/>
          <p:cNvSpPr txBox="1"/>
          <p:nvPr/>
        </p:nvSpPr>
        <p:spPr>
          <a:xfrm>
            <a:off x="6542532" y="2990088"/>
            <a:ext cx="635508" cy="777240"/>
          </a:xfrm>
          <a:prstGeom prst="rect">
            <a:avLst/>
          </a:prstGeom>
          <a:noFill/>
          <a:ln/>
        </p:spPr>
        <p:txBody>
          <a:bodyPr wrap="square" lIns="0" tIns="0" rIns="0" bIns="0" rtlCol="0" anchor="ctr"/>
          <a:lstStyle/>
          <a:p>
            <a:pPr algn="ctr" indent="0" marL="0">
              <a:buNone/>
            </a:pPr>
            <a:r>
              <a:rPr lang="de-DE" altLang="en-US" sz="1000" dirty="0">
                <a:solidFill>
                  <a:srgbClr val="0A1628"/>
                </a:solidFill>
                <a:latin typeface="Segoe UI Semibold" pitchFamily="34" charset="0"/>
                <a:ea typeface="Segoe UI Semibold" pitchFamily="34" charset="-122"/>
                <a:cs typeface="Segoe UI Semibold" pitchFamily="34" charset="-120"/>
              </a:rPr>
              <a:t>HIGH</a:t>
            </a:r>
            <a:endParaRPr lang="de-DE" sz="1400" dirty="0"/>
          </a:p>
          <a:p>
            <a:pPr algn="ctr" indent="0" marL="0">
              <a:buNone/>
            </a:pPr>
            <a:r>
              <a:rPr lang="de-DE" altLang="en-US" sz="1400" dirty="0">
                <a:solidFill>
                  <a:srgbClr val="0A1628"/>
                </a:solidFill>
                <a:latin typeface="Segoe UI Semibold" pitchFamily="34" charset="0"/>
                <a:ea typeface="Segoe UI Semibold" pitchFamily="34" charset="-122"/>
                <a:cs typeface="Segoe UI Semibold" pitchFamily="34" charset="-120"/>
              </a:rPr>
              <a:t>10 %</a:t>
            </a:r>
            <a:endParaRPr lang="de-DE" sz="1400" dirty="0"/>
          </a:p>
        </p:txBody>
      </p:sp>
      <p:sp>
        <p:nvSpPr>
          <p:cNvPr id="23" name="Text 21"/>
          <p:cNvSpPr txBox="1"/>
          <p:nvPr/>
        </p:nvSpPr>
        <p:spPr>
          <a:xfrm>
            <a:off x="6542532" y="4187952"/>
            <a:ext cx="635508" cy="237744"/>
          </a:xfrm>
          <a:prstGeom prst="rect">
            <a:avLst/>
          </a:prstGeom>
          <a:noFill/>
          <a:ln/>
        </p:spPr>
        <p:txBody>
          <a:bodyPr wrap="square" lIns="0" tIns="0" rIns="0" bIns="0" rtlCol="0" anchor="t"/>
          <a:lstStyle/>
          <a:p>
            <a:pPr algn="ctr" indent="0" marL="0">
              <a:buNone/>
            </a:pPr>
            <a:r>
              <a:rPr lang="de-DE" altLang="en-US" sz="1000" dirty="0">
                <a:solidFill>
                  <a:srgbClr val="A9BBD0"/>
                </a:solidFill>
                <a:latin typeface="Segoe UI" pitchFamily="34" charset="0"/>
                <a:ea typeface="Segoe UI" pitchFamily="34" charset="-122"/>
                <a:cs typeface="Segoe UI" pitchFamily="34" charset="-120"/>
              </a:rPr>
              <a:t>67.802</a:t>
            </a:r>
            <a:endParaRPr lang="de-DE" sz="1000" dirty="0"/>
          </a:p>
        </p:txBody>
      </p:sp>
      <p:sp>
        <p:nvSpPr>
          <p:cNvPr id="24" name="Shape 22"/>
          <p:cNvSpPr/>
          <p:nvPr/>
        </p:nvSpPr>
        <p:spPr>
          <a:xfrm>
            <a:off x="4000500" y="3767328"/>
            <a:ext cx="0" cy="109728"/>
          </a:xfrm>
          <a:prstGeom prst="line">
            <a:avLst/>
          </a:prstGeom>
          <a:noFill/>
          <a:ln w="15875">
            <a:solidFill>
              <a:srgbClr val="22D3EE"/>
            </a:solidFill>
            <a:prstDash val="solid"/>
          </a:ln>
        </p:spPr>
      </p:sp>
      <p:sp>
        <p:nvSpPr>
          <p:cNvPr id="25" name="Text 23"/>
          <p:cNvSpPr txBox="1"/>
          <p:nvPr/>
        </p:nvSpPr>
        <p:spPr>
          <a:xfrm>
            <a:off x="3634740" y="3886200"/>
            <a:ext cx="731520" cy="237744"/>
          </a:xfrm>
          <a:prstGeom prst="rect">
            <a:avLst/>
          </a:prstGeom>
          <a:noFill/>
          <a:ln/>
        </p:spPr>
        <p:txBody>
          <a:bodyPr wrap="square" lIns="0" tIns="0" rIns="0" bIns="0" rtlCol="0" anchor="t"/>
          <a:lstStyle/>
          <a:p>
            <a:pPr algn="ctr" indent="0" marL="0">
              <a:buNone/>
            </a:pPr>
            <a:r>
              <a:rPr lang="de-DE" altLang="en-US" sz="1000" dirty="0">
                <a:solidFill>
                  <a:srgbClr val="22D3EE"/>
                </a:solidFill>
                <a:latin typeface="Segoe UI Semibold" pitchFamily="34" charset="0"/>
                <a:ea typeface="Segoe UI Semibold" pitchFamily="34" charset="-122"/>
                <a:cs typeface="Segoe UI Semibold" pitchFamily="34" charset="-120"/>
              </a:rPr>
              <a:t>119 €</a:t>
            </a:r>
            <a:endParaRPr lang="de-DE" sz="1000" dirty="0"/>
          </a:p>
        </p:txBody>
      </p:sp>
      <p:sp>
        <p:nvSpPr>
          <p:cNvPr id="26" name="Shape 24"/>
          <p:cNvSpPr/>
          <p:nvPr/>
        </p:nvSpPr>
        <p:spPr>
          <a:xfrm>
            <a:off x="5589270" y="3767328"/>
            <a:ext cx="0" cy="109728"/>
          </a:xfrm>
          <a:prstGeom prst="line">
            <a:avLst/>
          </a:prstGeom>
          <a:noFill/>
          <a:ln w="15875">
            <a:solidFill>
              <a:srgbClr val="22D3EE"/>
            </a:solidFill>
            <a:prstDash val="solid"/>
          </a:ln>
        </p:spPr>
      </p:sp>
      <p:sp>
        <p:nvSpPr>
          <p:cNvPr id="27" name="Text 25"/>
          <p:cNvSpPr txBox="1"/>
          <p:nvPr/>
        </p:nvSpPr>
        <p:spPr>
          <a:xfrm>
            <a:off x="5223510" y="3886200"/>
            <a:ext cx="731520" cy="237744"/>
          </a:xfrm>
          <a:prstGeom prst="rect">
            <a:avLst/>
          </a:prstGeom>
          <a:noFill/>
          <a:ln/>
        </p:spPr>
        <p:txBody>
          <a:bodyPr wrap="square" lIns="0" tIns="0" rIns="0" bIns="0" rtlCol="0" anchor="t"/>
          <a:lstStyle/>
          <a:p>
            <a:pPr algn="ctr" indent="0" marL="0">
              <a:buNone/>
            </a:pPr>
            <a:r>
              <a:rPr lang="de-DE" altLang="en-US" sz="1000" dirty="0">
                <a:solidFill>
                  <a:srgbClr val="22D3EE"/>
                </a:solidFill>
                <a:latin typeface="Segoe UI Semibold" pitchFamily="34" charset="0"/>
                <a:ea typeface="Segoe UI Semibold" pitchFamily="34" charset="-122"/>
                <a:cs typeface="Segoe UI Semibold" pitchFamily="34" charset="-120"/>
              </a:rPr>
              <a:t>188 €</a:t>
            </a:r>
            <a:endParaRPr lang="de-DE" sz="1000" dirty="0"/>
          </a:p>
        </p:txBody>
      </p:sp>
      <p:sp>
        <p:nvSpPr>
          <p:cNvPr id="28" name="Shape 26"/>
          <p:cNvSpPr/>
          <p:nvPr/>
        </p:nvSpPr>
        <p:spPr>
          <a:xfrm>
            <a:off x="6542532" y="3767328"/>
            <a:ext cx="0" cy="109728"/>
          </a:xfrm>
          <a:prstGeom prst="line">
            <a:avLst/>
          </a:prstGeom>
          <a:noFill/>
          <a:ln w="15875">
            <a:solidFill>
              <a:srgbClr val="22D3EE"/>
            </a:solidFill>
            <a:prstDash val="solid"/>
          </a:ln>
        </p:spPr>
      </p:sp>
      <p:sp>
        <p:nvSpPr>
          <p:cNvPr id="29" name="Text 27"/>
          <p:cNvSpPr txBox="1"/>
          <p:nvPr/>
        </p:nvSpPr>
        <p:spPr>
          <a:xfrm>
            <a:off x="6176772" y="3886200"/>
            <a:ext cx="731520" cy="237744"/>
          </a:xfrm>
          <a:prstGeom prst="rect">
            <a:avLst/>
          </a:prstGeom>
          <a:noFill/>
          <a:ln/>
        </p:spPr>
        <p:txBody>
          <a:bodyPr wrap="square" lIns="0" tIns="0" rIns="0" bIns="0" rtlCol="0" anchor="t"/>
          <a:lstStyle/>
          <a:p>
            <a:pPr algn="ctr" indent="0" marL="0">
              <a:buNone/>
            </a:pPr>
            <a:r>
              <a:rPr lang="de-DE" altLang="en-US" sz="1000" dirty="0">
                <a:solidFill>
                  <a:srgbClr val="22D3EE"/>
                </a:solidFill>
                <a:latin typeface="Segoe UI Semibold" pitchFamily="34" charset="0"/>
                <a:ea typeface="Segoe UI Semibold" pitchFamily="34" charset="-122"/>
                <a:cs typeface="Segoe UI Semibold" pitchFamily="34" charset="-120"/>
              </a:rPr>
              <a:t>328 €</a:t>
            </a:r>
            <a:endParaRPr lang="de-DE" sz="1000" dirty="0"/>
          </a:p>
        </p:txBody>
      </p:sp>
      <p:sp>
        <p:nvSpPr>
          <p:cNvPr id="30" name="Text 28"/>
          <p:cNvSpPr txBox="1"/>
          <p:nvPr/>
        </p:nvSpPr>
        <p:spPr>
          <a:xfrm>
            <a:off x="822960" y="4480560"/>
            <a:ext cx="6355080" cy="237744"/>
          </a:xfrm>
          <a:prstGeom prst="rect">
            <a:avLst/>
          </a:prstGeom>
          <a:noFill/>
          <a:ln/>
        </p:spPr>
        <p:txBody>
          <a:bodyPr wrap="square" lIns="0" tIns="0" rIns="0" bIns="0" rtlCol="0" anchor="t"/>
          <a:lstStyle/>
          <a:p>
            <a:pPr indent="0" marL="0">
              <a:buNone/>
            </a:pPr>
            <a:r>
              <a:rPr lang="de-DE" altLang="en-US" sz="950" dirty="0">
                <a:solidFill>
                  <a:srgbClr val="7389A6"/>
                </a:solidFill>
                <a:latin typeface="Segoe UI" pitchFamily="34" charset="0"/>
                <a:ea typeface="Segoe UI" pitchFamily="34" charset="-122"/>
                <a:cs typeface="Segoe UI" pitchFamily="34" charset="-120"/>
              </a:rPr>
              <a:t>Grenzen P50 · P75 · P90 (Schadenbedarf pro Jahr) und Anzahl Policen je Segment</a:t>
            </a:r>
            <a:endParaRPr lang="de-DE" sz="950" dirty="0"/>
          </a:p>
        </p:txBody>
      </p:sp>
      <p:sp>
        <p:nvSpPr>
          <p:cNvPr id="31" name="Text 29"/>
          <p:cNvSpPr txBox="1"/>
          <p:nvPr/>
        </p:nvSpPr>
        <p:spPr>
          <a:xfrm>
            <a:off x="822960" y="4864608"/>
            <a:ext cx="27432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RISK DECILES</a:t>
            </a:r>
            <a:endParaRPr lang="de-DE" sz="1000" dirty="0"/>
          </a:p>
        </p:txBody>
      </p:sp>
      <p:sp>
        <p:nvSpPr>
          <p:cNvPr id="32" name="Shape 30"/>
          <p:cNvSpPr/>
          <p:nvPr/>
        </p:nvSpPr>
        <p:spPr>
          <a:xfrm>
            <a:off x="822960" y="5157216"/>
            <a:ext cx="566928" cy="420624"/>
          </a:xfrm>
          <a:prstGeom prst="roundRect">
            <a:avLst>
              <a:gd name="adj" fmla="val 13043"/>
            </a:avLst>
          </a:prstGeom>
          <a:solidFill>
            <a:srgbClr val="22D3EE">
              <a:alpha val="12000"/>
            </a:srgbClr>
          </a:solidFill>
          <a:ln w="9525">
            <a:solidFill>
              <a:srgbClr val="22D3EE">
                <a:alpha val="60000"/>
              </a:srgbClr>
            </a:solidFill>
            <a:prstDash val="solid"/>
          </a:ln>
        </p:spPr>
      </p:sp>
      <p:sp>
        <p:nvSpPr>
          <p:cNvPr id="33" name="Text 31"/>
          <p:cNvSpPr txBox="1"/>
          <p:nvPr/>
        </p:nvSpPr>
        <p:spPr>
          <a:xfrm>
            <a:off x="822960"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1</a:t>
            </a:r>
            <a:endParaRPr lang="de-DE" sz="1200" dirty="0"/>
          </a:p>
        </p:txBody>
      </p:sp>
      <p:sp>
        <p:nvSpPr>
          <p:cNvPr id="34" name="Shape 32"/>
          <p:cNvSpPr/>
          <p:nvPr/>
        </p:nvSpPr>
        <p:spPr>
          <a:xfrm>
            <a:off x="1466088" y="5157216"/>
            <a:ext cx="566928" cy="420624"/>
          </a:xfrm>
          <a:prstGeom prst="roundRect">
            <a:avLst>
              <a:gd name="adj" fmla="val 13043"/>
            </a:avLst>
          </a:prstGeom>
          <a:solidFill>
            <a:srgbClr val="22D3EE">
              <a:alpha val="20000"/>
            </a:srgbClr>
          </a:solidFill>
          <a:ln w="9525">
            <a:solidFill>
              <a:srgbClr val="22D3EE">
                <a:alpha val="60000"/>
              </a:srgbClr>
            </a:solidFill>
            <a:prstDash val="solid"/>
          </a:ln>
        </p:spPr>
      </p:sp>
      <p:sp>
        <p:nvSpPr>
          <p:cNvPr id="35" name="Text 33"/>
          <p:cNvSpPr txBox="1"/>
          <p:nvPr/>
        </p:nvSpPr>
        <p:spPr>
          <a:xfrm>
            <a:off x="1466088"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2</a:t>
            </a:r>
            <a:endParaRPr lang="de-DE" sz="1200" dirty="0"/>
          </a:p>
        </p:txBody>
      </p:sp>
      <p:sp>
        <p:nvSpPr>
          <p:cNvPr id="36" name="Shape 34"/>
          <p:cNvSpPr/>
          <p:nvPr/>
        </p:nvSpPr>
        <p:spPr>
          <a:xfrm>
            <a:off x="2109216" y="5157216"/>
            <a:ext cx="566928" cy="420624"/>
          </a:xfrm>
          <a:prstGeom prst="roundRect">
            <a:avLst>
              <a:gd name="adj" fmla="val 13043"/>
            </a:avLst>
          </a:prstGeom>
          <a:solidFill>
            <a:srgbClr val="22D3EE">
              <a:alpha val="28000"/>
            </a:srgbClr>
          </a:solidFill>
          <a:ln w="9525">
            <a:solidFill>
              <a:srgbClr val="22D3EE">
                <a:alpha val="60000"/>
              </a:srgbClr>
            </a:solidFill>
            <a:prstDash val="solid"/>
          </a:ln>
        </p:spPr>
      </p:sp>
      <p:sp>
        <p:nvSpPr>
          <p:cNvPr id="37" name="Text 35"/>
          <p:cNvSpPr txBox="1"/>
          <p:nvPr/>
        </p:nvSpPr>
        <p:spPr>
          <a:xfrm>
            <a:off x="2109216"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3</a:t>
            </a:r>
            <a:endParaRPr lang="de-DE" sz="1200" dirty="0"/>
          </a:p>
        </p:txBody>
      </p:sp>
      <p:sp>
        <p:nvSpPr>
          <p:cNvPr id="38" name="Shape 36"/>
          <p:cNvSpPr/>
          <p:nvPr/>
        </p:nvSpPr>
        <p:spPr>
          <a:xfrm>
            <a:off x="2752344" y="5157216"/>
            <a:ext cx="566928" cy="420624"/>
          </a:xfrm>
          <a:prstGeom prst="roundRect">
            <a:avLst>
              <a:gd name="adj" fmla="val 13043"/>
            </a:avLst>
          </a:prstGeom>
          <a:solidFill>
            <a:srgbClr val="22D3EE">
              <a:alpha val="36000"/>
            </a:srgbClr>
          </a:solidFill>
          <a:ln w="9525">
            <a:solidFill>
              <a:srgbClr val="22D3EE">
                <a:alpha val="60000"/>
              </a:srgbClr>
            </a:solidFill>
            <a:prstDash val="solid"/>
          </a:ln>
        </p:spPr>
      </p:sp>
      <p:sp>
        <p:nvSpPr>
          <p:cNvPr id="39" name="Text 37"/>
          <p:cNvSpPr txBox="1"/>
          <p:nvPr/>
        </p:nvSpPr>
        <p:spPr>
          <a:xfrm>
            <a:off x="2752344"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4</a:t>
            </a:r>
            <a:endParaRPr lang="de-DE" sz="1200" dirty="0"/>
          </a:p>
        </p:txBody>
      </p:sp>
      <p:sp>
        <p:nvSpPr>
          <p:cNvPr id="40" name="Shape 38"/>
          <p:cNvSpPr/>
          <p:nvPr/>
        </p:nvSpPr>
        <p:spPr>
          <a:xfrm>
            <a:off x="3395472" y="5157216"/>
            <a:ext cx="566928" cy="420624"/>
          </a:xfrm>
          <a:prstGeom prst="roundRect">
            <a:avLst>
              <a:gd name="adj" fmla="val 13043"/>
            </a:avLst>
          </a:prstGeom>
          <a:solidFill>
            <a:srgbClr val="22D3EE">
              <a:alpha val="44000"/>
            </a:srgbClr>
          </a:solidFill>
          <a:ln w="9525">
            <a:solidFill>
              <a:srgbClr val="22D3EE">
                <a:alpha val="60000"/>
              </a:srgbClr>
            </a:solidFill>
            <a:prstDash val="solid"/>
          </a:ln>
        </p:spPr>
      </p:sp>
      <p:sp>
        <p:nvSpPr>
          <p:cNvPr id="41" name="Text 39"/>
          <p:cNvSpPr txBox="1"/>
          <p:nvPr/>
        </p:nvSpPr>
        <p:spPr>
          <a:xfrm>
            <a:off x="3395472"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5</a:t>
            </a:r>
            <a:endParaRPr lang="de-DE" sz="1200" dirty="0"/>
          </a:p>
        </p:txBody>
      </p:sp>
      <p:sp>
        <p:nvSpPr>
          <p:cNvPr id="42" name="Shape 40"/>
          <p:cNvSpPr/>
          <p:nvPr/>
        </p:nvSpPr>
        <p:spPr>
          <a:xfrm>
            <a:off x="4038600" y="5157216"/>
            <a:ext cx="566928" cy="420624"/>
          </a:xfrm>
          <a:prstGeom prst="roundRect">
            <a:avLst>
              <a:gd name="adj" fmla="val 13043"/>
            </a:avLst>
          </a:prstGeom>
          <a:solidFill>
            <a:srgbClr val="22D3EE">
              <a:alpha val="52000"/>
            </a:srgbClr>
          </a:solidFill>
          <a:ln w="9525">
            <a:solidFill>
              <a:srgbClr val="22D3EE">
                <a:alpha val="60000"/>
              </a:srgbClr>
            </a:solidFill>
            <a:prstDash val="solid"/>
          </a:ln>
        </p:spPr>
      </p:sp>
      <p:sp>
        <p:nvSpPr>
          <p:cNvPr id="43" name="Text 41"/>
          <p:cNvSpPr txBox="1"/>
          <p:nvPr/>
        </p:nvSpPr>
        <p:spPr>
          <a:xfrm>
            <a:off x="4038600"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6</a:t>
            </a:r>
            <a:endParaRPr lang="de-DE" sz="1200" dirty="0"/>
          </a:p>
        </p:txBody>
      </p:sp>
      <p:sp>
        <p:nvSpPr>
          <p:cNvPr id="44" name="Shape 42"/>
          <p:cNvSpPr/>
          <p:nvPr/>
        </p:nvSpPr>
        <p:spPr>
          <a:xfrm>
            <a:off x="4681728" y="5157216"/>
            <a:ext cx="566928" cy="420624"/>
          </a:xfrm>
          <a:prstGeom prst="roundRect">
            <a:avLst>
              <a:gd name="adj" fmla="val 13043"/>
            </a:avLst>
          </a:prstGeom>
          <a:solidFill>
            <a:srgbClr val="22D3EE">
              <a:alpha val="60000"/>
            </a:srgbClr>
          </a:solidFill>
          <a:ln w="9525">
            <a:solidFill>
              <a:srgbClr val="22D3EE">
                <a:alpha val="60000"/>
              </a:srgbClr>
            </a:solidFill>
            <a:prstDash val="solid"/>
          </a:ln>
        </p:spPr>
      </p:sp>
      <p:sp>
        <p:nvSpPr>
          <p:cNvPr id="45" name="Text 43"/>
          <p:cNvSpPr txBox="1"/>
          <p:nvPr/>
        </p:nvSpPr>
        <p:spPr>
          <a:xfrm>
            <a:off x="4681728"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7</a:t>
            </a:r>
            <a:endParaRPr lang="de-DE" sz="1200" dirty="0"/>
          </a:p>
        </p:txBody>
      </p:sp>
      <p:sp>
        <p:nvSpPr>
          <p:cNvPr id="46" name="Shape 44"/>
          <p:cNvSpPr/>
          <p:nvPr/>
        </p:nvSpPr>
        <p:spPr>
          <a:xfrm>
            <a:off x="5324856" y="5157216"/>
            <a:ext cx="566928" cy="420624"/>
          </a:xfrm>
          <a:prstGeom prst="roundRect">
            <a:avLst>
              <a:gd name="adj" fmla="val 13043"/>
            </a:avLst>
          </a:prstGeom>
          <a:solidFill>
            <a:srgbClr val="22D3EE">
              <a:alpha val="68000"/>
            </a:srgbClr>
          </a:solidFill>
          <a:ln w="9525">
            <a:solidFill>
              <a:srgbClr val="22D3EE">
                <a:alpha val="60000"/>
              </a:srgbClr>
            </a:solidFill>
            <a:prstDash val="solid"/>
          </a:ln>
        </p:spPr>
      </p:sp>
      <p:sp>
        <p:nvSpPr>
          <p:cNvPr id="47" name="Text 45"/>
          <p:cNvSpPr txBox="1"/>
          <p:nvPr/>
        </p:nvSpPr>
        <p:spPr>
          <a:xfrm>
            <a:off x="5324856"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0A1628"/>
                </a:solidFill>
                <a:latin typeface="Segoe UI Semibold" pitchFamily="34" charset="0"/>
                <a:ea typeface="Segoe UI Semibold" pitchFamily="34" charset="-122"/>
                <a:cs typeface="Segoe UI Semibold" pitchFamily="34" charset="-120"/>
              </a:rPr>
              <a:t>8</a:t>
            </a:r>
            <a:endParaRPr lang="de-DE" sz="1200" dirty="0"/>
          </a:p>
        </p:txBody>
      </p:sp>
      <p:sp>
        <p:nvSpPr>
          <p:cNvPr id="48" name="Shape 46"/>
          <p:cNvSpPr/>
          <p:nvPr/>
        </p:nvSpPr>
        <p:spPr>
          <a:xfrm>
            <a:off x="5967984" y="5157216"/>
            <a:ext cx="566928" cy="420624"/>
          </a:xfrm>
          <a:prstGeom prst="roundRect">
            <a:avLst>
              <a:gd name="adj" fmla="val 13043"/>
            </a:avLst>
          </a:prstGeom>
          <a:solidFill>
            <a:srgbClr val="22D3EE">
              <a:alpha val="76000"/>
            </a:srgbClr>
          </a:solidFill>
          <a:ln w="9525">
            <a:solidFill>
              <a:srgbClr val="22D3EE">
                <a:alpha val="60000"/>
              </a:srgbClr>
            </a:solidFill>
            <a:prstDash val="solid"/>
          </a:ln>
        </p:spPr>
      </p:sp>
      <p:sp>
        <p:nvSpPr>
          <p:cNvPr id="49" name="Text 47"/>
          <p:cNvSpPr txBox="1"/>
          <p:nvPr/>
        </p:nvSpPr>
        <p:spPr>
          <a:xfrm>
            <a:off x="5967984"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0A1628"/>
                </a:solidFill>
                <a:latin typeface="Segoe UI Semibold" pitchFamily="34" charset="0"/>
                <a:ea typeface="Segoe UI Semibold" pitchFamily="34" charset="-122"/>
                <a:cs typeface="Segoe UI Semibold" pitchFamily="34" charset="-120"/>
              </a:rPr>
              <a:t>9</a:t>
            </a:r>
            <a:endParaRPr lang="de-DE" sz="1200" dirty="0"/>
          </a:p>
        </p:txBody>
      </p:sp>
      <p:sp>
        <p:nvSpPr>
          <p:cNvPr id="50" name="Shape 48"/>
          <p:cNvSpPr/>
          <p:nvPr/>
        </p:nvSpPr>
        <p:spPr>
          <a:xfrm>
            <a:off x="6611112" y="5157216"/>
            <a:ext cx="566928" cy="420624"/>
          </a:xfrm>
          <a:prstGeom prst="roundRect">
            <a:avLst>
              <a:gd name="adj" fmla="val 13043"/>
            </a:avLst>
          </a:prstGeom>
          <a:solidFill>
            <a:srgbClr val="22D3EE">
              <a:alpha val="84000"/>
            </a:srgbClr>
          </a:solidFill>
          <a:ln w="9525">
            <a:solidFill>
              <a:srgbClr val="22D3EE">
                <a:alpha val="60000"/>
              </a:srgbClr>
            </a:solidFill>
            <a:prstDash val="solid"/>
          </a:ln>
        </p:spPr>
      </p:sp>
      <p:sp>
        <p:nvSpPr>
          <p:cNvPr id="51" name="Text 49"/>
          <p:cNvSpPr txBox="1"/>
          <p:nvPr/>
        </p:nvSpPr>
        <p:spPr>
          <a:xfrm>
            <a:off x="6611112" y="5157216"/>
            <a:ext cx="566928" cy="420624"/>
          </a:xfrm>
          <a:prstGeom prst="rect">
            <a:avLst/>
          </a:prstGeom>
          <a:noFill/>
          <a:ln/>
        </p:spPr>
        <p:txBody>
          <a:bodyPr wrap="square" lIns="0" tIns="0" rIns="0" bIns="0" rtlCol="0" anchor="ctr"/>
          <a:lstStyle/>
          <a:p>
            <a:pPr algn="ctr" indent="0" marL="0">
              <a:buNone/>
            </a:pPr>
            <a:r>
              <a:rPr lang="de-DE" altLang="en-US" sz="1200" dirty="0">
                <a:solidFill>
                  <a:srgbClr val="0A1628"/>
                </a:solidFill>
                <a:latin typeface="Segoe UI Semibold" pitchFamily="34" charset="0"/>
                <a:ea typeface="Segoe UI Semibold" pitchFamily="34" charset="-122"/>
                <a:cs typeface="Segoe UI Semibold" pitchFamily="34" charset="-120"/>
              </a:rPr>
              <a:t>10</a:t>
            </a:r>
            <a:endParaRPr lang="de-DE" sz="1200" dirty="0"/>
          </a:p>
        </p:txBody>
      </p:sp>
      <p:sp>
        <p:nvSpPr>
          <p:cNvPr id="52" name="Text 50"/>
          <p:cNvSpPr txBox="1"/>
          <p:nvPr/>
        </p:nvSpPr>
        <p:spPr>
          <a:xfrm>
            <a:off x="822960" y="5705856"/>
            <a:ext cx="6355080" cy="256032"/>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Feinere Rangfolge: Decile 1 = niedrigstes, Decile 10 = höchstes modelliertes Risiko</a:t>
            </a:r>
            <a:endParaRPr lang="de-DE" sz="1050" dirty="0"/>
          </a:p>
        </p:txBody>
      </p:sp>
      <p:sp>
        <p:nvSpPr>
          <p:cNvPr id="53" name="Shape 51"/>
          <p:cNvSpPr/>
          <p:nvPr/>
        </p:nvSpPr>
        <p:spPr>
          <a:xfrm>
            <a:off x="7680960" y="1572768"/>
            <a:ext cx="3959352" cy="4690872"/>
          </a:xfrm>
          <a:prstGeom prst="roundRect">
            <a:avLst>
              <a:gd name="adj" fmla="val 2771"/>
            </a:avLst>
          </a:prstGeom>
          <a:solidFill>
            <a:srgbClr val="10213F">
              <a:alpha val="92000"/>
            </a:srgbClr>
          </a:solidFill>
          <a:ln w="12700">
            <a:solidFill>
              <a:srgbClr val="F87171"/>
            </a:solidFill>
            <a:prstDash val="solid"/>
          </a:ln>
          <a:effectLst>
            <a:outerShdw sx="100000" sy="100000" kx="0" ky="0" algn="bl" rotWithShape="0" blurRad="228600" dist="50800" dir="5400000">
              <a:srgbClr val="F87171">
                <a:alpha val="32000"/>
              </a:srgbClr>
            </a:outerShdw>
          </a:effectLst>
        </p:spPr>
      </p:sp>
      <p:sp>
        <p:nvSpPr>
          <p:cNvPr id="54" name="Text 52"/>
          <p:cNvSpPr txBox="1"/>
          <p:nvPr/>
        </p:nvSpPr>
        <p:spPr>
          <a:xfrm>
            <a:off x="7955280" y="1755648"/>
            <a:ext cx="347472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RISIKOKONZENTRATION</a:t>
            </a:r>
            <a:endParaRPr lang="de-DE" sz="1000" dirty="0"/>
          </a:p>
        </p:txBody>
      </p:sp>
      <p:sp>
        <p:nvSpPr>
          <p:cNvPr id="55" name="Text 53"/>
          <p:cNvSpPr txBox="1"/>
          <p:nvPr/>
        </p:nvSpPr>
        <p:spPr>
          <a:xfrm>
            <a:off x="7955280" y="2075688"/>
            <a:ext cx="3383280" cy="731520"/>
          </a:xfrm>
          <a:prstGeom prst="rect">
            <a:avLst/>
          </a:prstGeom>
          <a:noFill/>
          <a:ln/>
        </p:spPr>
        <p:txBody>
          <a:bodyPr wrap="square" lIns="0" tIns="0" rIns="0" bIns="0" rtlCol="0" anchor="ctr"/>
          <a:lstStyle/>
          <a:p>
            <a:pPr indent="0" marL="0">
              <a:buNone/>
            </a:pPr>
            <a:r>
              <a:rPr lang="de-DE" altLang="en-US" sz="4400" dirty="0">
                <a:solidFill>
                  <a:srgbClr val="EEF4FB"/>
                </a:solidFill>
                <a:latin typeface="Segoe UI Semibold" pitchFamily="34" charset="0"/>
                <a:ea typeface="Segoe UI Semibold" pitchFamily="34" charset="-122"/>
                <a:cs typeface="Segoe UI Semibold" pitchFamily="34" charset="-120"/>
              </a:rPr>
              <a:t>10 %</a:t>
            </a:r>
            <a:endParaRPr lang="de-DE" sz="4400" dirty="0"/>
          </a:p>
        </p:txBody>
      </p:sp>
      <p:sp>
        <p:nvSpPr>
          <p:cNvPr id="56" name="Text 54"/>
          <p:cNvSpPr txBox="1"/>
          <p:nvPr/>
        </p:nvSpPr>
        <p:spPr>
          <a:xfrm>
            <a:off x="7955280" y="2807208"/>
            <a:ext cx="3383280" cy="274320"/>
          </a:xfrm>
          <a:prstGeom prst="rect">
            <a:avLst/>
          </a:prstGeom>
          <a:noFill/>
          <a:ln/>
        </p:spPr>
        <p:txBody>
          <a:bodyPr wrap="square" lIns="0" tIns="0" rIns="0" bIns="0" rtlCol="0" anchor="t"/>
          <a:lstStyle/>
          <a:p>
            <a:pPr indent="0" marL="0">
              <a:buNone/>
            </a:pPr>
            <a:r>
              <a:rPr lang="de-DE" altLang="en-US" sz="1200" dirty="0">
                <a:solidFill>
                  <a:srgbClr val="A9BBD0"/>
                </a:solidFill>
                <a:latin typeface="Segoe UI" pitchFamily="34" charset="0"/>
                <a:ea typeface="Segoe UI" pitchFamily="34" charset="-122"/>
                <a:cs typeface="Segoe UI" pitchFamily="34" charset="-120"/>
              </a:rPr>
              <a:t>der Policen liegen im HIGH-Segment</a:t>
            </a:r>
            <a:endParaRPr lang="de-DE" sz="1200" dirty="0"/>
          </a:p>
        </p:txBody>
      </p:sp>
      <p:pic>
        <p:nvPicPr>
          <p:cNvPr id="57" name="Image 0" descr="preencoded.png">    </p:cNvPr>
          <p:cNvPicPr>
            <a:picLocks noChangeAspect="1"/>
          </p:cNvPicPr>
          <p:nvPr/>
        </p:nvPicPr>
        <p:blipFill>
          <a:blip r:embed="rId2"/>
          <a:stretch>
            <a:fillRect/>
          </a:stretch>
        </p:blipFill>
        <p:spPr>
          <a:xfrm>
            <a:off x="7973568" y="3200400"/>
            <a:ext cx="310896" cy="310896"/>
          </a:xfrm>
          <a:prstGeom prst="rect">
            <a:avLst/>
          </a:prstGeom>
        </p:spPr>
      </p:pic>
      <p:sp>
        <p:nvSpPr>
          <p:cNvPr id="58" name="Text 55"/>
          <p:cNvSpPr txBox="1"/>
          <p:nvPr/>
        </p:nvSpPr>
        <p:spPr>
          <a:xfrm>
            <a:off x="7955280" y="3493008"/>
            <a:ext cx="3383280" cy="868680"/>
          </a:xfrm>
          <a:prstGeom prst="rect">
            <a:avLst/>
          </a:prstGeom>
          <a:noFill/>
          <a:ln/>
        </p:spPr>
        <p:txBody>
          <a:bodyPr wrap="square" lIns="0" tIns="0" rIns="0" bIns="0" rtlCol="0" anchor="ctr"/>
          <a:lstStyle/>
          <a:p>
            <a:pPr indent="0" marL="0">
              <a:buNone/>
            </a:pPr>
            <a:r>
              <a:rPr lang="de-DE" altLang="en-US" sz="5400" dirty="0">
                <a:solidFill>
                  <a:srgbClr val="F87171"/>
                </a:solidFill>
                <a:latin typeface="Segoe UI Semibold" pitchFamily="34" charset="0"/>
                <a:ea typeface="Segoe UI Semibold" pitchFamily="34" charset="-122"/>
                <a:cs typeface="Segoe UI Semibold" pitchFamily="34" charset="-120"/>
              </a:rPr>
              <a:t>32,1 %</a:t>
            </a:r>
            <a:endParaRPr lang="de-DE" sz="5400" dirty="0"/>
          </a:p>
        </p:txBody>
      </p:sp>
      <p:sp>
        <p:nvSpPr>
          <p:cNvPr id="59" name="Text 56"/>
          <p:cNvSpPr txBox="1"/>
          <p:nvPr/>
        </p:nvSpPr>
        <p:spPr>
          <a:xfrm>
            <a:off x="7955280" y="4361688"/>
            <a:ext cx="3383280" cy="457200"/>
          </a:xfrm>
          <a:prstGeom prst="rect">
            <a:avLst/>
          </a:prstGeom>
          <a:noFill/>
          <a:ln/>
        </p:spPr>
        <p:txBody>
          <a:bodyPr wrap="square" lIns="0" tIns="0" rIns="0" bIns="0" rtlCol="0" anchor="t"/>
          <a:lstStyle/>
          <a:p>
            <a:pPr indent="0" marL="0">
              <a:buNone/>
            </a:pPr>
            <a:r>
              <a:rPr lang="de-DE" altLang="en-US" sz="1200" dirty="0">
                <a:solidFill>
                  <a:srgbClr val="A9BBD0"/>
                </a:solidFill>
                <a:latin typeface="Segoe UI" pitchFamily="34" charset="0"/>
                <a:ea typeface="Segoe UI" pitchFamily="34" charset="-122"/>
                <a:cs typeface="Segoe UI" pitchFamily="34" charset="-120"/>
              </a:rPr>
              <a:t>des modellierten erwarteten Schadens (Tweedie)</a:t>
            </a:r>
            <a:endParaRPr lang="de-DE" sz="1200" dirty="0"/>
          </a:p>
        </p:txBody>
      </p:sp>
      <p:sp>
        <p:nvSpPr>
          <p:cNvPr id="60" name="Shape 57"/>
          <p:cNvSpPr/>
          <p:nvPr/>
        </p:nvSpPr>
        <p:spPr>
          <a:xfrm>
            <a:off x="7955280" y="5001768"/>
            <a:ext cx="3410712" cy="1005840"/>
          </a:xfrm>
          <a:prstGeom prst="roundRect">
            <a:avLst>
              <a:gd name="adj" fmla="val 7273"/>
            </a:avLst>
          </a:prstGeom>
          <a:solidFill>
            <a:srgbClr val="0B2440"/>
          </a:solidFill>
          <a:ln w="9525">
            <a:solidFill>
              <a:srgbClr val="1E3A5F"/>
            </a:solidFill>
            <a:prstDash val="solid"/>
          </a:ln>
        </p:spPr>
      </p:sp>
      <p:sp>
        <p:nvSpPr>
          <p:cNvPr id="61" name="Text 58"/>
          <p:cNvSpPr txBox="1"/>
          <p:nvPr/>
        </p:nvSpPr>
        <p:spPr>
          <a:xfrm>
            <a:off x="8092440" y="5047488"/>
            <a:ext cx="3136392" cy="914400"/>
          </a:xfrm>
          <a:prstGeom prst="rect">
            <a:avLst/>
          </a:prstGeom>
          <a:noFill/>
          <a:ln/>
        </p:spPr>
        <p:txBody>
          <a:bodyPr wrap="square" lIns="0" tIns="0" rIns="0" bIns="0" rtlCol="0" anchor="ctr"/>
          <a:lstStyle/>
          <a:p>
            <a:pPr indent="0" marL="0">
              <a:buNone/>
            </a:pPr>
            <a:r>
              <a:rPr lang="de-DE" altLang="en-US" sz="1150" dirty="0">
                <a:solidFill>
                  <a:srgbClr val="EEF4FB"/>
                </a:solidFill>
                <a:latin typeface="Segoe UI Semibold" pitchFamily="34" charset="0"/>
                <a:ea typeface="Segoe UI Semibold" pitchFamily="34" charset="-122"/>
                <a:cs typeface="Segoe UI Semibold" pitchFamily="34" charset="-120"/>
              </a:rPr>
              <a:t>Faktor 3,2: </a:t>
            </a:r>
            <a:pPr indent="0" marL="0">
              <a:buNone/>
            </a:pPr>
            <a:r>
              <a:rPr lang="de-DE" altLang="en-US" sz="1150" dirty="0">
                <a:solidFill>
                  <a:srgbClr val="A9BBD0"/>
                </a:solidFill>
                <a:latin typeface="Segoe UI" pitchFamily="34" charset="0"/>
                <a:ea typeface="Segoe UI" pitchFamily="34" charset="-122"/>
                <a:cs typeface="Segoe UI" pitchFamily="34" charset="-120"/>
              </a:rPr>
              <a:t>Das HIGH-Segment trägt mehr als das Dreifache seines Policenanteils. Risiko ist nicht gleich verteilt.</a:t>
            </a:r>
            <a:endParaRPr lang="de-DE"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POWER BI · DASHBOARD-SEITE 2 VON 4</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Risikosegmentierung</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12 / 19</a:t>
            </a:r>
            <a:endParaRPr lang="de-DE" sz="900" dirty="0"/>
          </a:p>
        </p:txBody>
      </p:sp>
      <p:sp>
        <p:nvSpPr>
          <p:cNvPr id="6" name="Shape 4"/>
          <p:cNvSpPr/>
          <p:nvPr/>
        </p:nvSpPr>
        <p:spPr>
          <a:xfrm>
            <a:off x="548640" y="1417320"/>
            <a:ext cx="8595360" cy="4837176"/>
          </a:xfrm>
          <a:prstGeom prst="roundRect">
            <a:avLst>
              <a:gd name="adj" fmla="val 1890"/>
            </a:avLst>
          </a:prstGeom>
          <a:solidFill>
            <a:srgbClr val="0B1A31"/>
          </a:solidFill>
          <a:ln w="19050">
            <a:solidFill>
              <a:srgbClr val="22D3EE">
                <a:alpha val="75000"/>
              </a:srgbClr>
            </a:solidFill>
            <a:prstDash val="dash"/>
          </a:ln>
          <a:effectLst>
            <a:outerShdw sx="100000" sy="100000" kx="0" ky="0" algn="bl" rotWithShape="0" blurRad="279400" dist="50800" dir="5400000">
              <a:srgbClr val="22D3EE">
                <a:alpha val="22000"/>
              </a:srgbClr>
            </a:outerShdw>
          </a:effectLst>
        </p:spPr>
      </p:sp>
      <p:sp>
        <p:nvSpPr>
          <p:cNvPr id="7" name="Shape 5"/>
          <p:cNvSpPr/>
          <p:nvPr/>
        </p:nvSpPr>
        <p:spPr>
          <a:xfrm>
            <a:off x="4434840" y="2784348"/>
            <a:ext cx="822960" cy="822960"/>
          </a:xfrm>
          <a:prstGeom prst="ellipse">
            <a:avLst/>
          </a:prstGeom>
          <a:solidFill>
            <a:srgbClr val="0E2A47"/>
          </a:solidFill>
          <a:ln w="12700">
            <a:solidFill>
              <a:srgbClr val="22D3EE">
                <a:alpha val="55000"/>
              </a:srgbClr>
            </a:solidFill>
            <a:prstDash val="solid"/>
          </a:ln>
        </p:spPr>
      </p:sp>
      <p:pic>
        <p:nvPicPr>
          <p:cNvPr id="8" name="Image 0" descr="preencoded.png">    </p:cNvPr>
          <p:cNvPicPr>
            <a:picLocks noChangeAspect="1"/>
          </p:cNvPicPr>
          <p:nvPr/>
        </p:nvPicPr>
        <p:blipFill>
          <a:blip r:embed="rId2"/>
          <a:stretch>
            <a:fillRect/>
          </a:stretch>
        </p:blipFill>
        <p:spPr>
          <a:xfrm>
            <a:off x="4640580" y="2990088"/>
            <a:ext cx="411480" cy="411480"/>
          </a:xfrm>
          <a:prstGeom prst="rect">
            <a:avLst/>
          </a:prstGeom>
        </p:spPr>
      </p:pic>
      <p:sp>
        <p:nvSpPr>
          <p:cNvPr id="9" name="Text 6"/>
          <p:cNvSpPr txBox="1"/>
          <p:nvPr/>
        </p:nvSpPr>
        <p:spPr>
          <a:xfrm>
            <a:off x="548640" y="3790188"/>
            <a:ext cx="8595360" cy="457200"/>
          </a:xfrm>
          <a:prstGeom prst="rect">
            <a:avLst/>
          </a:prstGeom>
          <a:noFill/>
          <a:ln/>
        </p:spPr>
        <p:txBody>
          <a:bodyPr wrap="square" lIns="0" tIns="0" rIns="0" bIns="0" rtlCol="0" anchor="ctr"/>
          <a:lstStyle/>
          <a:p>
            <a:pPr algn="ctr" indent="0" marL="0">
              <a:buNone/>
            </a:pPr>
            <a:r>
              <a:rPr lang="de-DE" altLang="en-US" sz="2200" dirty="0">
                <a:solidFill>
                  <a:srgbClr val="22D3EE"/>
                </a:solidFill>
                <a:latin typeface="Segoe UI Semibold" pitchFamily="34" charset="0"/>
                <a:ea typeface="Segoe UI Semibold" pitchFamily="34" charset="-122"/>
                <a:cs typeface="Segoe UI Semibold" pitchFamily="34" charset="-120"/>
              </a:rPr>
              <a:t>[POWER-BI-SCREENSHOT HIER EINFÜGEN]</a:t>
            </a:r>
            <a:endParaRPr lang="de-DE" sz="2200" dirty="0"/>
          </a:p>
        </p:txBody>
      </p:sp>
      <p:sp>
        <p:nvSpPr>
          <p:cNvPr id="10" name="Text 7"/>
          <p:cNvSpPr txBox="1"/>
          <p:nvPr/>
        </p:nvSpPr>
        <p:spPr>
          <a:xfrm>
            <a:off x="548640" y="4274820"/>
            <a:ext cx="8595360" cy="320040"/>
          </a:xfrm>
          <a:prstGeom prst="rect">
            <a:avLst/>
          </a:prstGeom>
          <a:noFill/>
          <a:ln/>
        </p:spPr>
        <p:txBody>
          <a:bodyPr wrap="square" lIns="0" tIns="0" rIns="0" bIns="0" rtlCol="0" anchor="t"/>
          <a:lstStyle/>
          <a:p>
            <a:pPr algn="ctr" indent="0" marL="0">
              <a:buNone/>
            </a:pPr>
            <a:r>
              <a:rPr lang="de-DE" altLang="en-US" sz="1200" dirty="0">
                <a:solidFill>
                  <a:srgbClr val="A9BBD0"/>
                </a:solidFill>
                <a:latin typeface="Segoe UI" pitchFamily="34" charset="0"/>
                <a:ea typeface="Segoe UI" pitchFamily="34" charset="-122"/>
                <a:cs typeface="Segoe UI" pitchFamily="34" charset="-120"/>
              </a:rPr>
              <a:t>Dashboard-Seite 2: Risikosegmentierung · Screenshot im Format 16:9 auf diese Fläche legen</a:t>
            </a:r>
            <a:endParaRPr lang="de-DE" sz="1200" dirty="0"/>
          </a:p>
        </p:txBody>
      </p:sp>
      <p:sp>
        <p:nvSpPr>
          <p:cNvPr id="11" name="Shape 8"/>
          <p:cNvSpPr/>
          <p:nvPr/>
        </p:nvSpPr>
        <p:spPr>
          <a:xfrm>
            <a:off x="9418320" y="1417320"/>
            <a:ext cx="2221992" cy="1481328"/>
          </a:xfrm>
          <a:prstGeom prst="roundRect">
            <a:avLst>
              <a:gd name="adj" fmla="val 7407"/>
            </a:avLst>
          </a:prstGeom>
          <a:solidFill>
            <a:srgbClr val="10213F">
              <a:alpha val="92000"/>
            </a:srgbClr>
          </a:solidFill>
          <a:ln w="12700">
            <a:solidFill>
              <a:srgbClr val="1E3A5F"/>
            </a:solidFill>
            <a:prstDash val="solid"/>
          </a:ln>
          <a:effectLst>
            <a:outerShdw sx="100000" sy="100000" kx="0" ky="0" algn="bl" rotWithShape="0" blurRad="228600" dist="50800" dir="5400000">
              <a:srgbClr val="F87171">
                <a:alpha val="32000"/>
              </a:srgbClr>
            </a:outerShdw>
          </a:effectLst>
        </p:spPr>
      </p:sp>
      <p:sp>
        <p:nvSpPr>
          <p:cNvPr id="12" name="Text 9"/>
          <p:cNvSpPr txBox="1"/>
          <p:nvPr/>
        </p:nvSpPr>
        <p:spPr>
          <a:xfrm>
            <a:off x="9582912" y="1554480"/>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HIGH-SEGMENT</a:t>
            </a:r>
            <a:endParaRPr lang="de-DE" sz="950" dirty="0"/>
          </a:p>
        </p:txBody>
      </p:sp>
      <p:sp>
        <p:nvSpPr>
          <p:cNvPr id="13" name="Text 10"/>
          <p:cNvSpPr txBox="1"/>
          <p:nvPr/>
        </p:nvSpPr>
        <p:spPr>
          <a:xfrm>
            <a:off x="9582912" y="1801368"/>
            <a:ext cx="1892808" cy="438912"/>
          </a:xfrm>
          <a:prstGeom prst="rect">
            <a:avLst/>
          </a:prstGeom>
          <a:noFill/>
          <a:ln/>
        </p:spPr>
        <p:txBody>
          <a:bodyPr wrap="square" lIns="0" tIns="0" rIns="0" bIns="0" rtlCol="0" anchor="ctr">
            <a:normAutofit/>
          </a:bodyPr>
          <a:lstStyle/>
          <a:p>
            <a:pPr indent="0" marL="0">
              <a:buNone/>
            </a:pPr>
            <a:r>
              <a:rPr lang="de-DE" altLang="en-US" sz="1900" dirty="0">
                <a:solidFill>
                  <a:srgbClr val="F87171"/>
                </a:solidFill>
                <a:latin typeface="Segoe UI Semibold" pitchFamily="34" charset="0"/>
                <a:ea typeface="Segoe UI Semibold" pitchFamily="34" charset="-122"/>
                <a:cs typeface="Segoe UI Semibold" pitchFamily="34" charset="-120"/>
              </a:rPr>
              <a:t>10 % → 32,1 %</a:t>
            </a:r>
            <a:endParaRPr lang="de-DE" sz="1900" dirty="0"/>
          </a:p>
        </p:txBody>
      </p:sp>
      <p:sp>
        <p:nvSpPr>
          <p:cNvPr id="14" name="Text 11"/>
          <p:cNvSpPr txBox="1"/>
          <p:nvPr/>
        </p:nvSpPr>
        <p:spPr>
          <a:xfrm>
            <a:off x="9582912" y="2313432"/>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Policenanteil vs. Anteil am erwarteten Schaden</a:t>
            </a:r>
            <a:endParaRPr lang="de-DE" sz="1050" dirty="0"/>
          </a:p>
        </p:txBody>
      </p:sp>
      <p:sp>
        <p:nvSpPr>
          <p:cNvPr id="15" name="Shape 12"/>
          <p:cNvSpPr/>
          <p:nvPr/>
        </p:nvSpPr>
        <p:spPr>
          <a:xfrm>
            <a:off x="9418320" y="3095244"/>
            <a:ext cx="2221992" cy="1481328"/>
          </a:xfrm>
          <a:prstGeom prst="roundRect">
            <a:avLst>
              <a:gd name="adj" fmla="val 7407"/>
            </a:avLst>
          </a:prstGeom>
          <a:solidFill>
            <a:srgbClr val="10213F">
              <a:alpha val="92000"/>
            </a:srgbClr>
          </a:solidFill>
          <a:ln w="12700">
            <a:solidFill>
              <a:srgbClr val="1E3A5F"/>
            </a:solidFill>
            <a:prstDash val="solid"/>
          </a:ln>
        </p:spPr>
      </p:sp>
      <p:sp>
        <p:nvSpPr>
          <p:cNvPr id="16" name="Text 13"/>
          <p:cNvSpPr txBox="1"/>
          <p:nvPr/>
        </p:nvSpPr>
        <p:spPr>
          <a:xfrm>
            <a:off x="9582912" y="3232404"/>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HEATMAP</a:t>
            </a:r>
            <a:endParaRPr lang="de-DE" sz="950" dirty="0"/>
          </a:p>
        </p:txBody>
      </p:sp>
      <p:sp>
        <p:nvSpPr>
          <p:cNvPr id="17" name="Text 14"/>
          <p:cNvSpPr txBox="1"/>
          <p:nvPr/>
        </p:nvSpPr>
        <p:spPr>
          <a:xfrm>
            <a:off x="9582912" y="3479292"/>
            <a:ext cx="1892808" cy="438912"/>
          </a:xfrm>
          <a:prstGeom prst="rect">
            <a:avLst/>
          </a:prstGeom>
          <a:noFill/>
          <a:ln/>
        </p:spPr>
        <p:txBody>
          <a:bodyPr wrap="square" lIns="0" tIns="0" rIns="0" bIns="0" rtlCol="0" anchor="ctr">
            <a:normAutofit/>
          </a:bodyPr>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Alter × Bonus-Malus</a:t>
            </a:r>
            <a:endParaRPr lang="de-DE" sz="1500" dirty="0"/>
          </a:p>
        </p:txBody>
      </p:sp>
      <p:sp>
        <p:nvSpPr>
          <p:cNvPr id="18" name="Text 15"/>
          <p:cNvSpPr txBox="1"/>
          <p:nvPr/>
        </p:nvSpPr>
        <p:spPr>
          <a:xfrm>
            <a:off x="9582912" y="3991356"/>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zeigt, in welchen Profilen sich hohe Schadenbedarfe bündeln</a:t>
            </a:r>
            <a:endParaRPr lang="de-DE" sz="1050" dirty="0"/>
          </a:p>
        </p:txBody>
      </p:sp>
      <p:sp>
        <p:nvSpPr>
          <p:cNvPr id="19" name="Shape 16"/>
          <p:cNvSpPr/>
          <p:nvPr/>
        </p:nvSpPr>
        <p:spPr>
          <a:xfrm>
            <a:off x="9418320" y="4773168"/>
            <a:ext cx="2221992" cy="1481328"/>
          </a:xfrm>
          <a:prstGeom prst="roundRect">
            <a:avLst>
              <a:gd name="adj" fmla="val 7407"/>
            </a:avLst>
          </a:prstGeom>
          <a:solidFill>
            <a:srgbClr val="10213F">
              <a:alpha val="92000"/>
            </a:srgbClr>
          </a:solidFill>
          <a:ln w="12700">
            <a:solidFill>
              <a:srgbClr val="1E3A5F"/>
            </a:solidFill>
            <a:prstDash val="solid"/>
          </a:ln>
        </p:spPr>
      </p:sp>
      <p:sp>
        <p:nvSpPr>
          <p:cNvPr id="20" name="Text 17"/>
          <p:cNvSpPr txBox="1"/>
          <p:nvPr/>
        </p:nvSpPr>
        <p:spPr>
          <a:xfrm>
            <a:off x="9582912" y="4910328"/>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RISK DECILES</a:t>
            </a:r>
            <a:endParaRPr lang="de-DE" sz="950" dirty="0"/>
          </a:p>
        </p:txBody>
      </p:sp>
      <p:sp>
        <p:nvSpPr>
          <p:cNvPr id="21" name="Text 18"/>
          <p:cNvSpPr txBox="1"/>
          <p:nvPr/>
        </p:nvSpPr>
        <p:spPr>
          <a:xfrm>
            <a:off x="9582912" y="5157216"/>
            <a:ext cx="1892808" cy="438912"/>
          </a:xfrm>
          <a:prstGeom prst="rect">
            <a:avLst/>
          </a:prstGeom>
          <a:noFill/>
          <a:ln/>
        </p:spPr>
        <p:txBody>
          <a:bodyPr wrap="square" lIns="0" tIns="0" rIns="0" bIns="0" rtlCol="0" anchor="ctr">
            <a:normAutofit/>
          </a:bodyPr>
          <a:lstStyle/>
          <a:p>
            <a:pPr indent="0" marL="0">
              <a:buNone/>
            </a:pPr>
            <a:r>
              <a:rPr lang="de-DE" altLang="en-US" sz="2000" dirty="0">
                <a:solidFill>
                  <a:srgbClr val="EEF4FB"/>
                </a:solidFill>
                <a:latin typeface="Segoe UI Semibold" pitchFamily="34" charset="0"/>
                <a:ea typeface="Segoe UI Semibold" pitchFamily="34" charset="-122"/>
                <a:cs typeface="Segoe UI Semibold" pitchFamily="34" charset="-120"/>
              </a:rPr>
              <a:t>1 → 10</a:t>
            </a:r>
            <a:endParaRPr lang="de-DE" sz="2000" dirty="0"/>
          </a:p>
        </p:txBody>
      </p:sp>
      <p:sp>
        <p:nvSpPr>
          <p:cNvPr id="22" name="Text 19"/>
          <p:cNvSpPr txBox="1"/>
          <p:nvPr/>
        </p:nvSpPr>
        <p:spPr>
          <a:xfrm>
            <a:off x="9582912" y="5669280"/>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stärkster Anstieg des Schadenbedarfs in den oberen Deciles</a:t>
            </a:r>
            <a:endParaRPr lang="de-DE"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HANDLUNGSEMPFEHLUNGEN</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Vom Risikoscore zur Entscheidungsunterstützung</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13 / 19</a:t>
            </a:r>
            <a:endParaRPr lang="de-DE" sz="900" dirty="0"/>
          </a:p>
        </p:txBody>
      </p:sp>
      <p:sp>
        <p:nvSpPr>
          <p:cNvPr id="6" name="Shape 4"/>
          <p:cNvSpPr/>
          <p:nvPr/>
        </p:nvSpPr>
        <p:spPr>
          <a:xfrm>
            <a:off x="548640" y="1572768"/>
            <a:ext cx="6766560" cy="4690872"/>
          </a:xfrm>
          <a:prstGeom prst="roundRect">
            <a:avLst>
              <a:gd name="adj" fmla="val 2339"/>
            </a:avLst>
          </a:prstGeom>
          <a:solidFill>
            <a:srgbClr val="10213F">
              <a:alpha val="92000"/>
            </a:srgbClr>
          </a:solidFill>
          <a:ln w="12700">
            <a:solidFill>
              <a:srgbClr val="1E3A5F"/>
            </a:solidFill>
            <a:prstDash val="solid"/>
          </a:ln>
        </p:spPr>
      </p:sp>
      <p:sp>
        <p:nvSpPr>
          <p:cNvPr id="7" name="Text 5"/>
          <p:cNvSpPr txBox="1"/>
          <p:nvPr/>
        </p:nvSpPr>
        <p:spPr>
          <a:xfrm>
            <a:off x="822960" y="1755648"/>
            <a:ext cx="27432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HANDLUNGSLOGIK</a:t>
            </a:r>
            <a:endParaRPr lang="de-DE" sz="1000" dirty="0"/>
          </a:p>
        </p:txBody>
      </p:sp>
      <p:sp>
        <p:nvSpPr>
          <p:cNvPr id="8" name="Text 6"/>
          <p:cNvSpPr txBox="1"/>
          <p:nvPr/>
        </p:nvSpPr>
        <p:spPr>
          <a:xfrm>
            <a:off x="822960" y="1993392"/>
            <a:ext cx="6217920" cy="329184"/>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Segment → Priorität → Handlungshinweis</a:t>
            </a:r>
            <a:endParaRPr lang="de-DE" sz="1600" dirty="0"/>
          </a:p>
        </p:txBody>
      </p:sp>
      <p:sp>
        <p:nvSpPr>
          <p:cNvPr id="9" name="Text 7"/>
          <p:cNvSpPr txBox="1"/>
          <p:nvPr/>
        </p:nvSpPr>
        <p:spPr>
          <a:xfrm>
            <a:off x="822960" y="2487168"/>
            <a:ext cx="2286000" cy="219456"/>
          </a:xfrm>
          <a:prstGeom prst="rect">
            <a:avLst/>
          </a:prstGeom>
          <a:noFill/>
          <a:ln/>
        </p:spPr>
        <p:txBody>
          <a:bodyPr wrap="square" lIns="0" tIns="0" rIns="0" bIns="0" rtlCol="0" anchor="t"/>
          <a:lstStyle/>
          <a:p>
            <a:pPr indent="0" marL="0">
              <a:buNone/>
            </a:pPr>
            <a:r>
              <a:rPr lang="de-DE" altLang="en-US" sz="900" b="1" spc="150" kern="0" dirty="0">
                <a:solidFill>
                  <a:srgbClr val="7389A6"/>
                </a:solidFill>
                <a:latin typeface="Segoe UI" pitchFamily="34" charset="0"/>
                <a:ea typeface="Segoe UI" pitchFamily="34" charset="-122"/>
                <a:cs typeface="Segoe UI" pitchFamily="34" charset="-120"/>
              </a:rPr>
              <a:t>SEGMENT</a:t>
            </a:r>
            <a:endParaRPr lang="de-DE" sz="900" dirty="0"/>
          </a:p>
        </p:txBody>
      </p:sp>
      <p:sp>
        <p:nvSpPr>
          <p:cNvPr id="10" name="Text 8"/>
          <p:cNvSpPr txBox="1"/>
          <p:nvPr/>
        </p:nvSpPr>
        <p:spPr>
          <a:xfrm>
            <a:off x="2606040" y="2487168"/>
            <a:ext cx="2286000" cy="219456"/>
          </a:xfrm>
          <a:prstGeom prst="rect">
            <a:avLst/>
          </a:prstGeom>
          <a:noFill/>
          <a:ln/>
        </p:spPr>
        <p:txBody>
          <a:bodyPr wrap="square" lIns="0" tIns="0" rIns="0" bIns="0" rtlCol="0" anchor="t"/>
          <a:lstStyle/>
          <a:p>
            <a:pPr indent="0" marL="0">
              <a:buNone/>
            </a:pPr>
            <a:r>
              <a:rPr lang="de-DE" altLang="en-US" sz="900" b="1" spc="150" kern="0" dirty="0">
                <a:solidFill>
                  <a:srgbClr val="7389A6"/>
                </a:solidFill>
                <a:latin typeface="Segoe UI" pitchFamily="34" charset="0"/>
                <a:ea typeface="Segoe UI" pitchFamily="34" charset="-122"/>
                <a:cs typeface="Segoe UI" pitchFamily="34" charset="-120"/>
              </a:rPr>
              <a:t>PRIORITÄT</a:t>
            </a:r>
            <a:endParaRPr lang="de-DE" sz="900" dirty="0"/>
          </a:p>
        </p:txBody>
      </p:sp>
      <p:sp>
        <p:nvSpPr>
          <p:cNvPr id="11" name="Text 9"/>
          <p:cNvSpPr txBox="1"/>
          <p:nvPr/>
        </p:nvSpPr>
        <p:spPr>
          <a:xfrm>
            <a:off x="4069080" y="2487168"/>
            <a:ext cx="2286000" cy="219456"/>
          </a:xfrm>
          <a:prstGeom prst="rect">
            <a:avLst/>
          </a:prstGeom>
          <a:noFill/>
          <a:ln/>
        </p:spPr>
        <p:txBody>
          <a:bodyPr wrap="square" lIns="0" tIns="0" rIns="0" bIns="0" rtlCol="0" anchor="t"/>
          <a:lstStyle/>
          <a:p>
            <a:pPr indent="0" marL="0">
              <a:buNone/>
            </a:pPr>
            <a:r>
              <a:rPr lang="de-DE" altLang="en-US" sz="900" b="1" spc="150" kern="0" dirty="0">
                <a:solidFill>
                  <a:srgbClr val="7389A6"/>
                </a:solidFill>
                <a:latin typeface="Segoe UI" pitchFamily="34" charset="0"/>
                <a:ea typeface="Segoe UI" pitchFamily="34" charset="-122"/>
                <a:cs typeface="Segoe UI" pitchFamily="34" charset="-120"/>
              </a:rPr>
              <a:t>HANDLUNGSHINWEIS</a:t>
            </a:r>
            <a:endParaRPr lang="de-DE" sz="900" dirty="0"/>
          </a:p>
        </p:txBody>
      </p:sp>
      <p:sp>
        <p:nvSpPr>
          <p:cNvPr id="12" name="Shape 10"/>
          <p:cNvSpPr/>
          <p:nvPr/>
        </p:nvSpPr>
        <p:spPr>
          <a:xfrm>
            <a:off x="731520" y="2761488"/>
            <a:ext cx="6400800" cy="658368"/>
          </a:xfrm>
          <a:prstGeom prst="roundRect">
            <a:avLst>
              <a:gd name="adj" fmla="val 11111"/>
            </a:avLst>
          </a:prstGeom>
          <a:solidFill>
            <a:srgbClr val="0B2440"/>
          </a:solidFill>
          <a:ln w="9525">
            <a:solidFill>
              <a:srgbClr val="1E3A5F"/>
            </a:solidFill>
            <a:prstDash val="solid"/>
          </a:ln>
        </p:spPr>
      </p:sp>
      <p:sp>
        <p:nvSpPr>
          <p:cNvPr id="13" name="Shape 11"/>
          <p:cNvSpPr/>
          <p:nvPr/>
        </p:nvSpPr>
        <p:spPr>
          <a:xfrm>
            <a:off x="822960" y="2916936"/>
            <a:ext cx="1508760" cy="347472"/>
          </a:xfrm>
          <a:prstGeom prst="roundRect">
            <a:avLst>
              <a:gd name="adj" fmla="val 50000"/>
            </a:avLst>
          </a:prstGeom>
          <a:solidFill>
            <a:srgbClr val="2F7FA3"/>
          </a:solidFill>
          <a:ln w="12700">
            <a:solidFill>
              <a:srgbClr val="2F7FA3"/>
            </a:solidFill>
            <a:prstDash val="solid"/>
          </a:ln>
        </p:spPr>
      </p:sp>
      <p:sp>
        <p:nvSpPr>
          <p:cNvPr id="14" name="Text 12"/>
          <p:cNvSpPr txBox="1"/>
          <p:nvPr/>
        </p:nvSpPr>
        <p:spPr>
          <a:xfrm>
            <a:off x="822960" y="2916936"/>
            <a:ext cx="1508760" cy="347472"/>
          </a:xfrm>
          <a:prstGeom prst="rect">
            <a:avLst/>
          </a:prstGeom>
          <a:noFill/>
          <a:ln/>
        </p:spPr>
        <p:txBody>
          <a:bodyPr wrap="square" lIns="0" tIns="0" rIns="0" bIns="0" rtlCol="0" anchor="ctr"/>
          <a:lstStyle/>
          <a:p>
            <a:pPr algn="ctr" indent="0" marL="0">
              <a:buNone/>
            </a:pPr>
            <a:r>
              <a:rPr lang="de-DE" altLang="en-US" sz="1100" dirty="0">
                <a:solidFill>
                  <a:srgbClr val="EEF4FB"/>
                </a:solidFill>
                <a:latin typeface="Segoe UI Semibold" pitchFamily="34" charset="0"/>
                <a:ea typeface="Segoe UI Semibold" pitchFamily="34" charset="-122"/>
                <a:cs typeface="Segoe UI Semibold" pitchFamily="34" charset="-120"/>
              </a:rPr>
              <a:t>LOW</a:t>
            </a:r>
            <a:endParaRPr lang="de-DE" sz="1100" dirty="0"/>
          </a:p>
        </p:txBody>
      </p:sp>
      <p:sp>
        <p:nvSpPr>
          <p:cNvPr id="15" name="Text 13"/>
          <p:cNvSpPr txBox="1"/>
          <p:nvPr/>
        </p:nvSpPr>
        <p:spPr>
          <a:xfrm>
            <a:off x="2606040" y="2761488"/>
            <a:ext cx="1371600" cy="658368"/>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pitchFamily="34" charset="0"/>
                <a:ea typeface="Segoe UI" pitchFamily="34" charset="-122"/>
                <a:cs typeface="Segoe UI" pitchFamily="34" charset="-120"/>
              </a:rPr>
              <a:t>Standard</a:t>
            </a:r>
            <a:endParaRPr lang="de-DE" sz="1250" dirty="0"/>
          </a:p>
        </p:txBody>
      </p:sp>
      <p:sp>
        <p:nvSpPr>
          <p:cNvPr id="16" name="Text 14"/>
          <p:cNvSpPr txBox="1"/>
          <p:nvPr/>
        </p:nvSpPr>
        <p:spPr>
          <a:xfrm>
            <a:off x="4069080" y="2761488"/>
            <a:ext cx="3017520" cy="658368"/>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Standardprozess</a:t>
            </a:r>
            <a:endParaRPr lang="de-DE" sz="1250" dirty="0"/>
          </a:p>
        </p:txBody>
      </p:sp>
      <p:sp>
        <p:nvSpPr>
          <p:cNvPr id="17" name="Shape 15"/>
          <p:cNvSpPr/>
          <p:nvPr/>
        </p:nvSpPr>
        <p:spPr>
          <a:xfrm>
            <a:off x="731520" y="3493008"/>
            <a:ext cx="6400800" cy="658368"/>
          </a:xfrm>
          <a:prstGeom prst="roundRect">
            <a:avLst>
              <a:gd name="adj" fmla="val 11111"/>
            </a:avLst>
          </a:prstGeom>
          <a:solidFill>
            <a:srgbClr val="0B2440"/>
          </a:solidFill>
          <a:ln w="9525">
            <a:solidFill>
              <a:srgbClr val="1E3A5F"/>
            </a:solidFill>
            <a:prstDash val="solid"/>
          </a:ln>
        </p:spPr>
      </p:sp>
      <p:sp>
        <p:nvSpPr>
          <p:cNvPr id="18" name="Shape 16"/>
          <p:cNvSpPr/>
          <p:nvPr/>
        </p:nvSpPr>
        <p:spPr>
          <a:xfrm>
            <a:off x="822960" y="3648456"/>
            <a:ext cx="1508760" cy="347472"/>
          </a:xfrm>
          <a:prstGeom prst="roundRect">
            <a:avLst>
              <a:gd name="adj" fmla="val 50000"/>
            </a:avLst>
          </a:prstGeom>
          <a:solidFill>
            <a:srgbClr val="22D3EE"/>
          </a:solidFill>
          <a:ln w="12700">
            <a:solidFill>
              <a:srgbClr val="22D3EE"/>
            </a:solidFill>
            <a:prstDash val="solid"/>
          </a:ln>
        </p:spPr>
      </p:sp>
      <p:sp>
        <p:nvSpPr>
          <p:cNvPr id="19" name="Text 17"/>
          <p:cNvSpPr txBox="1"/>
          <p:nvPr/>
        </p:nvSpPr>
        <p:spPr>
          <a:xfrm>
            <a:off x="822960" y="3648456"/>
            <a:ext cx="1508760" cy="347472"/>
          </a:xfrm>
          <a:prstGeom prst="rect">
            <a:avLst/>
          </a:prstGeom>
          <a:noFill/>
          <a:ln/>
        </p:spPr>
        <p:txBody>
          <a:bodyPr wrap="square" lIns="0" tIns="0" rIns="0" bIns="0" rtlCol="0" anchor="ctr"/>
          <a:lstStyle/>
          <a:p>
            <a:pPr algn="ctr" indent="0" marL="0">
              <a:buNone/>
            </a:pPr>
            <a:r>
              <a:rPr lang="de-DE" altLang="en-US" sz="1100" dirty="0">
                <a:solidFill>
                  <a:srgbClr val="0A1628"/>
                </a:solidFill>
                <a:latin typeface="Segoe UI Semibold" pitchFamily="34" charset="0"/>
                <a:ea typeface="Segoe UI Semibold" pitchFamily="34" charset="-122"/>
                <a:cs typeface="Segoe UI Semibold" pitchFamily="34" charset="-120"/>
              </a:rPr>
              <a:t>STANDARD</a:t>
            </a:r>
            <a:endParaRPr lang="de-DE" sz="1100" dirty="0"/>
          </a:p>
        </p:txBody>
      </p:sp>
      <p:sp>
        <p:nvSpPr>
          <p:cNvPr id="20" name="Text 18"/>
          <p:cNvSpPr txBox="1"/>
          <p:nvPr/>
        </p:nvSpPr>
        <p:spPr>
          <a:xfrm>
            <a:off x="2606040" y="3493008"/>
            <a:ext cx="1371600" cy="658368"/>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pitchFamily="34" charset="0"/>
                <a:ea typeface="Segoe UI" pitchFamily="34" charset="-122"/>
                <a:cs typeface="Segoe UI" pitchFamily="34" charset="-120"/>
              </a:rPr>
              <a:t>Moderat</a:t>
            </a:r>
            <a:endParaRPr lang="de-DE" sz="1250" dirty="0"/>
          </a:p>
        </p:txBody>
      </p:sp>
      <p:sp>
        <p:nvSpPr>
          <p:cNvPr id="21" name="Text 19"/>
          <p:cNvSpPr txBox="1"/>
          <p:nvPr/>
        </p:nvSpPr>
        <p:spPr>
          <a:xfrm>
            <a:off x="4069080" y="3493008"/>
            <a:ext cx="3017520" cy="658368"/>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Semibold" pitchFamily="34" charset="0"/>
                <a:ea typeface="Segoe UI Semibold" pitchFamily="34" charset="-122"/>
                <a:cs typeface="Segoe UI Semibold" pitchFamily="34" charset="-120"/>
              </a:rPr>
              <a:t>Standardprozess</a:t>
            </a:r>
            <a:endParaRPr lang="de-DE" sz="1250" dirty="0"/>
          </a:p>
        </p:txBody>
      </p:sp>
      <p:sp>
        <p:nvSpPr>
          <p:cNvPr id="22" name="Shape 20"/>
          <p:cNvSpPr/>
          <p:nvPr/>
        </p:nvSpPr>
        <p:spPr>
          <a:xfrm>
            <a:off x="731520" y="4224528"/>
            <a:ext cx="6400800" cy="658368"/>
          </a:xfrm>
          <a:prstGeom prst="roundRect">
            <a:avLst>
              <a:gd name="adj" fmla="val 11111"/>
            </a:avLst>
          </a:prstGeom>
          <a:solidFill>
            <a:srgbClr val="0B2440"/>
          </a:solidFill>
          <a:ln w="9525">
            <a:solidFill>
              <a:srgbClr val="1E3A5F"/>
            </a:solidFill>
            <a:prstDash val="solid"/>
          </a:ln>
        </p:spPr>
      </p:sp>
      <p:sp>
        <p:nvSpPr>
          <p:cNvPr id="23" name="Shape 21"/>
          <p:cNvSpPr/>
          <p:nvPr/>
        </p:nvSpPr>
        <p:spPr>
          <a:xfrm>
            <a:off x="822960" y="4379976"/>
            <a:ext cx="1508760" cy="347472"/>
          </a:xfrm>
          <a:prstGeom prst="roundRect">
            <a:avLst>
              <a:gd name="adj" fmla="val 50000"/>
            </a:avLst>
          </a:prstGeom>
          <a:solidFill>
            <a:srgbClr val="FBBF24"/>
          </a:solidFill>
          <a:ln w="12700">
            <a:solidFill>
              <a:srgbClr val="FBBF24"/>
            </a:solidFill>
            <a:prstDash val="solid"/>
          </a:ln>
        </p:spPr>
      </p:sp>
      <p:sp>
        <p:nvSpPr>
          <p:cNvPr id="24" name="Text 22"/>
          <p:cNvSpPr txBox="1"/>
          <p:nvPr/>
        </p:nvSpPr>
        <p:spPr>
          <a:xfrm>
            <a:off x="822960" y="4379976"/>
            <a:ext cx="1508760" cy="347472"/>
          </a:xfrm>
          <a:prstGeom prst="rect">
            <a:avLst/>
          </a:prstGeom>
          <a:noFill/>
          <a:ln/>
        </p:spPr>
        <p:txBody>
          <a:bodyPr wrap="square" lIns="0" tIns="0" rIns="0" bIns="0" rtlCol="0" anchor="ctr"/>
          <a:lstStyle/>
          <a:p>
            <a:pPr algn="ctr" indent="0" marL="0">
              <a:buNone/>
            </a:pPr>
            <a:r>
              <a:rPr lang="de-DE" altLang="en-US" sz="1100" dirty="0">
                <a:solidFill>
                  <a:srgbClr val="0A1628"/>
                </a:solidFill>
                <a:latin typeface="Segoe UI Semibold" pitchFamily="34" charset="0"/>
                <a:ea typeface="Segoe UI Semibold" pitchFamily="34" charset="-122"/>
                <a:cs typeface="Segoe UI Semibold" pitchFamily="34" charset="-120"/>
              </a:rPr>
              <a:t>ELEVATED</a:t>
            </a:r>
            <a:endParaRPr lang="de-DE" sz="1100" dirty="0"/>
          </a:p>
        </p:txBody>
      </p:sp>
      <p:sp>
        <p:nvSpPr>
          <p:cNvPr id="25" name="Text 23"/>
          <p:cNvSpPr txBox="1"/>
          <p:nvPr/>
        </p:nvSpPr>
        <p:spPr>
          <a:xfrm>
            <a:off x="2606040" y="4224528"/>
            <a:ext cx="1371600" cy="658368"/>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pitchFamily="34" charset="0"/>
                <a:ea typeface="Segoe UI" pitchFamily="34" charset="-122"/>
                <a:cs typeface="Segoe UI" pitchFamily="34" charset="-120"/>
              </a:rPr>
              <a:t>Hoch</a:t>
            </a:r>
            <a:endParaRPr lang="de-DE" sz="1250" dirty="0"/>
          </a:p>
        </p:txBody>
      </p:sp>
      <p:sp>
        <p:nvSpPr>
          <p:cNvPr id="26" name="Text 24"/>
          <p:cNvSpPr txBox="1"/>
          <p:nvPr/>
        </p:nvSpPr>
        <p:spPr>
          <a:xfrm>
            <a:off x="4069080" y="4224528"/>
            <a:ext cx="3017520" cy="658368"/>
          </a:xfrm>
          <a:prstGeom prst="rect">
            <a:avLst/>
          </a:prstGeom>
          <a:noFill/>
          <a:ln/>
        </p:spPr>
        <p:txBody>
          <a:bodyPr wrap="square" lIns="0" tIns="0" rIns="0" bIns="0" rtlCol="0" anchor="ctr"/>
          <a:lstStyle/>
          <a:p>
            <a:pPr indent="0" marL="0">
              <a:buNone/>
            </a:pPr>
            <a:r>
              <a:rPr lang="de-DE" altLang="en-US" sz="1250" dirty="0">
                <a:solidFill>
                  <a:srgbClr val="FBBF24"/>
                </a:solidFill>
                <a:latin typeface="Segoe UI Semibold" pitchFamily="34" charset="0"/>
                <a:ea typeface="Segoe UI Semibold" pitchFamily="34" charset="-122"/>
                <a:cs typeface="Segoe UI Semibold" pitchFamily="34" charset="-120"/>
              </a:rPr>
              <a:t>Zusätzliche fachliche Prüfung empfohlen</a:t>
            </a:r>
            <a:endParaRPr lang="de-DE" sz="1250" dirty="0"/>
          </a:p>
        </p:txBody>
      </p:sp>
      <p:sp>
        <p:nvSpPr>
          <p:cNvPr id="27" name="Shape 25"/>
          <p:cNvSpPr/>
          <p:nvPr/>
        </p:nvSpPr>
        <p:spPr>
          <a:xfrm>
            <a:off x="731520" y="4956048"/>
            <a:ext cx="6400800" cy="658368"/>
          </a:xfrm>
          <a:prstGeom prst="roundRect">
            <a:avLst>
              <a:gd name="adj" fmla="val 11111"/>
            </a:avLst>
          </a:prstGeom>
          <a:solidFill>
            <a:srgbClr val="0B2440"/>
          </a:solidFill>
          <a:ln w="9525">
            <a:solidFill>
              <a:srgbClr val="1E3A5F"/>
            </a:solidFill>
            <a:prstDash val="solid"/>
          </a:ln>
        </p:spPr>
      </p:sp>
      <p:sp>
        <p:nvSpPr>
          <p:cNvPr id="28" name="Shape 26"/>
          <p:cNvSpPr/>
          <p:nvPr/>
        </p:nvSpPr>
        <p:spPr>
          <a:xfrm>
            <a:off x="822960" y="5111496"/>
            <a:ext cx="1508760" cy="347472"/>
          </a:xfrm>
          <a:prstGeom prst="roundRect">
            <a:avLst>
              <a:gd name="adj" fmla="val 50000"/>
            </a:avLst>
          </a:prstGeom>
          <a:solidFill>
            <a:srgbClr val="F87171"/>
          </a:solidFill>
          <a:ln w="12700">
            <a:solidFill>
              <a:srgbClr val="F87171"/>
            </a:solidFill>
            <a:prstDash val="solid"/>
          </a:ln>
        </p:spPr>
      </p:sp>
      <p:sp>
        <p:nvSpPr>
          <p:cNvPr id="29" name="Text 27"/>
          <p:cNvSpPr txBox="1"/>
          <p:nvPr/>
        </p:nvSpPr>
        <p:spPr>
          <a:xfrm>
            <a:off x="822960" y="5111496"/>
            <a:ext cx="1508760" cy="347472"/>
          </a:xfrm>
          <a:prstGeom prst="rect">
            <a:avLst/>
          </a:prstGeom>
          <a:noFill/>
          <a:ln/>
        </p:spPr>
        <p:txBody>
          <a:bodyPr wrap="square" lIns="0" tIns="0" rIns="0" bIns="0" rtlCol="0" anchor="ctr"/>
          <a:lstStyle/>
          <a:p>
            <a:pPr algn="ctr" indent="0" marL="0">
              <a:buNone/>
            </a:pPr>
            <a:r>
              <a:rPr lang="de-DE" altLang="en-US" sz="1100" dirty="0">
                <a:solidFill>
                  <a:srgbClr val="0A1628"/>
                </a:solidFill>
                <a:latin typeface="Segoe UI Semibold" pitchFamily="34" charset="0"/>
                <a:ea typeface="Segoe UI Semibold" pitchFamily="34" charset="-122"/>
                <a:cs typeface="Segoe UI Semibold" pitchFamily="34" charset="-120"/>
              </a:rPr>
              <a:t>HIGH</a:t>
            </a:r>
            <a:endParaRPr lang="de-DE" sz="1100" dirty="0"/>
          </a:p>
        </p:txBody>
      </p:sp>
      <p:sp>
        <p:nvSpPr>
          <p:cNvPr id="30" name="Text 28"/>
          <p:cNvSpPr txBox="1"/>
          <p:nvPr/>
        </p:nvSpPr>
        <p:spPr>
          <a:xfrm>
            <a:off x="2606040" y="4956048"/>
            <a:ext cx="1371600" cy="658368"/>
          </a:xfrm>
          <a:prstGeom prst="rect">
            <a:avLst/>
          </a:prstGeom>
          <a:noFill/>
          <a:ln/>
        </p:spPr>
        <p:txBody>
          <a:bodyPr wrap="square" lIns="0" tIns="0" rIns="0" bIns="0" rtlCol="0" anchor="ctr"/>
          <a:lstStyle/>
          <a:p>
            <a:pPr indent="0" marL="0">
              <a:buNone/>
            </a:pPr>
            <a:r>
              <a:rPr lang="de-DE" altLang="en-US" sz="1250" dirty="0">
                <a:solidFill>
                  <a:srgbClr val="EEF4FB"/>
                </a:solidFill>
                <a:latin typeface="Segoe UI" pitchFamily="34" charset="0"/>
                <a:ea typeface="Segoe UI" pitchFamily="34" charset="-122"/>
                <a:cs typeface="Segoe UI" pitchFamily="34" charset="-120"/>
              </a:rPr>
              <a:t>Sehr hoch</a:t>
            </a:r>
            <a:endParaRPr lang="de-DE" sz="1250" dirty="0"/>
          </a:p>
        </p:txBody>
      </p:sp>
      <p:sp>
        <p:nvSpPr>
          <p:cNvPr id="31" name="Text 29"/>
          <p:cNvSpPr txBox="1"/>
          <p:nvPr/>
        </p:nvSpPr>
        <p:spPr>
          <a:xfrm>
            <a:off x="4069080" y="4956048"/>
            <a:ext cx="3017520" cy="658368"/>
          </a:xfrm>
          <a:prstGeom prst="rect">
            <a:avLst/>
          </a:prstGeom>
          <a:noFill/>
          <a:ln/>
        </p:spPr>
        <p:txBody>
          <a:bodyPr wrap="square" lIns="0" tIns="0" rIns="0" bIns="0" rtlCol="0" anchor="ctr"/>
          <a:lstStyle/>
          <a:p>
            <a:pPr indent="0" marL="0">
              <a:buNone/>
            </a:pPr>
            <a:r>
              <a:rPr lang="de-DE" altLang="en-US" sz="1250" dirty="0">
                <a:solidFill>
                  <a:srgbClr val="F87171"/>
                </a:solidFill>
                <a:latin typeface="Segoe UI Semibold" pitchFamily="34" charset="0"/>
                <a:ea typeface="Segoe UI Semibold" pitchFamily="34" charset="-122"/>
                <a:cs typeface="Segoe UI Semibold" pitchFamily="34" charset="-120"/>
              </a:rPr>
              <a:t>Manuelle Underwriting-Prüfung empfohlen</a:t>
            </a:r>
            <a:endParaRPr lang="de-DE" sz="1250" dirty="0"/>
          </a:p>
        </p:txBody>
      </p:sp>
      <p:pic>
        <p:nvPicPr>
          <p:cNvPr id="32" name="Image 0" descr="preencoded.png">    </p:cNvPr>
          <p:cNvPicPr>
            <a:picLocks noChangeAspect="1"/>
          </p:cNvPicPr>
          <p:nvPr/>
        </p:nvPicPr>
        <p:blipFill>
          <a:blip r:embed="rId2"/>
          <a:stretch>
            <a:fillRect/>
          </a:stretch>
        </p:blipFill>
        <p:spPr>
          <a:xfrm>
            <a:off x="822960" y="5779008"/>
            <a:ext cx="274320" cy="274320"/>
          </a:xfrm>
          <a:prstGeom prst="rect">
            <a:avLst/>
          </a:prstGeom>
        </p:spPr>
      </p:pic>
      <p:sp>
        <p:nvSpPr>
          <p:cNvPr id="33" name="Text 30"/>
          <p:cNvSpPr txBox="1"/>
          <p:nvPr/>
        </p:nvSpPr>
        <p:spPr>
          <a:xfrm>
            <a:off x="1207008" y="5687568"/>
            <a:ext cx="5852160" cy="457200"/>
          </a:xfrm>
          <a:prstGeom prst="rect">
            <a:avLst/>
          </a:prstGeom>
          <a:noFill/>
          <a:ln/>
        </p:spPr>
        <p:txBody>
          <a:bodyPr wrap="square" lIns="0" tIns="0" rIns="0" bIns="0" rtlCol="0" anchor="ctr"/>
          <a:lstStyle/>
          <a:p>
            <a:pPr indent="0" marL="0">
              <a:buNone/>
            </a:pPr>
            <a:r>
              <a:rPr lang="de-DE" altLang="en-US" sz="1150" dirty="0">
                <a:solidFill>
                  <a:srgbClr val="2DD4BF"/>
                </a:solidFill>
                <a:latin typeface="Segoe UI Semibold" pitchFamily="34" charset="0"/>
                <a:ea typeface="Segoe UI Semibold" pitchFamily="34" charset="-122"/>
                <a:cs typeface="Segoe UI Semibold" pitchFamily="34" charset="-120"/>
              </a:rPr>
              <a:t>Das Modell priorisiert, der Mensch entscheidet – keine automatische Ablehnung.</a:t>
            </a:r>
            <a:endParaRPr lang="de-DE" sz="1150" dirty="0"/>
          </a:p>
        </p:txBody>
      </p:sp>
      <p:sp>
        <p:nvSpPr>
          <p:cNvPr id="34" name="Shape 31"/>
          <p:cNvSpPr/>
          <p:nvPr/>
        </p:nvSpPr>
        <p:spPr>
          <a:xfrm>
            <a:off x="7543800" y="1572768"/>
            <a:ext cx="4096512" cy="4690872"/>
          </a:xfrm>
          <a:prstGeom prst="roundRect">
            <a:avLst>
              <a:gd name="adj" fmla="val 2679"/>
            </a:avLst>
          </a:prstGeom>
          <a:solidFill>
            <a:srgbClr val="10213F">
              <a:alpha val="92000"/>
            </a:srgbClr>
          </a:solidFill>
          <a:ln w="12700">
            <a:solidFill>
              <a:srgbClr val="1E3A5F"/>
            </a:solidFill>
            <a:prstDash val="solid"/>
          </a:ln>
        </p:spPr>
      </p:sp>
      <p:sp>
        <p:nvSpPr>
          <p:cNvPr id="35" name="Text 32"/>
          <p:cNvSpPr txBox="1"/>
          <p:nvPr/>
        </p:nvSpPr>
        <p:spPr>
          <a:xfrm>
            <a:off x="7818120" y="1755648"/>
            <a:ext cx="27432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INTERPRETATION</a:t>
            </a:r>
            <a:endParaRPr lang="de-DE" sz="1000" dirty="0"/>
          </a:p>
        </p:txBody>
      </p:sp>
      <p:sp>
        <p:nvSpPr>
          <p:cNvPr id="36" name="Text 33"/>
          <p:cNvSpPr txBox="1"/>
          <p:nvPr/>
        </p:nvSpPr>
        <p:spPr>
          <a:xfrm>
            <a:off x="7818120" y="1993392"/>
            <a:ext cx="3566160" cy="329184"/>
          </a:xfrm>
          <a:prstGeom prst="rect">
            <a:avLst/>
          </a:prstGeom>
          <a:noFill/>
          <a:ln/>
        </p:spPr>
        <p:txBody>
          <a:bodyPr wrap="square" lIns="0" tIns="0" rIns="0" bIns="0" rtlCol="0" anchor="t"/>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Intensität ≠ Volumen</a:t>
            </a:r>
            <a:endParaRPr lang="de-DE" sz="1600" dirty="0"/>
          </a:p>
        </p:txBody>
      </p:sp>
      <p:sp>
        <p:nvSpPr>
          <p:cNvPr id="37" name="Shape 34"/>
          <p:cNvSpPr/>
          <p:nvPr/>
        </p:nvSpPr>
        <p:spPr>
          <a:xfrm>
            <a:off x="8110728" y="2715768"/>
            <a:ext cx="548640" cy="548640"/>
          </a:xfrm>
          <a:prstGeom prst="ellipse">
            <a:avLst/>
          </a:prstGeom>
          <a:solidFill>
            <a:srgbClr val="F87171">
              <a:alpha val="85000"/>
            </a:srgbClr>
          </a:solidFill>
          <a:ln w="12700">
            <a:solidFill>
              <a:srgbClr val="F87171"/>
            </a:solidFill>
            <a:prstDash val="solid"/>
          </a:ln>
          <a:effectLst>
            <a:outerShdw sx="100000" sy="100000" kx="0" ky="0" algn="bl" rotWithShape="0" blurRad="177800" dist="50800" dir="5400000">
              <a:srgbClr val="F87171">
                <a:alpha val="40000"/>
              </a:srgbClr>
            </a:outerShdw>
          </a:effectLst>
        </p:spPr>
      </p:sp>
      <p:sp>
        <p:nvSpPr>
          <p:cNvPr id="38" name="Text 35"/>
          <p:cNvSpPr txBox="1"/>
          <p:nvPr/>
        </p:nvSpPr>
        <p:spPr>
          <a:xfrm>
            <a:off x="9144000" y="2624328"/>
            <a:ext cx="2286000" cy="274320"/>
          </a:xfrm>
          <a:prstGeom prst="rect">
            <a:avLst/>
          </a:prstGeom>
          <a:noFill/>
          <a:ln/>
        </p:spPr>
        <p:txBody>
          <a:bodyPr wrap="square" lIns="0" tIns="0" rIns="0" bIns="0" rtlCol="0" anchor="t"/>
          <a:lstStyle/>
          <a:p>
            <a:pPr indent="0" marL="0">
              <a:buNone/>
            </a:pPr>
            <a:r>
              <a:rPr lang="de-DE" altLang="en-US" sz="1300" dirty="0">
                <a:solidFill>
                  <a:srgbClr val="F87171"/>
                </a:solidFill>
                <a:latin typeface="Segoe UI Semibold" pitchFamily="34" charset="0"/>
                <a:ea typeface="Segoe UI Semibold" pitchFamily="34" charset="-122"/>
                <a:cs typeface="Segoe UI Semibold" pitchFamily="34" charset="-120"/>
              </a:rPr>
              <a:t>Profil A</a:t>
            </a:r>
            <a:endParaRPr lang="de-DE" sz="1300" dirty="0"/>
          </a:p>
        </p:txBody>
      </p:sp>
      <p:sp>
        <p:nvSpPr>
          <p:cNvPr id="39" name="Text 36"/>
          <p:cNvSpPr txBox="1"/>
          <p:nvPr/>
        </p:nvSpPr>
        <p:spPr>
          <a:xfrm>
            <a:off x="9144000" y="2898648"/>
            <a:ext cx="2286000" cy="502920"/>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wenige Policen, sehr hoher Schadenbedarf je Police</a:t>
            </a:r>
            <a:endParaRPr lang="de-DE" sz="1050" dirty="0"/>
          </a:p>
        </p:txBody>
      </p:sp>
      <p:sp>
        <p:nvSpPr>
          <p:cNvPr id="40" name="Shape 37"/>
          <p:cNvSpPr/>
          <p:nvPr/>
        </p:nvSpPr>
        <p:spPr>
          <a:xfrm>
            <a:off x="7799832" y="3675888"/>
            <a:ext cx="1188720" cy="1188720"/>
          </a:xfrm>
          <a:prstGeom prst="ellipse">
            <a:avLst/>
          </a:prstGeom>
          <a:solidFill>
            <a:srgbClr val="22D3EE">
              <a:alpha val="35000"/>
            </a:srgbClr>
          </a:solidFill>
          <a:ln w="12700">
            <a:solidFill>
              <a:srgbClr val="22D3EE"/>
            </a:solidFill>
            <a:prstDash val="solid"/>
          </a:ln>
        </p:spPr>
      </p:sp>
      <p:sp>
        <p:nvSpPr>
          <p:cNvPr id="41" name="Text 38"/>
          <p:cNvSpPr txBox="1"/>
          <p:nvPr/>
        </p:nvSpPr>
        <p:spPr>
          <a:xfrm>
            <a:off x="9144000" y="3813048"/>
            <a:ext cx="2286000" cy="274320"/>
          </a:xfrm>
          <a:prstGeom prst="rect">
            <a:avLst/>
          </a:prstGeom>
          <a:noFill/>
          <a:ln/>
        </p:spPr>
        <p:txBody>
          <a:bodyPr wrap="square" lIns="0" tIns="0" rIns="0" bIns="0" rtlCol="0" anchor="t"/>
          <a:lstStyle/>
          <a:p>
            <a:pPr indent="0" marL="0">
              <a:buNone/>
            </a:pPr>
            <a:r>
              <a:rPr lang="de-DE" altLang="en-US" sz="1300" dirty="0">
                <a:solidFill>
                  <a:srgbClr val="22D3EE"/>
                </a:solidFill>
                <a:latin typeface="Segoe UI Semibold" pitchFamily="34" charset="0"/>
                <a:ea typeface="Segoe UI Semibold" pitchFamily="34" charset="-122"/>
                <a:cs typeface="Segoe UI Semibold" pitchFamily="34" charset="-120"/>
              </a:rPr>
              <a:t>Profil B</a:t>
            </a:r>
            <a:endParaRPr lang="de-DE" sz="1300" dirty="0"/>
          </a:p>
        </p:txBody>
      </p:sp>
      <p:sp>
        <p:nvSpPr>
          <p:cNvPr id="42" name="Text 39"/>
          <p:cNvSpPr txBox="1"/>
          <p:nvPr/>
        </p:nvSpPr>
        <p:spPr>
          <a:xfrm>
            <a:off x="9144000" y="4087368"/>
            <a:ext cx="2331720" cy="777240"/>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viele Policen, moderater Schadenbedarf – kann insgesamt mehr erwarteten Schaden tragen</a:t>
            </a:r>
            <a:endParaRPr lang="de-DE" sz="1050" dirty="0"/>
          </a:p>
        </p:txBody>
      </p:sp>
      <p:sp>
        <p:nvSpPr>
          <p:cNvPr id="43" name="Shape 40"/>
          <p:cNvSpPr/>
          <p:nvPr/>
        </p:nvSpPr>
        <p:spPr>
          <a:xfrm>
            <a:off x="7818120" y="5184648"/>
            <a:ext cx="3547872" cy="868680"/>
          </a:xfrm>
          <a:prstGeom prst="roundRect">
            <a:avLst>
              <a:gd name="adj" fmla="val 8421"/>
            </a:avLst>
          </a:prstGeom>
          <a:solidFill>
            <a:srgbClr val="0B2440"/>
          </a:solidFill>
          <a:ln w="9525">
            <a:solidFill>
              <a:srgbClr val="2F5F8C"/>
            </a:solidFill>
            <a:prstDash val="solid"/>
          </a:ln>
        </p:spPr>
      </p:sp>
      <p:sp>
        <p:nvSpPr>
          <p:cNvPr id="44" name="Text 41"/>
          <p:cNvSpPr txBox="1"/>
          <p:nvPr/>
        </p:nvSpPr>
        <p:spPr>
          <a:xfrm>
            <a:off x="8001000" y="5184648"/>
            <a:ext cx="3182112" cy="868680"/>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Für die Portfoliosteuerung zählen beide Blickwinkel: Risikointensität und Portfoliovolumen.</a:t>
            </a:r>
            <a:endParaRPr lang="de-DE"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POWER BI · DASHBOARD-SEITE 3 VON 4</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Erwarteter Schaden &amp; Schadenbedarf</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14 / 19</a:t>
            </a:r>
            <a:endParaRPr lang="de-DE" sz="900" dirty="0"/>
          </a:p>
        </p:txBody>
      </p:sp>
      <p:sp>
        <p:nvSpPr>
          <p:cNvPr id="6" name="Shape 4"/>
          <p:cNvSpPr/>
          <p:nvPr/>
        </p:nvSpPr>
        <p:spPr>
          <a:xfrm>
            <a:off x="548640" y="1417320"/>
            <a:ext cx="8595360" cy="4837176"/>
          </a:xfrm>
          <a:prstGeom prst="roundRect">
            <a:avLst>
              <a:gd name="adj" fmla="val 1890"/>
            </a:avLst>
          </a:prstGeom>
          <a:solidFill>
            <a:srgbClr val="0B1A31"/>
          </a:solidFill>
          <a:ln w="19050">
            <a:solidFill>
              <a:srgbClr val="22D3EE">
                <a:alpha val="75000"/>
              </a:srgbClr>
            </a:solidFill>
            <a:prstDash val="dash"/>
          </a:ln>
          <a:effectLst>
            <a:outerShdw sx="100000" sy="100000" kx="0" ky="0" algn="bl" rotWithShape="0" blurRad="279400" dist="50800" dir="5400000">
              <a:srgbClr val="22D3EE">
                <a:alpha val="22000"/>
              </a:srgbClr>
            </a:outerShdw>
          </a:effectLst>
        </p:spPr>
      </p:sp>
      <p:sp>
        <p:nvSpPr>
          <p:cNvPr id="7" name="Shape 5"/>
          <p:cNvSpPr/>
          <p:nvPr/>
        </p:nvSpPr>
        <p:spPr>
          <a:xfrm>
            <a:off x="4434840" y="2784348"/>
            <a:ext cx="822960" cy="822960"/>
          </a:xfrm>
          <a:prstGeom prst="ellipse">
            <a:avLst/>
          </a:prstGeom>
          <a:solidFill>
            <a:srgbClr val="0E2A47"/>
          </a:solidFill>
          <a:ln w="12700">
            <a:solidFill>
              <a:srgbClr val="22D3EE">
                <a:alpha val="55000"/>
              </a:srgbClr>
            </a:solidFill>
            <a:prstDash val="solid"/>
          </a:ln>
        </p:spPr>
      </p:sp>
      <p:pic>
        <p:nvPicPr>
          <p:cNvPr id="8" name="Image 0" descr="preencoded.png">    </p:cNvPr>
          <p:cNvPicPr>
            <a:picLocks noChangeAspect="1"/>
          </p:cNvPicPr>
          <p:nvPr/>
        </p:nvPicPr>
        <p:blipFill>
          <a:blip r:embed="rId2"/>
          <a:stretch>
            <a:fillRect/>
          </a:stretch>
        </p:blipFill>
        <p:spPr>
          <a:xfrm>
            <a:off x="4640580" y="2990088"/>
            <a:ext cx="411480" cy="411480"/>
          </a:xfrm>
          <a:prstGeom prst="rect">
            <a:avLst/>
          </a:prstGeom>
        </p:spPr>
      </p:pic>
      <p:sp>
        <p:nvSpPr>
          <p:cNvPr id="9" name="Text 6"/>
          <p:cNvSpPr txBox="1"/>
          <p:nvPr/>
        </p:nvSpPr>
        <p:spPr>
          <a:xfrm>
            <a:off x="548640" y="3790188"/>
            <a:ext cx="8595360" cy="457200"/>
          </a:xfrm>
          <a:prstGeom prst="rect">
            <a:avLst/>
          </a:prstGeom>
          <a:noFill/>
          <a:ln/>
        </p:spPr>
        <p:txBody>
          <a:bodyPr wrap="square" lIns="0" tIns="0" rIns="0" bIns="0" rtlCol="0" anchor="ctr"/>
          <a:lstStyle/>
          <a:p>
            <a:pPr algn="ctr" indent="0" marL="0">
              <a:buNone/>
            </a:pPr>
            <a:r>
              <a:rPr lang="de-DE" altLang="en-US" sz="2200" dirty="0">
                <a:solidFill>
                  <a:srgbClr val="22D3EE"/>
                </a:solidFill>
                <a:latin typeface="Segoe UI Semibold" pitchFamily="34" charset="0"/>
                <a:ea typeface="Segoe UI Semibold" pitchFamily="34" charset="-122"/>
                <a:cs typeface="Segoe UI Semibold" pitchFamily="34" charset="-120"/>
              </a:rPr>
              <a:t>[POWER-BI-SCREENSHOT HIER EINFÜGEN]</a:t>
            </a:r>
            <a:endParaRPr lang="de-DE" sz="2200" dirty="0"/>
          </a:p>
        </p:txBody>
      </p:sp>
      <p:sp>
        <p:nvSpPr>
          <p:cNvPr id="10" name="Text 7"/>
          <p:cNvSpPr txBox="1"/>
          <p:nvPr/>
        </p:nvSpPr>
        <p:spPr>
          <a:xfrm>
            <a:off x="548640" y="4274820"/>
            <a:ext cx="8595360" cy="320040"/>
          </a:xfrm>
          <a:prstGeom prst="rect">
            <a:avLst/>
          </a:prstGeom>
          <a:noFill/>
          <a:ln/>
        </p:spPr>
        <p:txBody>
          <a:bodyPr wrap="square" lIns="0" tIns="0" rIns="0" bIns="0" rtlCol="0" anchor="t"/>
          <a:lstStyle/>
          <a:p>
            <a:pPr algn="ctr" indent="0" marL="0">
              <a:buNone/>
            </a:pPr>
            <a:r>
              <a:rPr lang="de-DE" altLang="en-US" sz="1200" dirty="0">
                <a:solidFill>
                  <a:srgbClr val="A9BBD0"/>
                </a:solidFill>
                <a:latin typeface="Segoe UI" pitchFamily="34" charset="0"/>
                <a:ea typeface="Segoe UI" pitchFamily="34" charset="-122"/>
                <a:cs typeface="Segoe UI" pitchFamily="34" charset="-120"/>
              </a:rPr>
              <a:t>Dashboard-Seite 3: Erwarteter Schaden &amp; Schadenbedarf · Screenshot im Format 16:9 auf diese Fläche legen</a:t>
            </a:r>
            <a:endParaRPr lang="de-DE" sz="1200" dirty="0"/>
          </a:p>
        </p:txBody>
      </p:sp>
      <p:sp>
        <p:nvSpPr>
          <p:cNvPr id="11" name="Shape 8"/>
          <p:cNvSpPr/>
          <p:nvPr/>
        </p:nvSpPr>
        <p:spPr>
          <a:xfrm>
            <a:off x="9418320" y="1417320"/>
            <a:ext cx="2221992" cy="1481328"/>
          </a:xfrm>
          <a:prstGeom prst="roundRect">
            <a:avLst>
              <a:gd name="adj" fmla="val 7407"/>
            </a:avLst>
          </a:prstGeom>
          <a:solidFill>
            <a:srgbClr val="10213F">
              <a:alpha val="92000"/>
            </a:srgbClr>
          </a:solidFill>
          <a:ln w="12700">
            <a:solidFill>
              <a:srgbClr val="1E3A5F"/>
            </a:solidFill>
            <a:prstDash val="solid"/>
          </a:ln>
        </p:spPr>
      </p:sp>
      <p:sp>
        <p:nvSpPr>
          <p:cNvPr id="12" name="Text 9"/>
          <p:cNvSpPr txBox="1"/>
          <p:nvPr/>
        </p:nvSpPr>
        <p:spPr>
          <a:xfrm>
            <a:off x="9582912" y="1554480"/>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ERWARTETER SCHADEN</a:t>
            </a:r>
            <a:endParaRPr lang="de-DE" sz="950" dirty="0"/>
          </a:p>
        </p:txBody>
      </p:sp>
      <p:sp>
        <p:nvSpPr>
          <p:cNvPr id="13" name="Text 10"/>
          <p:cNvSpPr txBox="1"/>
          <p:nvPr/>
        </p:nvSpPr>
        <p:spPr>
          <a:xfrm>
            <a:off x="9582912" y="1801368"/>
            <a:ext cx="1892808" cy="502920"/>
          </a:xfrm>
          <a:prstGeom prst="rect">
            <a:avLst/>
          </a:prstGeom>
          <a:noFill/>
          <a:ln/>
        </p:spPr>
        <p:txBody>
          <a:bodyPr wrap="square" lIns="0" tIns="0" rIns="0" bIns="0" rtlCol="0" anchor="ctr"/>
          <a:lstStyle/>
          <a:p>
            <a:pPr indent="0" marL="0">
              <a:buNone/>
            </a:pPr>
            <a:r>
              <a:rPr lang="de-DE" altLang="en-US" sz="1250" dirty="0">
                <a:solidFill>
                  <a:srgbClr val="94A3B8"/>
                </a:solidFill>
                <a:latin typeface="Segoe UI Semibold" pitchFamily="34" charset="0"/>
                <a:ea typeface="Segoe UI Semibold" pitchFamily="34" charset="-122"/>
                <a:cs typeface="Segoe UI Semibold" pitchFamily="34" charset="-120"/>
              </a:rPr>
              <a:t>Two-Stage  ≈ 77,0 Mio. €</a:t>
            </a:r>
            <a:endParaRPr lang="de-DE" sz="1250" dirty="0"/>
          </a:p>
          <a:p>
            <a:pPr indent="0" marL="0">
              <a:buNone/>
            </a:pPr>
            <a:r>
              <a:rPr lang="de-DE" altLang="en-US" sz="1250" dirty="0">
                <a:solidFill>
                  <a:srgbClr val="2DD4BF"/>
                </a:solidFill>
                <a:latin typeface="Segoe UI Semibold" pitchFamily="34" charset="0"/>
                <a:ea typeface="Segoe UI Semibold" pitchFamily="34" charset="-122"/>
                <a:cs typeface="Segoe UI Semibold" pitchFamily="34" charset="-120"/>
              </a:rPr>
              <a:t>Tweedie  ≈ 59,6 Mio. €</a:t>
            </a:r>
            <a:endParaRPr lang="de-DE" sz="1250" dirty="0"/>
          </a:p>
        </p:txBody>
      </p:sp>
      <p:sp>
        <p:nvSpPr>
          <p:cNvPr id="14" name="Text 11"/>
          <p:cNvSpPr txBox="1"/>
          <p:nvPr/>
        </p:nvSpPr>
        <p:spPr>
          <a:xfrm>
            <a:off x="9582912" y="2377440"/>
            <a:ext cx="1892808" cy="411480"/>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Portfolio-Prognosen – keine Kalibrierungskennzahl</a:t>
            </a:r>
            <a:endParaRPr lang="de-DE" sz="1050" dirty="0"/>
          </a:p>
        </p:txBody>
      </p:sp>
      <p:sp>
        <p:nvSpPr>
          <p:cNvPr id="15" name="Shape 12"/>
          <p:cNvSpPr/>
          <p:nvPr/>
        </p:nvSpPr>
        <p:spPr>
          <a:xfrm>
            <a:off x="9418320" y="3095244"/>
            <a:ext cx="2221992" cy="1481328"/>
          </a:xfrm>
          <a:prstGeom prst="roundRect">
            <a:avLst>
              <a:gd name="adj" fmla="val 7407"/>
            </a:avLst>
          </a:prstGeom>
          <a:solidFill>
            <a:srgbClr val="10213F">
              <a:alpha val="92000"/>
            </a:srgbClr>
          </a:solidFill>
          <a:ln w="12700">
            <a:solidFill>
              <a:srgbClr val="1E3A5F"/>
            </a:solidFill>
            <a:prstDash val="solid"/>
          </a:ln>
        </p:spPr>
      </p:sp>
      <p:sp>
        <p:nvSpPr>
          <p:cNvPr id="16" name="Text 13"/>
          <p:cNvSpPr txBox="1"/>
          <p:nvPr/>
        </p:nvSpPr>
        <p:spPr>
          <a:xfrm>
            <a:off x="9582912" y="3232404"/>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DEKOMPOSITION</a:t>
            </a:r>
            <a:endParaRPr lang="de-DE" sz="950" dirty="0"/>
          </a:p>
        </p:txBody>
      </p:sp>
      <p:sp>
        <p:nvSpPr>
          <p:cNvPr id="17" name="Text 14"/>
          <p:cNvSpPr txBox="1"/>
          <p:nvPr/>
        </p:nvSpPr>
        <p:spPr>
          <a:xfrm>
            <a:off x="9582912" y="3479292"/>
            <a:ext cx="1892808" cy="438912"/>
          </a:xfrm>
          <a:prstGeom prst="rect">
            <a:avLst/>
          </a:prstGeom>
          <a:noFill/>
          <a:ln/>
        </p:spPr>
        <p:txBody>
          <a:bodyPr wrap="square" lIns="0" tIns="0" rIns="0" bIns="0" rtlCol="0" anchor="ctr">
            <a:normAutofit/>
          </a:bodyPr>
          <a:lstStyle/>
          <a:p>
            <a:pPr indent="0" marL="0">
              <a:buNone/>
            </a:pPr>
            <a:r>
              <a:rPr lang="de-DE" altLang="en-US" sz="1600" dirty="0">
                <a:solidFill>
                  <a:srgbClr val="EEF4FB"/>
                </a:solidFill>
                <a:latin typeface="Segoe UI Semibold" pitchFamily="34" charset="0"/>
                <a:ea typeface="Segoe UI Semibold" pitchFamily="34" charset="-122"/>
                <a:cs typeface="Segoe UI Semibold" pitchFamily="34" charset="-120"/>
              </a:rPr>
              <a:t>Frequenz × Höhe</a:t>
            </a:r>
            <a:endParaRPr lang="de-DE" sz="1600" dirty="0"/>
          </a:p>
        </p:txBody>
      </p:sp>
      <p:sp>
        <p:nvSpPr>
          <p:cNvPr id="18" name="Text 15"/>
          <p:cNvSpPr txBox="1"/>
          <p:nvPr/>
        </p:nvSpPr>
        <p:spPr>
          <a:xfrm>
            <a:off x="9582912" y="3991356"/>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zeigt je Segment, was den Schadenbedarf treibt</a:t>
            </a:r>
            <a:endParaRPr lang="de-DE" sz="1050" dirty="0"/>
          </a:p>
        </p:txBody>
      </p:sp>
      <p:sp>
        <p:nvSpPr>
          <p:cNvPr id="19" name="Shape 16"/>
          <p:cNvSpPr/>
          <p:nvPr/>
        </p:nvSpPr>
        <p:spPr>
          <a:xfrm>
            <a:off x="9418320" y="4773168"/>
            <a:ext cx="2221992" cy="1481328"/>
          </a:xfrm>
          <a:prstGeom prst="roundRect">
            <a:avLst>
              <a:gd name="adj" fmla="val 7407"/>
            </a:avLst>
          </a:prstGeom>
          <a:solidFill>
            <a:srgbClr val="10213F">
              <a:alpha val="92000"/>
            </a:srgbClr>
          </a:solidFill>
          <a:ln w="12700">
            <a:solidFill>
              <a:srgbClr val="1E3A5F"/>
            </a:solidFill>
            <a:prstDash val="solid"/>
          </a:ln>
        </p:spPr>
      </p:sp>
      <p:sp>
        <p:nvSpPr>
          <p:cNvPr id="20" name="Text 17"/>
          <p:cNvSpPr txBox="1"/>
          <p:nvPr/>
        </p:nvSpPr>
        <p:spPr>
          <a:xfrm>
            <a:off x="9582912" y="4910328"/>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TOP-RISIKOPROFILE</a:t>
            </a:r>
            <a:endParaRPr lang="de-DE" sz="950" dirty="0"/>
          </a:p>
        </p:txBody>
      </p:sp>
      <p:sp>
        <p:nvSpPr>
          <p:cNvPr id="21" name="Text 18"/>
          <p:cNvSpPr txBox="1"/>
          <p:nvPr/>
        </p:nvSpPr>
        <p:spPr>
          <a:xfrm>
            <a:off x="9582912" y="5157216"/>
            <a:ext cx="1892808" cy="438912"/>
          </a:xfrm>
          <a:prstGeom prst="rect">
            <a:avLst/>
          </a:prstGeom>
          <a:noFill/>
          <a:ln/>
        </p:spPr>
        <p:txBody>
          <a:bodyPr wrap="square" lIns="0" tIns="0" rIns="0" bIns="0" rtlCol="0" anchor="ctr">
            <a:normAutofit/>
          </a:bodyPr>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Intensität ≠ Volumen</a:t>
            </a:r>
            <a:endParaRPr lang="de-DE" sz="1500" dirty="0"/>
          </a:p>
        </p:txBody>
      </p:sp>
      <p:sp>
        <p:nvSpPr>
          <p:cNvPr id="22" name="Text 19"/>
          <p:cNvSpPr txBox="1"/>
          <p:nvPr/>
        </p:nvSpPr>
        <p:spPr>
          <a:xfrm>
            <a:off x="9582912" y="5669280"/>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Hoher Gesamtschaden entsteht auch durch große Profile</a:t>
            </a:r>
            <a:endParaRPr lang="de-DE"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TECHNISCHE UMSETZUNG</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Bereitstellung: PostgreSQL, Power BI und FastAPI</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15 / 19</a:t>
            </a:r>
            <a:endParaRPr lang="de-DE" sz="900" dirty="0"/>
          </a:p>
        </p:txBody>
      </p:sp>
      <p:sp>
        <p:nvSpPr>
          <p:cNvPr id="6" name="Shape 4"/>
          <p:cNvSpPr/>
          <p:nvPr/>
        </p:nvSpPr>
        <p:spPr>
          <a:xfrm>
            <a:off x="548640" y="1572768"/>
            <a:ext cx="3514344" cy="4114800"/>
          </a:xfrm>
          <a:prstGeom prst="roundRect">
            <a:avLst>
              <a:gd name="adj" fmla="val 3122"/>
            </a:avLst>
          </a:prstGeom>
          <a:solidFill>
            <a:srgbClr val="10213F">
              <a:alpha val="92000"/>
            </a:srgbClr>
          </a:solidFill>
          <a:ln w="12700">
            <a:solidFill>
              <a:srgbClr val="1E3A5F"/>
            </a:solidFill>
            <a:prstDash val="solid"/>
          </a:ln>
          <a:effectLst>
            <a:outerShdw sx="100000" sy="100000" kx="0" ky="0" algn="bl" rotWithShape="0" blurRad="228600" dist="50800" dir="5400000">
              <a:srgbClr val="22D3EE">
                <a:alpha val="20000"/>
              </a:srgbClr>
            </a:outerShdw>
          </a:effectLst>
        </p:spPr>
      </p:sp>
      <p:sp>
        <p:nvSpPr>
          <p:cNvPr id="7" name="Shape 5"/>
          <p:cNvSpPr/>
          <p:nvPr/>
        </p:nvSpPr>
        <p:spPr>
          <a:xfrm>
            <a:off x="777240" y="1801368"/>
            <a:ext cx="566928" cy="566928"/>
          </a:xfrm>
          <a:prstGeom prst="ellipse">
            <a:avLst/>
          </a:prstGeom>
          <a:solidFill>
            <a:srgbClr val="0E2A47"/>
          </a:solidFill>
          <a:ln w="12700">
            <a:solidFill>
              <a:srgbClr val="22D3EE">
                <a:alpha val="55000"/>
              </a:srgbClr>
            </a:solidFill>
            <a:prstDash val="solid"/>
          </a:ln>
        </p:spPr>
      </p:sp>
      <p:pic>
        <p:nvPicPr>
          <p:cNvPr id="8" name="Image 0" descr="preencoded.png">    </p:cNvPr>
          <p:cNvPicPr>
            <a:picLocks noChangeAspect="1"/>
          </p:cNvPicPr>
          <p:nvPr/>
        </p:nvPicPr>
        <p:blipFill>
          <a:blip r:embed="rId2"/>
          <a:stretch>
            <a:fillRect/>
          </a:stretch>
        </p:blipFill>
        <p:spPr>
          <a:xfrm>
            <a:off x="918972" y="1943100"/>
            <a:ext cx="283464" cy="283464"/>
          </a:xfrm>
          <a:prstGeom prst="rect">
            <a:avLst/>
          </a:prstGeom>
        </p:spPr>
      </p:pic>
      <p:sp>
        <p:nvSpPr>
          <p:cNvPr id="9" name="Text 6"/>
          <p:cNvSpPr txBox="1"/>
          <p:nvPr/>
        </p:nvSpPr>
        <p:spPr>
          <a:xfrm>
            <a:off x="1481328" y="1792224"/>
            <a:ext cx="2417064" cy="329184"/>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PostgreSQL</a:t>
            </a:r>
            <a:endParaRPr lang="de-DE" sz="1700" dirty="0"/>
          </a:p>
        </p:txBody>
      </p:sp>
      <p:sp>
        <p:nvSpPr>
          <p:cNvPr id="10" name="Text 7"/>
          <p:cNvSpPr txBox="1"/>
          <p:nvPr/>
        </p:nvSpPr>
        <p:spPr>
          <a:xfrm>
            <a:off x="1481328" y="2121408"/>
            <a:ext cx="2417064" cy="256032"/>
          </a:xfrm>
          <a:prstGeom prst="rect">
            <a:avLst/>
          </a:prstGeom>
          <a:noFill/>
          <a:ln/>
        </p:spPr>
        <p:txBody>
          <a:bodyPr wrap="square" lIns="0" tIns="0" rIns="0" bIns="0" rtlCol="0" anchor="t"/>
          <a:lstStyle/>
          <a:p>
            <a:pPr indent="0" marL="0">
              <a:buNone/>
            </a:pPr>
            <a:r>
              <a:rPr lang="de-DE" altLang="en-US" sz="1100" dirty="0">
                <a:solidFill>
                  <a:srgbClr val="22D3EE"/>
                </a:solidFill>
                <a:latin typeface="Segoe UI" pitchFamily="34" charset="0"/>
                <a:ea typeface="Segoe UI" pitchFamily="34" charset="-122"/>
                <a:cs typeface="Segoe UI" pitchFamily="34" charset="-120"/>
              </a:rPr>
              <a:t>Analytische Persistenzschicht</a:t>
            </a:r>
            <a:endParaRPr lang="de-DE" sz="1100" dirty="0"/>
          </a:p>
        </p:txBody>
      </p:sp>
      <p:sp>
        <p:nvSpPr>
          <p:cNvPr id="11" name="Text 8"/>
          <p:cNvSpPr txBox="1"/>
          <p:nvPr/>
        </p:nvSpPr>
        <p:spPr>
          <a:xfrm>
            <a:off x="777240" y="2670048"/>
            <a:ext cx="3102864" cy="2834640"/>
          </a:xfrm>
          <a:prstGeom prst="rect">
            <a:avLst/>
          </a:prstGeom>
          <a:noFill/>
          <a:ln/>
        </p:spPr>
        <p:txBody>
          <a:bodyPr wrap="square" lIns="0" tIns="0" rIns="0" bIns="0" rtlCol="0" anchor="t"/>
          <a:lstStyle/>
          <a:p>
            <a:pPr marL="177800" indent="-177800">
              <a:spcAft>
                <a:spcPts val="1400"/>
              </a:spcAft>
              <a:buSzPct val="100000"/>
              <a:buChar char="•"/>
            </a:pPr>
            <a:r>
              <a:rPr lang="de-DE" altLang="en-US" sz="1350" dirty="0">
                <a:solidFill>
                  <a:srgbClr val="EEF4FB"/>
                </a:solidFill>
                <a:latin typeface="Segoe UI" pitchFamily="34" charset="0"/>
                <a:ea typeface="Segoe UI" pitchFamily="34" charset="-122"/>
                <a:cs typeface="Segoe UI" pitchFamily="34" charset="-120"/>
              </a:rPr>
              <a:t>Staging- und Fact-Tabellen für Policen und Schäden</a:t>
            </a:r>
            <a:endParaRPr lang="de-DE" sz="1350" dirty="0"/>
          </a:p>
          <a:p>
            <a:pPr marL="177800" indent="-177800">
              <a:spcAft>
                <a:spcPts val="1400"/>
              </a:spcAft>
              <a:buSzPct val="100000"/>
              <a:buChar char="•"/>
            </a:pPr>
            <a:r>
              <a:rPr lang="de-DE" altLang="en-US" sz="1350" dirty="0">
                <a:solidFill>
                  <a:srgbClr val="EEF4FB"/>
                </a:solidFill>
                <a:latin typeface="Segoe UI" pitchFamily="34" charset="0"/>
                <a:ea typeface="Segoe UI" pitchFamily="34" charset="-122"/>
                <a:cs typeface="Segoe UI" pitchFamily="34" charset="-120"/>
              </a:rPr>
              <a:t>Modellprognosen mit Run-ID und Modellversion</a:t>
            </a:r>
            <a:endParaRPr lang="de-DE" sz="1350" dirty="0"/>
          </a:p>
          <a:p>
            <a:pPr marL="177800" indent="-177800">
              <a:spcAft>
                <a:spcPts val="1400"/>
              </a:spcAft>
              <a:buSzPct val="100000"/>
              <a:buChar char="•"/>
            </a:pPr>
            <a:r>
              <a:rPr lang="de-DE" altLang="en-US" sz="1350" dirty="0">
                <a:solidFill>
                  <a:srgbClr val="EEF4FB"/>
                </a:solidFill>
                <a:latin typeface="Segoe UI" pitchFamily="34" charset="0"/>
                <a:ea typeface="Segoe UI" pitchFamily="34" charset="-122"/>
                <a:cs typeface="Segoe UI" pitchFamily="34" charset="-120"/>
              </a:rPr>
              <a:t>DQ-Ergebnisse und Pipeline-Läufe als Historie</a:t>
            </a:r>
            <a:endParaRPr lang="de-DE" sz="1350" dirty="0"/>
          </a:p>
          <a:p>
            <a:pPr marL="177800" indent="-177800">
              <a:spcAft>
                <a:spcPts val="1400"/>
              </a:spcAft>
              <a:buSzPct val="100000"/>
              <a:buChar char="•"/>
            </a:pPr>
            <a:r>
              <a:rPr lang="de-DE" altLang="en-US" sz="1350" dirty="0">
                <a:solidFill>
                  <a:srgbClr val="EEF4FB"/>
                </a:solidFill>
                <a:latin typeface="Segoe UI" pitchFamily="34" charset="0"/>
                <a:ea typeface="Segoe UI" pitchFamily="34" charset="-122"/>
                <a:cs typeface="Segoe UI" pitchFamily="34" charset="-120"/>
              </a:rPr>
              <a:t>Analytische Views als Schnittstelle zu Power BI</a:t>
            </a:r>
            <a:endParaRPr lang="de-DE" sz="1350" dirty="0"/>
          </a:p>
        </p:txBody>
      </p:sp>
      <p:sp>
        <p:nvSpPr>
          <p:cNvPr id="12" name="Shape 9"/>
          <p:cNvSpPr/>
          <p:nvPr/>
        </p:nvSpPr>
        <p:spPr>
          <a:xfrm>
            <a:off x="4337304" y="1572768"/>
            <a:ext cx="3514344" cy="4114800"/>
          </a:xfrm>
          <a:prstGeom prst="roundRect">
            <a:avLst>
              <a:gd name="adj" fmla="val 3122"/>
            </a:avLst>
          </a:prstGeom>
          <a:solidFill>
            <a:srgbClr val="10213F">
              <a:alpha val="92000"/>
            </a:srgbClr>
          </a:solidFill>
          <a:ln w="12700">
            <a:solidFill>
              <a:srgbClr val="1E3A5F"/>
            </a:solidFill>
            <a:prstDash val="solid"/>
          </a:ln>
          <a:effectLst>
            <a:outerShdw sx="100000" sy="100000" kx="0" ky="0" algn="bl" rotWithShape="0" blurRad="228600" dist="50800" dir="5400000">
              <a:srgbClr val="FBBF24">
                <a:alpha val="20000"/>
              </a:srgbClr>
            </a:outerShdw>
          </a:effectLst>
        </p:spPr>
      </p:sp>
      <p:sp>
        <p:nvSpPr>
          <p:cNvPr id="13" name="Shape 10"/>
          <p:cNvSpPr/>
          <p:nvPr/>
        </p:nvSpPr>
        <p:spPr>
          <a:xfrm>
            <a:off x="4565904" y="1801368"/>
            <a:ext cx="566928" cy="566928"/>
          </a:xfrm>
          <a:prstGeom prst="ellipse">
            <a:avLst/>
          </a:prstGeom>
          <a:solidFill>
            <a:srgbClr val="0E2A47"/>
          </a:solidFill>
          <a:ln w="12700">
            <a:solidFill>
              <a:srgbClr val="FBBF24">
                <a:alpha val="55000"/>
              </a:srgbClr>
            </a:solidFill>
            <a:prstDash val="solid"/>
          </a:ln>
        </p:spPr>
      </p:sp>
      <p:pic>
        <p:nvPicPr>
          <p:cNvPr id="14" name="Image 1" descr="preencoded.png">    </p:cNvPr>
          <p:cNvPicPr>
            <a:picLocks noChangeAspect="1"/>
          </p:cNvPicPr>
          <p:nvPr/>
        </p:nvPicPr>
        <p:blipFill>
          <a:blip r:embed="rId3"/>
          <a:stretch>
            <a:fillRect/>
          </a:stretch>
        </p:blipFill>
        <p:spPr>
          <a:xfrm>
            <a:off x="4707636" y="1943100"/>
            <a:ext cx="283464" cy="283464"/>
          </a:xfrm>
          <a:prstGeom prst="rect">
            <a:avLst/>
          </a:prstGeom>
        </p:spPr>
      </p:pic>
      <p:sp>
        <p:nvSpPr>
          <p:cNvPr id="15" name="Text 11"/>
          <p:cNvSpPr txBox="1"/>
          <p:nvPr/>
        </p:nvSpPr>
        <p:spPr>
          <a:xfrm>
            <a:off x="5269992" y="1792224"/>
            <a:ext cx="2417064" cy="329184"/>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Power BI</a:t>
            </a:r>
            <a:endParaRPr lang="de-DE" sz="1700" dirty="0"/>
          </a:p>
        </p:txBody>
      </p:sp>
      <p:sp>
        <p:nvSpPr>
          <p:cNvPr id="16" name="Text 12"/>
          <p:cNvSpPr txBox="1"/>
          <p:nvPr/>
        </p:nvSpPr>
        <p:spPr>
          <a:xfrm>
            <a:off x="5269992" y="2121408"/>
            <a:ext cx="2417064" cy="256032"/>
          </a:xfrm>
          <a:prstGeom prst="rect">
            <a:avLst/>
          </a:prstGeom>
          <a:noFill/>
          <a:ln/>
        </p:spPr>
        <p:txBody>
          <a:bodyPr wrap="square" lIns="0" tIns="0" rIns="0" bIns="0" rtlCol="0" anchor="t"/>
          <a:lstStyle/>
          <a:p>
            <a:pPr indent="0" marL="0">
              <a:buNone/>
            </a:pPr>
            <a:r>
              <a:rPr lang="de-DE" altLang="en-US" sz="1100" dirty="0">
                <a:solidFill>
                  <a:srgbClr val="FBBF24"/>
                </a:solidFill>
                <a:latin typeface="Segoe UI" pitchFamily="34" charset="0"/>
                <a:ea typeface="Segoe UI" pitchFamily="34" charset="-122"/>
                <a:cs typeface="Segoe UI" pitchFamily="34" charset="-120"/>
              </a:rPr>
              <a:t>Analyse- &amp; Managementebene</a:t>
            </a:r>
            <a:endParaRPr lang="de-DE" sz="1100" dirty="0"/>
          </a:p>
        </p:txBody>
      </p:sp>
      <p:sp>
        <p:nvSpPr>
          <p:cNvPr id="17" name="Text 13"/>
          <p:cNvSpPr txBox="1"/>
          <p:nvPr/>
        </p:nvSpPr>
        <p:spPr>
          <a:xfrm>
            <a:off x="4565904" y="2670048"/>
            <a:ext cx="3102864" cy="2834640"/>
          </a:xfrm>
          <a:prstGeom prst="rect">
            <a:avLst/>
          </a:prstGeom>
          <a:noFill/>
          <a:ln/>
        </p:spPr>
        <p:txBody>
          <a:bodyPr wrap="square" lIns="0" tIns="0" rIns="0" bIns="0" rtlCol="0" anchor="t"/>
          <a:lstStyle/>
          <a:p>
            <a:pPr marL="177800" indent="-177800">
              <a:spcAft>
                <a:spcPts val="1400"/>
              </a:spcAft>
              <a:buSzPct val="100000"/>
              <a:buChar char="•"/>
            </a:pPr>
            <a:r>
              <a:rPr lang="de-DE" altLang="en-US" sz="1350" dirty="0">
                <a:solidFill>
                  <a:srgbClr val="EEF4FB"/>
                </a:solidFill>
                <a:latin typeface="Segoe UI" pitchFamily="34" charset="0"/>
                <a:ea typeface="Segoe UI" pitchFamily="34" charset="-122"/>
                <a:cs typeface="Segoe UI" pitchFamily="34" charset="-120"/>
              </a:rPr>
              <a:t>4 Dashboard-Seiten mit einheitlicher Navigation</a:t>
            </a:r>
            <a:endParaRPr lang="de-DE" sz="1350" dirty="0"/>
          </a:p>
          <a:p>
            <a:pPr marL="177800" indent="-177800">
              <a:spcAft>
                <a:spcPts val="1400"/>
              </a:spcAft>
              <a:buSzPct val="100000"/>
              <a:buChar char="•"/>
            </a:pPr>
            <a:r>
              <a:rPr lang="de-DE" altLang="en-US" sz="1350" dirty="0">
                <a:solidFill>
                  <a:srgbClr val="EEF4FB"/>
                </a:solidFill>
                <a:latin typeface="Segoe UI" pitchFamily="34" charset="0"/>
                <a:ea typeface="Segoe UI" pitchFamily="34" charset="-122"/>
                <a:cs typeface="Segoe UI" pitchFamily="34" charset="-120"/>
              </a:rPr>
              <a:t>Exposure-basierte KPI-Logik in DAX</a:t>
            </a:r>
            <a:endParaRPr lang="de-DE" sz="1350" dirty="0"/>
          </a:p>
          <a:p>
            <a:pPr marL="177800" indent="-177800">
              <a:spcAft>
                <a:spcPts val="1400"/>
              </a:spcAft>
              <a:buSzPct val="100000"/>
              <a:buChar char="•"/>
            </a:pPr>
            <a:r>
              <a:rPr lang="de-DE" altLang="en-US" sz="1350" dirty="0">
                <a:solidFill>
                  <a:srgbClr val="EEF4FB"/>
                </a:solidFill>
                <a:latin typeface="Segoe UI" pitchFamily="34" charset="0"/>
                <a:ea typeface="Segoe UI" pitchFamily="34" charset="-122"/>
                <a:cs typeface="Segoe UI" pitchFamily="34" charset="-120"/>
              </a:rPr>
              <a:t>Filter für Region und DQ-Status, Reset-Buttons</a:t>
            </a:r>
            <a:endParaRPr lang="de-DE" sz="1350" dirty="0"/>
          </a:p>
          <a:p>
            <a:pPr marL="177800" indent="-177800">
              <a:spcAft>
                <a:spcPts val="1400"/>
              </a:spcAft>
              <a:buSzPct val="100000"/>
              <a:buChar char="•"/>
            </a:pPr>
            <a:r>
              <a:rPr lang="de-DE" altLang="en-US" sz="1350" dirty="0">
                <a:solidFill>
                  <a:srgbClr val="EEF4FB"/>
                </a:solidFill>
                <a:latin typeface="Segoe UI" pitchFamily="34" charset="0"/>
                <a:ea typeface="Segoe UI" pitchFamily="34" charset="-122"/>
                <a:cs typeface="Segoe UI" pitchFamily="34" charset="-120"/>
              </a:rPr>
              <a:t>Lesbare Regionsnamen über eigene Region-Dimension – Codes bleiben unverändert</a:t>
            </a:r>
            <a:endParaRPr lang="de-DE" sz="1350" dirty="0"/>
          </a:p>
        </p:txBody>
      </p:sp>
      <p:sp>
        <p:nvSpPr>
          <p:cNvPr id="18" name="Shape 14"/>
          <p:cNvSpPr/>
          <p:nvPr/>
        </p:nvSpPr>
        <p:spPr>
          <a:xfrm>
            <a:off x="8125968" y="1572768"/>
            <a:ext cx="3514344" cy="4114800"/>
          </a:xfrm>
          <a:prstGeom prst="roundRect">
            <a:avLst>
              <a:gd name="adj" fmla="val 3122"/>
            </a:avLst>
          </a:prstGeom>
          <a:solidFill>
            <a:srgbClr val="10213F">
              <a:alpha val="92000"/>
            </a:srgbClr>
          </a:solidFill>
          <a:ln w="12700">
            <a:solidFill>
              <a:srgbClr val="1E3A5F"/>
            </a:solidFill>
            <a:prstDash val="solid"/>
          </a:ln>
          <a:effectLst>
            <a:outerShdw sx="100000" sy="100000" kx="0" ky="0" algn="bl" rotWithShape="0" blurRad="228600" dist="50800" dir="5400000">
              <a:srgbClr val="2DD4BF">
                <a:alpha val="20000"/>
              </a:srgbClr>
            </a:outerShdw>
          </a:effectLst>
        </p:spPr>
      </p:sp>
      <p:sp>
        <p:nvSpPr>
          <p:cNvPr id="19" name="Shape 15"/>
          <p:cNvSpPr/>
          <p:nvPr/>
        </p:nvSpPr>
        <p:spPr>
          <a:xfrm>
            <a:off x="8354568" y="1801368"/>
            <a:ext cx="566928" cy="566928"/>
          </a:xfrm>
          <a:prstGeom prst="ellipse">
            <a:avLst/>
          </a:prstGeom>
          <a:solidFill>
            <a:srgbClr val="0E2A47"/>
          </a:solidFill>
          <a:ln w="12700">
            <a:solidFill>
              <a:srgbClr val="2DD4BF">
                <a:alpha val="55000"/>
              </a:srgbClr>
            </a:solidFill>
            <a:prstDash val="solid"/>
          </a:ln>
        </p:spPr>
      </p:sp>
      <p:pic>
        <p:nvPicPr>
          <p:cNvPr id="20" name="Image 2" descr="preencoded.png">    </p:cNvPr>
          <p:cNvPicPr>
            <a:picLocks noChangeAspect="1"/>
          </p:cNvPicPr>
          <p:nvPr/>
        </p:nvPicPr>
        <p:blipFill>
          <a:blip r:embed="rId4"/>
          <a:stretch>
            <a:fillRect/>
          </a:stretch>
        </p:blipFill>
        <p:spPr>
          <a:xfrm>
            <a:off x="8496300" y="1943100"/>
            <a:ext cx="283464" cy="283464"/>
          </a:xfrm>
          <a:prstGeom prst="rect">
            <a:avLst/>
          </a:prstGeom>
        </p:spPr>
      </p:pic>
      <p:sp>
        <p:nvSpPr>
          <p:cNvPr id="21" name="Text 16"/>
          <p:cNvSpPr txBox="1"/>
          <p:nvPr/>
        </p:nvSpPr>
        <p:spPr>
          <a:xfrm>
            <a:off x="9058656" y="1792224"/>
            <a:ext cx="2417064" cy="329184"/>
          </a:xfrm>
          <a:prstGeom prst="rect">
            <a:avLst/>
          </a:prstGeom>
          <a:noFill/>
          <a:ln/>
        </p:spPr>
        <p:txBody>
          <a:bodyPr wrap="square" lIns="0" tIns="0" rIns="0" bIns="0" rtlCol="0" anchor="t"/>
          <a:lstStyle/>
          <a:p>
            <a:pPr indent="0" marL="0">
              <a:buNone/>
            </a:pPr>
            <a:r>
              <a:rPr lang="de-DE" altLang="en-US" sz="1700" dirty="0">
                <a:solidFill>
                  <a:srgbClr val="EEF4FB"/>
                </a:solidFill>
                <a:latin typeface="Segoe UI Semibold" pitchFamily="34" charset="0"/>
                <a:ea typeface="Segoe UI Semibold" pitchFamily="34" charset="-122"/>
                <a:cs typeface="Segoe UI Semibold" pitchFamily="34" charset="-120"/>
              </a:rPr>
              <a:t>FastAPI</a:t>
            </a:r>
            <a:endParaRPr lang="de-DE" sz="1700" dirty="0"/>
          </a:p>
        </p:txBody>
      </p:sp>
      <p:sp>
        <p:nvSpPr>
          <p:cNvPr id="22" name="Text 17"/>
          <p:cNvSpPr txBox="1"/>
          <p:nvPr/>
        </p:nvSpPr>
        <p:spPr>
          <a:xfrm>
            <a:off x="9058656" y="2121408"/>
            <a:ext cx="2417064" cy="256032"/>
          </a:xfrm>
          <a:prstGeom prst="rect">
            <a:avLst/>
          </a:prstGeom>
          <a:noFill/>
          <a:ln/>
        </p:spPr>
        <p:txBody>
          <a:bodyPr wrap="square" lIns="0" tIns="0" rIns="0" bIns="0" rtlCol="0" anchor="t"/>
          <a:lstStyle/>
          <a:p>
            <a:pPr indent="0" marL="0">
              <a:buNone/>
            </a:pPr>
            <a:r>
              <a:rPr lang="de-DE" altLang="en-US" sz="1100" dirty="0">
                <a:solidFill>
                  <a:srgbClr val="2DD4BF"/>
                </a:solidFill>
                <a:latin typeface="Segoe UI" pitchFamily="34" charset="0"/>
                <a:ea typeface="Segoe UI" pitchFamily="34" charset="-122"/>
                <a:cs typeface="Segoe UI" pitchFamily="34" charset="-120"/>
              </a:rPr>
              <a:t>Prototypische Schnittstelle</a:t>
            </a:r>
            <a:endParaRPr lang="de-DE" sz="1100" dirty="0"/>
          </a:p>
        </p:txBody>
      </p:sp>
      <p:sp>
        <p:nvSpPr>
          <p:cNvPr id="23" name="Text 18"/>
          <p:cNvSpPr txBox="1"/>
          <p:nvPr/>
        </p:nvSpPr>
        <p:spPr>
          <a:xfrm>
            <a:off x="8400288" y="2624328"/>
            <a:ext cx="3057144" cy="274320"/>
          </a:xfrm>
          <a:prstGeom prst="rect">
            <a:avLst/>
          </a:prstGeom>
          <a:noFill/>
          <a:ln/>
        </p:spPr>
        <p:txBody>
          <a:bodyPr wrap="square" lIns="0" tIns="0" rIns="0" bIns="0" rtlCol="0" anchor="ctr"/>
          <a:lstStyle/>
          <a:p>
            <a:pPr indent="0" marL="0">
              <a:buNone/>
            </a:pPr>
            <a:r>
              <a:rPr lang="de-DE" altLang="en-US" sz="1150" dirty="0">
                <a:solidFill>
                  <a:srgbClr val="2DD4BF"/>
                </a:solidFill>
                <a:latin typeface="Consolas" pitchFamily="34" charset="0"/>
                <a:ea typeface="Consolas" pitchFamily="34" charset="-122"/>
                <a:cs typeface="Consolas" pitchFamily="34" charset="-120"/>
              </a:rPr>
              <a:t>GET  </a:t>
            </a:r>
            <a:pPr indent="0" marL="0">
              <a:buNone/>
            </a:pPr>
            <a:r>
              <a:rPr lang="de-DE" altLang="en-US" sz="1150" dirty="0">
                <a:solidFill>
                  <a:srgbClr val="EEF4FB"/>
                </a:solidFill>
                <a:latin typeface="Consolas" pitchFamily="34" charset="0"/>
                <a:ea typeface="Consolas" pitchFamily="34" charset="-122"/>
                <a:cs typeface="Consolas" pitchFamily="34" charset="-120"/>
              </a:rPr>
              <a:t>/health</a:t>
            </a:r>
            <a:endParaRPr lang="de-DE" sz="1150" dirty="0"/>
          </a:p>
        </p:txBody>
      </p:sp>
      <p:sp>
        <p:nvSpPr>
          <p:cNvPr id="24" name="Text 19"/>
          <p:cNvSpPr txBox="1"/>
          <p:nvPr/>
        </p:nvSpPr>
        <p:spPr>
          <a:xfrm>
            <a:off x="8400288" y="2953512"/>
            <a:ext cx="3057144" cy="274320"/>
          </a:xfrm>
          <a:prstGeom prst="rect">
            <a:avLst/>
          </a:prstGeom>
          <a:noFill/>
          <a:ln/>
        </p:spPr>
        <p:txBody>
          <a:bodyPr wrap="square" lIns="0" tIns="0" rIns="0" bIns="0" rtlCol="0" anchor="ctr"/>
          <a:lstStyle/>
          <a:p>
            <a:pPr indent="0" marL="0">
              <a:buNone/>
            </a:pPr>
            <a:r>
              <a:rPr lang="de-DE" altLang="en-US" sz="1150" dirty="0">
                <a:solidFill>
                  <a:srgbClr val="2DD4BF"/>
                </a:solidFill>
                <a:latin typeface="Consolas" pitchFamily="34" charset="0"/>
                <a:ea typeface="Consolas" pitchFamily="34" charset="-122"/>
                <a:cs typeface="Consolas" pitchFamily="34" charset="-120"/>
              </a:rPr>
              <a:t>POST </a:t>
            </a:r>
            <a:pPr indent="0" marL="0">
              <a:buNone/>
            </a:pPr>
            <a:r>
              <a:rPr lang="de-DE" altLang="en-US" sz="1150" dirty="0">
                <a:solidFill>
                  <a:srgbClr val="EEF4FB"/>
                </a:solidFill>
                <a:latin typeface="Consolas" pitchFamily="34" charset="0"/>
                <a:ea typeface="Consolas" pitchFamily="34" charset="-122"/>
                <a:cs typeface="Consolas" pitchFamily="34" charset="-120"/>
              </a:rPr>
              <a:t>/risk-score</a:t>
            </a:r>
            <a:endParaRPr lang="de-DE" sz="1150" dirty="0"/>
          </a:p>
        </p:txBody>
      </p:sp>
      <p:sp>
        <p:nvSpPr>
          <p:cNvPr id="25" name="Text 20"/>
          <p:cNvSpPr txBox="1"/>
          <p:nvPr/>
        </p:nvSpPr>
        <p:spPr>
          <a:xfrm>
            <a:off x="8400288" y="3282696"/>
            <a:ext cx="3057144" cy="274320"/>
          </a:xfrm>
          <a:prstGeom prst="rect">
            <a:avLst/>
          </a:prstGeom>
          <a:noFill/>
          <a:ln/>
        </p:spPr>
        <p:txBody>
          <a:bodyPr wrap="square" lIns="0" tIns="0" rIns="0" bIns="0" rtlCol="0" anchor="ctr"/>
          <a:lstStyle/>
          <a:p>
            <a:pPr indent="0" marL="0">
              <a:buNone/>
            </a:pPr>
            <a:r>
              <a:rPr lang="de-DE" altLang="en-US" sz="1150" dirty="0">
                <a:solidFill>
                  <a:srgbClr val="2DD4BF"/>
                </a:solidFill>
                <a:latin typeface="Consolas" pitchFamily="34" charset="0"/>
                <a:ea typeface="Consolas" pitchFamily="34" charset="-122"/>
                <a:cs typeface="Consolas" pitchFamily="34" charset="-120"/>
              </a:rPr>
              <a:t>POST </a:t>
            </a:r>
            <a:pPr indent="0" marL="0">
              <a:buNone/>
            </a:pPr>
            <a:r>
              <a:rPr lang="de-DE" altLang="en-US" sz="1150" dirty="0">
                <a:solidFill>
                  <a:srgbClr val="EEF4FB"/>
                </a:solidFill>
                <a:latin typeface="Consolas" pitchFamily="34" charset="0"/>
                <a:ea typeface="Consolas" pitchFamily="34" charset="-122"/>
                <a:cs typeface="Consolas" pitchFamily="34" charset="-120"/>
              </a:rPr>
              <a:t>/pure-premium</a:t>
            </a:r>
            <a:endParaRPr lang="de-DE" sz="1150" dirty="0"/>
          </a:p>
        </p:txBody>
      </p:sp>
      <p:sp>
        <p:nvSpPr>
          <p:cNvPr id="26" name="Text 21"/>
          <p:cNvSpPr txBox="1"/>
          <p:nvPr/>
        </p:nvSpPr>
        <p:spPr>
          <a:xfrm>
            <a:off x="8400288" y="3611880"/>
            <a:ext cx="3057144" cy="274320"/>
          </a:xfrm>
          <a:prstGeom prst="rect">
            <a:avLst/>
          </a:prstGeom>
          <a:noFill/>
          <a:ln/>
        </p:spPr>
        <p:txBody>
          <a:bodyPr wrap="square" lIns="0" tIns="0" rIns="0" bIns="0" rtlCol="0" anchor="ctr"/>
          <a:lstStyle/>
          <a:p>
            <a:pPr indent="0" marL="0">
              <a:buNone/>
            </a:pPr>
            <a:r>
              <a:rPr lang="de-DE" altLang="en-US" sz="1150" dirty="0">
                <a:solidFill>
                  <a:srgbClr val="2DD4BF"/>
                </a:solidFill>
                <a:latin typeface="Consolas" pitchFamily="34" charset="0"/>
                <a:ea typeface="Consolas" pitchFamily="34" charset="-122"/>
                <a:cs typeface="Consolas" pitchFamily="34" charset="-120"/>
              </a:rPr>
              <a:t>GET  </a:t>
            </a:r>
            <a:pPr indent="0" marL="0">
              <a:buNone/>
            </a:pPr>
            <a:r>
              <a:rPr lang="de-DE" altLang="en-US" sz="1150" dirty="0">
                <a:solidFill>
                  <a:srgbClr val="EEF4FB"/>
                </a:solidFill>
                <a:latin typeface="Consolas" pitchFamily="34" charset="0"/>
                <a:ea typeface="Consolas" pitchFamily="34" charset="-122"/>
                <a:cs typeface="Consolas" pitchFamily="34" charset="-120"/>
              </a:rPr>
              <a:t>/data-quality-summary</a:t>
            </a:r>
            <a:endParaRPr lang="de-DE" sz="1150" dirty="0"/>
          </a:p>
        </p:txBody>
      </p:sp>
      <p:sp>
        <p:nvSpPr>
          <p:cNvPr id="27" name="Text 22"/>
          <p:cNvSpPr txBox="1"/>
          <p:nvPr/>
        </p:nvSpPr>
        <p:spPr>
          <a:xfrm>
            <a:off x="8400288" y="4041648"/>
            <a:ext cx="3011424" cy="502920"/>
          </a:xfrm>
          <a:prstGeom prst="rect">
            <a:avLst/>
          </a:prstGeom>
          <a:noFill/>
          <a:ln/>
        </p:spPr>
        <p:txBody>
          <a:bodyPr wrap="square" lIns="0" tIns="0" rIns="0" bIns="0" rtlCol="0" anchor="t"/>
          <a:lstStyle/>
          <a:p>
            <a:pPr indent="0" marL="0">
              <a:buNone/>
            </a:pPr>
            <a:r>
              <a:rPr lang="de-DE" altLang="en-US" sz="1100" dirty="0">
                <a:solidFill>
                  <a:srgbClr val="A9BBD0"/>
                </a:solidFill>
                <a:latin typeface="Segoe UI" pitchFamily="34" charset="0"/>
                <a:ea typeface="Segoe UI" pitchFamily="34" charset="-122"/>
                <a:cs typeface="Segoe UI" pitchFamily="34" charset="-120"/>
              </a:rPr>
              <a:t>Validierte Eingaben, z. B. Exposure &gt; 0; unbekannte Felder werden abgelehnt</a:t>
            </a:r>
            <a:endParaRPr lang="de-DE" sz="1100" dirty="0"/>
          </a:p>
        </p:txBody>
      </p:sp>
      <p:sp>
        <p:nvSpPr>
          <p:cNvPr id="28" name="Shape 23"/>
          <p:cNvSpPr/>
          <p:nvPr/>
        </p:nvSpPr>
        <p:spPr>
          <a:xfrm>
            <a:off x="8354568" y="4663440"/>
            <a:ext cx="3057144" cy="777240"/>
          </a:xfrm>
          <a:prstGeom prst="roundRect">
            <a:avLst>
              <a:gd name="adj" fmla="val 9412"/>
            </a:avLst>
          </a:prstGeom>
          <a:solidFill>
            <a:srgbClr val="0B2440"/>
          </a:solidFill>
          <a:ln w="12700">
            <a:solidFill>
              <a:srgbClr val="34D399"/>
            </a:solidFill>
            <a:prstDash val="solid"/>
          </a:ln>
        </p:spPr>
      </p:sp>
      <p:sp>
        <p:nvSpPr>
          <p:cNvPr id="29" name="Text 24"/>
          <p:cNvSpPr txBox="1"/>
          <p:nvPr/>
        </p:nvSpPr>
        <p:spPr>
          <a:xfrm>
            <a:off x="8537448" y="4663440"/>
            <a:ext cx="868680" cy="777240"/>
          </a:xfrm>
          <a:prstGeom prst="rect">
            <a:avLst/>
          </a:prstGeom>
          <a:noFill/>
          <a:ln/>
        </p:spPr>
        <p:txBody>
          <a:bodyPr wrap="square" lIns="0" tIns="0" rIns="0" bIns="0" rtlCol="0" anchor="ctr"/>
          <a:lstStyle/>
          <a:p>
            <a:pPr indent="0" marL="0">
              <a:buNone/>
            </a:pPr>
            <a:r>
              <a:rPr lang="de-DE" altLang="en-US" sz="2600" dirty="0">
                <a:solidFill>
                  <a:srgbClr val="34D399"/>
                </a:solidFill>
                <a:latin typeface="Segoe UI Semibold" pitchFamily="34" charset="0"/>
                <a:ea typeface="Segoe UI Semibold" pitchFamily="34" charset="-122"/>
                <a:cs typeface="Segoe UI Semibold" pitchFamily="34" charset="-120"/>
              </a:rPr>
              <a:t>6/6</a:t>
            </a:r>
            <a:endParaRPr lang="de-DE" sz="2600" dirty="0"/>
          </a:p>
        </p:txBody>
      </p:sp>
      <p:sp>
        <p:nvSpPr>
          <p:cNvPr id="30" name="Text 25"/>
          <p:cNvSpPr txBox="1"/>
          <p:nvPr/>
        </p:nvSpPr>
        <p:spPr>
          <a:xfrm>
            <a:off x="9451848" y="4663440"/>
            <a:ext cx="1868424" cy="777240"/>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pitchFamily="34" charset="0"/>
                <a:ea typeface="Segoe UI" pitchFamily="34" charset="-122"/>
                <a:cs typeface="Segoe UI" pitchFamily="34" charset="-120"/>
              </a:rPr>
              <a:t>automatisierte Tests bestanden</a:t>
            </a:r>
            <a:endParaRPr lang="de-DE" sz="1200" dirty="0"/>
          </a:p>
        </p:txBody>
      </p:sp>
      <p:sp>
        <p:nvSpPr>
          <p:cNvPr id="31" name="Shape 26"/>
          <p:cNvSpPr/>
          <p:nvPr/>
        </p:nvSpPr>
        <p:spPr>
          <a:xfrm>
            <a:off x="4090416" y="3493008"/>
            <a:ext cx="219456" cy="274320"/>
          </a:xfrm>
          <a:prstGeom prst="rightArrow">
            <a:avLst/>
          </a:prstGeom>
          <a:solidFill>
            <a:srgbClr val="22D3EE">
              <a:alpha val="70000"/>
            </a:srgbClr>
          </a:solidFill>
          <a:ln w="12700">
            <a:solidFill>
              <a:srgbClr val="22D3EE"/>
            </a:solidFill>
            <a:prstDash val="solid"/>
          </a:ln>
        </p:spPr>
      </p:sp>
      <p:sp>
        <p:nvSpPr>
          <p:cNvPr id="32" name="Shape 27"/>
          <p:cNvSpPr/>
          <p:nvPr/>
        </p:nvSpPr>
        <p:spPr>
          <a:xfrm>
            <a:off x="548640" y="5852160"/>
            <a:ext cx="11091672" cy="429768"/>
          </a:xfrm>
          <a:prstGeom prst="roundRect">
            <a:avLst>
              <a:gd name="adj" fmla="val 25532"/>
            </a:avLst>
          </a:prstGeom>
          <a:solidFill>
            <a:srgbClr val="10213F">
              <a:alpha val="75000"/>
            </a:srgbClr>
          </a:solidFill>
          <a:ln w="12700">
            <a:solidFill>
              <a:srgbClr val="1E3A5F"/>
            </a:solidFill>
            <a:prstDash val="solid"/>
          </a:ln>
        </p:spPr>
      </p:sp>
      <p:pic>
        <p:nvPicPr>
          <p:cNvPr id="33" name="Image 3" descr="preencoded.png">    </p:cNvPr>
          <p:cNvPicPr>
            <a:picLocks noChangeAspect="1"/>
          </p:cNvPicPr>
          <p:nvPr/>
        </p:nvPicPr>
        <p:blipFill>
          <a:blip r:embed="rId5"/>
          <a:stretch>
            <a:fillRect/>
          </a:stretch>
        </p:blipFill>
        <p:spPr>
          <a:xfrm>
            <a:off x="731520" y="5939028"/>
            <a:ext cx="256032" cy="256032"/>
          </a:xfrm>
          <a:prstGeom prst="rect">
            <a:avLst/>
          </a:prstGeom>
        </p:spPr>
      </p:pic>
      <p:sp>
        <p:nvSpPr>
          <p:cNvPr id="34" name="Text 28"/>
          <p:cNvSpPr txBox="1"/>
          <p:nvPr/>
        </p:nvSpPr>
        <p:spPr>
          <a:xfrm>
            <a:off x="1097280" y="5852160"/>
            <a:ext cx="10332720" cy="429768"/>
          </a:xfrm>
          <a:prstGeom prst="rect">
            <a:avLst/>
          </a:prstGeom>
          <a:noFill/>
          <a:ln/>
        </p:spPr>
        <p:txBody>
          <a:bodyPr wrap="square" lIns="0" tIns="0" rIns="0" bIns="0" rtlCol="0" anchor="ctr"/>
          <a:lstStyle/>
          <a:p>
            <a:pPr indent="0" marL="0">
              <a:buNone/>
            </a:pPr>
            <a:r>
              <a:rPr lang="de-DE" altLang="en-US" sz="1100" dirty="0">
                <a:solidFill>
                  <a:srgbClr val="A9BBD0"/>
                </a:solidFill>
                <a:latin typeface="Segoe UI" pitchFamily="34" charset="0"/>
                <a:ea typeface="Segoe UI" pitchFamily="34" charset="-122"/>
                <a:cs typeface="Segoe UI" pitchFamily="34" charset="-120"/>
              </a:rPr>
              <a:t>Prototyp für Analyse und Integration – kein produktiver Versicherungsservice (keine Authentifizierung, kein Echtzeit-Betrieb)</a:t>
            </a:r>
            <a:endParaRPr lang="de-DE"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POWER BI · DASHBOARD-SEITE 4 VON 4</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Datenqualität &amp; Modellvalidierung</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16 / 19</a:t>
            </a:r>
            <a:endParaRPr lang="de-DE" sz="900" dirty="0"/>
          </a:p>
        </p:txBody>
      </p:sp>
      <p:sp>
        <p:nvSpPr>
          <p:cNvPr id="6" name="Shape 4"/>
          <p:cNvSpPr/>
          <p:nvPr/>
        </p:nvSpPr>
        <p:spPr>
          <a:xfrm>
            <a:off x="548640" y="1417320"/>
            <a:ext cx="8595360" cy="4837176"/>
          </a:xfrm>
          <a:prstGeom prst="roundRect">
            <a:avLst>
              <a:gd name="adj" fmla="val 1890"/>
            </a:avLst>
          </a:prstGeom>
          <a:solidFill>
            <a:srgbClr val="0B1A31"/>
          </a:solidFill>
          <a:ln w="19050">
            <a:solidFill>
              <a:srgbClr val="22D3EE">
                <a:alpha val="75000"/>
              </a:srgbClr>
            </a:solidFill>
            <a:prstDash val="dash"/>
          </a:ln>
          <a:effectLst>
            <a:outerShdw sx="100000" sy="100000" kx="0" ky="0" algn="bl" rotWithShape="0" blurRad="279400" dist="50800" dir="5400000">
              <a:srgbClr val="22D3EE">
                <a:alpha val="22000"/>
              </a:srgbClr>
            </a:outerShdw>
          </a:effectLst>
        </p:spPr>
      </p:sp>
      <p:sp>
        <p:nvSpPr>
          <p:cNvPr id="7" name="Shape 5"/>
          <p:cNvSpPr/>
          <p:nvPr/>
        </p:nvSpPr>
        <p:spPr>
          <a:xfrm>
            <a:off x="4434840" y="2784348"/>
            <a:ext cx="822960" cy="822960"/>
          </a:xfrm>
          <a:prstGeom prst="ellipse">
            <a:avLst/>
          </a:prstGeom>
          <a:solidFill>
            <a:srgbClr val="0E2A47"/>
          </a:solidFill>
          <a:ln w="12700">
            <a:solidFill>
              <a:srgbClr val="22D3EE">
                <a:alpha val="55000"/>
              </a:srgbClr>
            </a:solidFill>
            <a:prstDash val="solid"/>
          </a:ln>
        </p:spPr>
      </p:sp>
      <p:pic>
        <p:nvPicPr>
          <p:cNvPr id="8" name="Image 0" descr="preencoded.png">    </p:cNvPr>
          <p:cNvPicPr>
            <a:picLocks noChangeAspect="1"/>
          </p:cNvPicPr>
          <p:nvPr/>
        </p:nvPicPr>
        <p:blipFill>
          <a:blip r:embed="rId2"/>
          <a:stretch>
            <a:fillRect/>
          </a:stretch>
        </p:blipFill>
        <p:spPr>
          <a:xfrm>
            <a:off x="4640580" y="2990088"/>
            <a:ext cx="411480" cy="411480"/>
          </a:xfrm>
          <a:prstGeom prst="rect">
            <a:avLst/>
          </a:prstGeom>
        </p:spPr>
      </p:pic>
      <p:sp>
        <p:nvSpPr>
          <p:cNvPr id="9" name="Text 6"/>
          <p:cNvSpPr txBox="1"/>
          <p:nvPr/>
        </p:nvSpPr>
        <p:spPr>
          <a:xfrm>
            <a:off x="548640" y="3790188"/>
            <a:ext cx="8595360" cy="457200"/>
          </a:xfrm>
          <a:prstGeom prst="rect">
            <a:avLst/>
          </a:prstGeom>
          <a:noFill/>
          <a:ln/>
        </p:spPr>
        <p:txBody>
          <a:bodyPr wrap="square" lIns="0" tIns="0" rIns="0" bIns="0" rtlCol="0" anchor="ctr"/>
          <a:lstStyle/>
          <a:p>
            <a:pPr algn="ctr" indent="0" marL="0">
              <a:buNone/>
            </a:pPr>
            <a:r>
              <a:rPr lang="de-DE" altLang="en-US" sz="2200" dirty="0">
                <a:solidFill>
                  <a:srgbClr val="22D3EE"/>
                </a:solidFill>
                <a:latin typeface="Segoe UI Semibold" pitchFamily="34" charset="0"/>
                <a:ea typeface="Segoe UI Semibold" pitchFamily="34" charset="-122"/>
                <a:cs typeface="Segoe UI Semibold" pitchFamily="34" charset="-120"/>
              </a:rPr>
              <a:t>[POWER-BI-SCREENSHOT HIER EINFÜGEN]</a:t>
            </a:r>
            <a:endParaRPr lang="de-DE" sz="2200" dirty="0"/>
          </a:p>
        </p:txBody>
      </p:sp>
      <p:sp>
        <p:nvSpPr>
          <p:cNvPr id="10" name="Text 7"/>
          <p:cNvSpPr txBox="1"/>
          <p:nvPr/>
        </p:nvSpPr>
        <p:spPr>
          <a:xfrm>
            <a:off x="548640" y="4274820"/>
            <a:ext cx="8595360" cy="320040"/>
          </a:xfrm>
          <a:prstGeom prst="rect">
            <a:avLst/>
          </a:prstGeom>
          <a:noFill/>
          <a:ln/>
        </p:spPr>
        <p:txBody>
          <a:bodyPr wrap="square" lIns="0" tIns="0" rIns="0" bIns="0" rtlCol="0" anchor="t"/>
          <a:lstStyle/>
          <a:p>
            <a:pPr algn="ctr" indent="0" marL="0">
              <a:buNone/>
            </a:pPr>
            <a:r>
              <a:rPr lang="de-DE" altLang="en-US" sz="1200" dirty="0">
                <a:solidFill>
                  <a:srgbClr val="A9BBD0"/>
                </a:solidFill>
                <a:latin typeface="Segoe UI" pitchFamily="34" charset="0"/>
                <a:ea typeface="Segoe UI" pitchFamily="34" charset="-122"/>
                <a:cs typeface="Segoe UI" pitchFamily="34" charset="-120"/>
              </a:rPr>
              <a:t>Dashboard-Seite 4: Datenqualität &amp; Modellvalidierung · Screenshot im Format 16:9 auf diese Fläche legen</a:t>
            </a:r>
            <a:endParaRPr lang="de-DE" sz="1200" dirty="0"/>
          </a:p>
        </p:txBody>
      </p:sp>
      <p:sp>
        <p:nvSpPr>
          <p:cNvPr id="11" name="Shape 8"/>
          <p:cNvSpPr/>
          <p:nvPr/>
        </p:nvSpPr>
        <p:spPr>
          <a:xfrm>
            <a:off x="9418320" y="1417320"/>
            <a:ext cx="2221992" cy="1481328"/>
          </a:xfrm>
          <a:prstGeom prst="roundRect">
            <a:avLst>
              <a:gd name="adj" fmla="val 7407"/>
            </a:avLst>
          </a:prstGeom>
          <a:solidFill>
            <a:srgbClr val="10213F">
              <a:alpha val="92000"/>
            </a:srgbClr>
          </a:solidFill>
          <a:ln w="12700">
            <a:solidFill>
              <a:srgbClr val="1E3A5F"/>
            </a:solidFill>
            <a:prstDash val="solid"/>
          </a:ln>
        </p:spPr>
      </p:sp>
      <p:sp>
        <p:nvSpPr>
          <p:cNvPr id="12" name="Text 9"/>
          <p:cNvSpPr txBox="1"/>
          <p:nvPr/>
        </p:nvSpPr>
        <p:spPr>
          <a:xfrm>
            <a:off x="9582912" y="1554480"/>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DQ-STATUS</a:t>
            </a:r>
            <a:endParaRPr lang="de-DE" sz="950" dirty="0"/>
          </a:p>
        </p:txBody>
      </p:sp>
      <p:sp>
        <p:nvSpPr>
          <p:cNvPr id="13" name="Text 10"/>
          <p:cNvSpPr txBox="1"/>
          <p:nvPr/>
        </p:nvSpPr>
        <p:spPr>
          <a:xfrm>
            <a:off x="9582912" y="1801368"/>
            <a:ext cx="1892808" cy="438912"/>
          </a:xfrm>
          <a:prstGeom prst="rect">
            <a:avLst/>
          </a:prstGeom>
          <a:noFill/>
          <a:ln/>
        </p:spPr>
        <p:txBody>
          <a:bodyPr wrap="square" lIns="0" tIns="0" rIns="0" bIns="0" rtlCol="0" anchor="ctr"/>
          <a:lstStyle/>
          <a:p>
            <a:pPr indent="0" marL="0">
              <a:buNone/>
            </a:pPr>
            <a:r>
              <a:rPr lang="de-DE" altLang="en-US" sz="1200" dirty="0">
                <a:solidFill>
                  <a:srgbClr val="34D399"/>
                </a:solidFill>
                <a:latin typeface="Segoe UI Semibold" pitchFamily="34" charset="0"/>
                <a:ea typeface="Segoe UI Semibold" pitchFamily="34" charset="-122"/>
                <a:cs typeface="Segoe UI Semibold" pitchFamily="34" charset="-120"/>
              </a:rPr>
              <a:t>4 PASS</a:t>
            </a:r>
            <a:pPr indent="0" marL="0">
              <a:buNone/>
            </a:pPr>
            <a:r>
              <a:rPr lang="de-DE" altLang="en-US" sz="1200" dirty="0">
                <a:solidFill>
                  <a:srgbClr val="7389A6"/>
                </a:solidFill>
                <a:latin typeface="Segoe UI Semibold" pitchFamily="34" charset="0"/>
                <a:ea typeface="Segoe UI Semibold" pitchFamily="34" charset="-122"/>
                <a:cs typeface="Segoe UI Semibold" pitchFamily="34" charset="-120"/>
              </a:rPr>
              <a:t>  </a:t>
            </a:r>
            <a:pPr indent="0" marL="0">
              <a:buNone/>
            </a:pPr>
            <a:r>
              <a:rPr lang="de-DE" altLang="en-US" sz="1200" dirty="0">
                <a:solidFill>
                  <a:srgbClr val="FBBF24"/>
                </a:solidFill>
                <a:latin typeface="Segoe UI Semibold" pitchFamily="34" charset="0"/>
                <a:ea typeface="Segoe UI Semibold" pitchFamily="34" charset="-122"/>
                <a:cs typeface="Segoe UI Semibold" pitchFamily="34" charset="-120"/>
              </a:rPr>
              <a:t>2 WARN</a:t>
            </a:r>
            <a:pPr indent="0" marL="0">
              <a:buNone/>
            </a:pPr>
            <a:r>
              <a:rPr lang="de-DE" altLang="en-US" sz="1200" dirty="0">
                <a:solidFill>
                  <a:srgbClr val="7389A6"/>
                </a:solidFill>
                <a:latin typeface="Segoe UI Semibold" pitchFamily="34" charset="0"/>
                <a:ea typeface="Segoe UI Semibold" pitchFamily="34" charset="-122"/>
                <a:cs typeface="Segoe UI Semibold" pitchFamily="34" charset="-120"/>
              </a:rPr>
              <a:t>  </a:t>
            </a:r>
            <a:pPr indent="0" marL="0">
              <a:buNone/>
            </a:pPr>
            <a:r>
              <a:rPr lang="de-DE" altLang="en-US" sz="1200" dirty="0">
                <a:solidFill>
                  <a:srgbClr val="F87171"/>
                </a:solidFill>
                <a:latin typeface="Segoe UI Semibold" pitchFamily="34" charset="0"/>
                <a:ea typeface="Segoe UI Semibold" pitchFamily="34" charset="-122"/>
                <a:cs typeface="Segoe UI Semibold" pitchFamily="34" charset="-120"/>
              </a:rPr>
              <a:t>3 FAIL</a:t>
            </a:r>
            <a:endParaRPr lang="de-DE" sz="1200" dirty="0"/>
          </a:p>
        </p:txBody>
      </p:sp>
      <p:sp>
        <p:nvSpPr>
          <p:cNvPr id="14" name="Text 11"/>
          <p:cNvSpPr txBox="1"/>
          <p:nvPr/>
        </p:nvSpPr>
        <p:spPr>
          <a:xfrm>
            <a:off x="9582912" y="2313432"/>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Befunde der Rohdatenprüfung – im Curated Layer behandelt</a:t>
            </a:r>
            <a:endParaRPr lang="de-DE" sz="1050" dirty="0"/>
          </a:p>
        </p:txBody>
      </p:sp>
      <p:sp>
        <p:nvSpPr>
          <p:cNvPr id="15" name="Shape 12"/>
          <p:cNvSpPr/>
          <p:nvPr/>
        </p:nvSpPr>
        <p:spPr>
          <a:xfrm>
            <a:off x="9418320" y="3095244"/>
            <a:ext cx="2221992" cy="1481328"/>
          </a:xfrm>
          <a:prstGeom prst="roundRect">
            <a:avLst>
              <a:gd name="adj" fmla="val 7407"/>
            </a:avLst>
          </a:prstGeom>
          <a:solidFill>
            <a:srgbClr val="10213F">
              <a:alpha val="92000"/>
            </a:srgbClr>
          </a:solidFill>
          <a:ln w="12700">
            <a:solidFill>
              <a:srgbClr val="1E3A5F"/>
            </a:solidFill>
            <a:prstDash val="solid"/>
          </a:ln>
        </p:spPr>
      </p:sp>
      <p:sp>
        <p:nvSpPr>
          <p:cNvPr id="16" name="Text 13"/>
          <p:cNvSpPr txBox="1"/>
          <p:nvPr/>
        </p:nvSpPr>
        <p:spPr>
          <a:xfrm>
            <a:off x="9582912" y="3232404"/>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MODELLMETRIKEN</a:t>
            </a:r>
            <a:endParaRPr lang="de-DE" sz="950" dirty="0"/>
          </a:p>
        </p:txBody>
      </p:sp>
      <p:sp>
        <p:nvSpPr>
          <p:cNvPr id="17" name="Text 14"/>
          <p:cNvSpPr txBox="1"/>
          <p:nvPr/>
        </p:nvSpPr>
        <p:spPr>
          <a:xfrm>
            <a:off x="9582912" y="3479292"/>
            <a:ext cx="1892808" cy="438912"/>
          </a:xfrm>
          <a:prstGeom prst="rect">
            <a:avLst/>
          </a:prstGeom>
          <a:noFill/>
          <a:ln/>
        </p:spPr>
        <p:txBody>
          <a:bodyPr wrap="square" lIns="0" tIns="0" rIns="0" bIns="0" rtlCol="0" anchor="ctr">
            <a:normAutofit/>
          </a:bodyPr>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Modell vs. Baseline</a:t>
            </a:r>
            <a:endParaRPr lang="de-DE" sz="1500" dirty="0"/>
          </a:p>
        </p:txBody>
      </p:sp>
      <p:sp>
        <p:nvSpPr>
          <p:cNvPr id="18" name="Text 15"/>
          <p:cNvSpPr txBox="1"/>
          <p:nvPr/>
        </p:nvSpPr>
        <p:spPr>
          <a:xfrm>
            <a:off x="9582912" y="3991356"/>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Deviance nie zwischen Modellen vergleichen – andere Ziele und Populationen</a:t>
            </a:r>
            <a:endParaRPr lang="de-DE" sz="1050" dirty="0"/>
          </a:p>
        </p:txBody>
      </p:sp>
      <p:sp>
        <p:nvSpPr>
          <p:cNvPr id="19" name="Shape 16"/>
          <p:cNvSpPr/>
          <p:nvPr/>
        </p:nvSpPr>
        <p:spPr>
          <a:xfrm>
            <a:off x="9418320" y="4773168"/>
            <a:ext cx="2221992" cy="1481328"/>
          </a:xfrm>
          <a:prstGeom prst="roundRect">
            <a:avLst>
              <a:gd name="adj" fmla="val 7407"/>
            </a:avLst>
          </a:prstGeom>
          <a:solidFill>
            <a:srgbClr val="10213F">
              <a:alpha val="92000"/>
            </a:srgbClr>
          </a:solidFill>
          <a:ln w="12700">
            <a:solidFill>
              <a:srgbClr val="1E3A5F"/>
            </a:solidFill>
            <a:prstDash val="solid"/>
          </a:ln>
        </p:spPr>
      </p:sp>
      <p:sp>
        <p:nvSpPr>
          <p:cNvPr id="20" name="Text 17"/>
          <p:cNvSpPr txBox="1"/>
          <p:nvPr/>
        </p:nvSpPr>
        <p:spPr>
          <a:xfrm>
            <a:off x="9582912" y="4910328"/>
            <a:ext cx="1892808" cy="219456"/>
          </a:xfrm>
          <a:prstGeom prst="rect">
            <a:avLst/>
          </a:prstGeom>
          <a:noFill/>
          <a:ln/>
        </p:spPr>
        <p:txBody>
          <a:bodyPr wrap="square" lIns="0" tIns="0" rIns="0" bIns="0" rtlCol="0" anchor="t"/>
          <a:lstStyle/>
          <a:p>
            <a:pPr indent="0" marL="0">
              <a:buNone/>
            </a:pPr>
            <a:r>
              <a:rPr lang="de-DE" altLang="en-US" sz="950" b="1" spc="150" kern="0" dirty="0">
                <a:solidFill>
                  <a:srgbClr val="22D3EE"/>
                </a:solidFill>
                <a:latin typeface="Segoe UI" pitchFamily="34" charset="0"/>
                <a:ea typeface="Segoe UI" pitchFamily="34" charset="-122"/>
                <a:cs typeface="Segoe UI" pitchFamily="34" charset="-120"/>
              </a:rPr>
              <a:t>PIPELINE</a:t>
            </a:r>
            <a:endParaRPr lang="de-DE" sz="950" dirty="0"/>
          </a:p>
        </p:txBody>
      </p:sp>
      <p:sp>
        <p:nvSpPr>
          <p:cNvPr id="21" name="Text 18"/>
          <p:cNvSpPr txBox="1"/>
          <p:nvPr/>
        </p:nvSpPr>
        <p:spPr>
          <a:xfrm>
            <a:off x="9582912" y="5157216"/>
            <a:ext cx="1892808" cy="438912"/>
          </a:xfrm>
          <a:prstGeom prst="rect">
            <a:avLst/>
          </a:prstGeom>
          <a:noFill/>
          <a:ln/>
        </p:spPr>
        <p:txBody>
          <a:bodyPr wrap="square" lIns="0" tIns="0" rIns="0" bIns="0" rtlCol="0" anchor="ctr">
            <a:normAutofit/>
          </a:bodyPr>
          <a:lstStyle/>
          <a:p>
            <a:pPr indent="0" marL="0">
              <a:buNone/>
            </a:pPr>
            <a:r>
              <a:rPr lang="de-DE" altLang="en-US" sz="2200" dirty="0">
                <a:solidFill>
                  <a:srgbClr val="34D399"/>
                </a:solidFill>
                <a:latin typeface="Segoe UI Semibold" pitchFamily="34" charset="0"/>
                <a:ea typeface="Segoe UI Semibold" pitchFamily="34" charset="-122"/>
                <a:cs typeface="Segoe UI Semibold" pitchFamily="34" charset="-120"/>
              </a:rPr>
              <a:t>PASS</a:t>
            </a:r>
            <a:endParaRPr lang="de-DE" sz="2200" dirty="0"/>
          </a:p>
        </p:txBody>
      </p:sp>
      <p:sp>
        <p:nvSpPr>
          <p:cNvPr id="22" name="Text 19"/>
          <p:cNvSpPr txBox="1"/>
          <p:nvPr/>
        </p:nvSpPr>
        <p:spPr>
          <a:xfrm>
            <a:off x="9582912" y="5669280"/>
            <a:ext cx="1892808" cy="475488"/>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Letzter Lauf: Manifest, Größe, SHA256 und Schema bestätigt</a:t>
            </a:r>
            <a:endParaRPr lang="de-DE"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SUBGRUPPEN-DIAGNOSTIK</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Gute Gesamtperformance ≠ gute Performance überall</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17 / 19</a:t>
            </a:r>
            <a:endParaRPr lang="de-DE" sz="900" dirty="0"/>
          </a:p>
        </p:txBody>
      </p:sp>
      <p:sp>
        <p:nvSpPr>
          <p:cNvPr id="6" name="Shape 4"/>
          <p:cNvSpPr/>
          <p:nvPr/>
        </p:nvSpPr>
        <p:spPr>
          <a:xfrm>
            <a:off x="548640" y="1572768"/>
            <a:ext cx="7223760" cy="4690872"/>
          </a:xfrm>
          <a:prstGeom prst="roundRect">
            <a:avLst>
              <a:gd name="adj" fmla="val 2339"/>
            </a:avLst>
          </a:prstGeom>
          <a:solidFill>
            <a:srgbClr val="10213F">
              <a:alpha val="92000"/>
            </a:srgbClr>
          </a:solidFill>
          <a:ln w="12700">
            <a:solidFill>
              <a:srgbClr val="1E3A5F"/>
            </a:solidFill>
            <a:prstDash val="solid"/>
          </a:ln>
        </p:spPr>
      </p:sp>
      <p:sp>
        <p:nvSpPr>
          <p:cNvPr id="7" name="Text 5"/>
          <p:cNvSpPr txBox="1"/>
          <p:nvPr/>
        </p:nvSpPr>
        <p:spPr>
          <a:xfrm>
            <a:off x="822960" y="1737360"/>
            <a:ext cx="6675120" cy="310896"/>
          </a:xfrm>
          <a:prstGeom prst="rect">
            <a:avLst/>
          </a:prstGeom>
          <a:noFill/>
          <a:ln/>
        </p:spPr>
        <p:txBody>
          <a:bodyPr wrap="square" lIns="0" tIns="0" rIns="0" bIns="0" rtlCol="0" anchor="t"/>
          <a:lstStyle/>
          <a:p>
            <a:pPr indent="0" marL="0">
              <a:buNone/>
            </a:pPr>
            <a:r>
              <a:rPr lang="de-DE" altLang="en-US" sz="1400" dirty="0">
                <a:solidFill>
                  <a:srgbClr val="EEF4FB"/>
                </a:solidFill>
                <a:latin typeface="Segoe UI Semibold" pitchFamily="34" charset="0"/>
                <a:ea typeface="Segoe UI Semibold" pitchFamily="34" charset="-122"/>
                <a:cs typeface="Segoe UI Semibold" pitchFamily="34" charset="-120"/>
              </a:rPr>
              <a:t>Relative Abweichung Prognose vs. Beobachtung nach Fahreralter</a:t>
            </a:r>
            <a:endParaRPr lang="de-DE" sz="1400" dirty="0"/>
          </a:p>
        </p:txBody>
      </p:sp>
      <p:sp>
        <p:nvSpPr>
          <p:cNvPr id="8" name="Text 6"/>
          <p:cNvSpPr txBox="1"/>
          <p:nvPr/>
        </p:nvSpPr>
        <p:spPr>
          <a:xfrm>
            <a:off x="822960" y="2048256"/>
            <a:ext cx="6675120" cy="237744"/>
          </a:xfrm>
          <a:prstGeom prst="rect">
            <a:avLst/>
          </a:prstGeom>
          <a:noFill/>
          <a:ln/>
        </p:spPr>
        <p:txBody>
          <a:bodyPr wrap="square" lIns="0" tIns="0" rIns="0" bIns="0" rtlCol="0" anchor="t"/>
          <a:lstStyle/>
          <a:p>
            <a:pPr indent="0" marL="0">
              <a:buNone/>
            </a:pPr>
            <a:r>
              <a:rPr lang="de-DE" altLang="en-US" sz="1050" dirty="0">
                <a:solidFill>
                  <a:srgbClr val="A9BBD0"/>
                </a:solidFill>
                <a:latin typeface="Segoe UI" pitchFamily="34" charset="0"/>
                <a:ea typeface="Segoe UI" pitchFamily="34" charset="-122"/>
                <a:cs typeface="Segoe UI" pitchFamily="34" charset="-120"/>
              </a:rPr>
              <a:t>Holdout · positive Werte = Überschätzung, negative Werte = Unterschätzung</a:t>
            </a:r>
            <a:endParaRPr lang="de-DE" sz="1050" dirty="0"/>
          </a:p>
        </p:txBody>
      </p:sp>
      <p:sp>
        <p:nvSpPr>
          <p:cNvPr id="9" name="Shape 7"/>
          <p:cNvSpPr/>
          <p:nvPr/>
        </p:nvSpPr>
        <p:spPr>
          <a:xfrm>
            <a:off x="822960" y="2423160"/>
            <a:ext cx="182880" cy="182880"/>
          </a:xfrm>
          <a:prstGeom prst="roundRect">
            <a:avLst>
              <a:gd name="adj" fmla="val 20000"/>
            </a:avLst>
          </a:prstGeom>
          <a:solidFill>
            <a:srgbClr val="38BDF8"/>
          </a:solidFill>
          <a:ln w="12700">
            <a:solidFill>
              <a:srgbClr val="38BDF8"/>
            </a:solidFill>
            <a:prstDash val="solid"/>
          </a:ln>
        </p:spPr>
      </p:sp>
      <p:sp>
        <p:nvSpPr>
          <p:cNvPr id="10" name="Text 8"/>
          <p:cNvSpPr txBox="1"/>
          <p:nvPr/>
        </p:nvSpPr>
        <p:spPr>
          <a:xfrm>
            <a:off x="1078992" y="2368296"/>
            <a:ext cx="1005840" cy="292608"/>
          </a:xfrm>
          <a:prstGeom prst="rect">
            <a:avLst/>
          </a:prstGeom>
          <a:noFill/>
          <a:ln/>
        </p:spPr>
        <p:txBody>
          <a:bodyPr wrap="square" lIns="0" tIns="0" rIns="0" bIns="0" rtlCol="0" anchor="ctr"/>
          <a:lstStyle/>
          <a:p>
            <a:pPr indent="0" marL="0">
              <a:buNone/>
            </a:pPr>
            <a:r>
              <a:rPr lang="de-DE" altLang="en-US" sz="1100" dirty="0">
                <a:solidFill>
                  <a:srgbClr val="EEF4FB"/>
                </a:solidFill>
                <a:latin typeface="Segoe UI" pitchFamily="34" charset="0"/>
                <a:ea typeface="Segoe UI" pitchFamily="34" charset="-122"/>
                <a:cs typeface="Segoe UI" pitchFamily="34" charset="-120"/>
              </a:rPr>
              <a:t>Frequency</a:t>
            </a:r>
            <a:endParaRPr lang="de-DE" sz="1100" dirty="0"/>
          </a:p>
        </p:txBody>
      </p:sp>
      <p:sp>
        <p:nvSpPr>
          <p:cNvPr id="11" name="Shape 9"/>
          <p:cNvSpPr/>
          <p:nvPr/>
        </p:nvSpPr>
        <p:spPr>
          <a:xfrm>
            <a:off x="2148840" y="2423160"/>
            <a:ext cx="182880" cy="182880"/>
          </a:xfrm>
          <a:prstGeom prst="roundRect">
            <a:avLst>
              <a:gd name="adj" fmla="val 20000"/>
            </a:avLst>
          </a:prstGeom>
          <a:solidFill>
            <a:srgbClr val="A78BFA"/>
          </a:solidFill>
          <a:ln w="12700">
            <a:solidFill>
              <a:srgbClr val="A78BFA"/>
            </a:solidFill>
            <a:prstDash val="solid"/>
          </a:ln>
        </p:spPr>
      </p:sp>
      <p:sp>
        <p:nvSpPr>
          <p:cNvPr id="12" name="Text 10"/>
          <p:cNvSpPr txBox="1"/>
          <p:nvPr/>
        </p:nvSpPr>
        <p:spPr>
          <a:xfrm>
            <a:off x="2404872" y="2368296"/>
            <a:ext cx="1005840" cy="292608"/>
          </a:xfrm>
          <a:prstGeom prst="rect">
            <a:avLst/>
          </a:prstGeom>
          <a:noFill/>
          <a:ln/>
        </p:spPr>
        <p:txBody>
          <a:bodyPr wrap="square" lIns="0" tIns="0" rIns="0" bIns="0" rtlCol="0" anchor="ctr"/>
          <a:lstStyle/>
          <a:p>
            <a:pPr indent="0" marL="0">
              <a:buNone/>
            </a:pPr>
            <a:r>
              <a:rPr lang="de-DE" altLang="en-US" sz="1100" dirty="0">
                <a:solidFill>
                  <a:srgbClr val="EEF4FB"/>
                </a:solidFill>
                <a:latin typeface="Segoe UI" pitchFamily="34" charset="0"/>
                <a:ea typeface="Segoe UI" pitchFamily="34" charset="-122"/>
                <a:cs typeface="Segoe UI" pitchFamily="34" charset="-120"/>
              </a:rPr>
              <a:t>Severity</a:t>
            </a:r>
            <a:endParaRPr lang="de-DE" sz="1100" dirty="0"/>
          </a:p>
        </p:txBody>
      </p:sp>
      <p:sp>
        <p:nvSpPr>
          <p:cNvPr id="13" name="Shape 11"/>
          <p:cNvSpPr/>
          <p:nvPr/>
        </p:nvSpPr>
        <p:spPr>
          <a:xfrm>
            <a:off x="3474720" y="2423160"/>
            <a:ext cx="182880" cy="182880"/>
          </a:xfrm>
          <a:prstGeom prst="roundRect">
            <a:avLst>
              <a:gd name="adj" fmla="val 20000"/>
            </a:avLst>
          </a:prstGeom>
          <a:solidFill>
            <a:srgbClr val="2DD4BF"/>
          </a:solidFill>
          <a:ln w="12700">
            <a:solidFill>
              <a:srgbClr val="2DD4BF"/>
            </a:solidFill>
            <a:prstDash val="solid"/>
          </a:ln>
        </p:spPr>
      </p:sp>
      <p:sp>
        <p:nvSpPr>
          <p:cNvPr id="14" name="Text 12"/>
          <p:cNvSpPr txBox="1"/>
          <p:nvPr/>
        </p:nvSpPr>
        <p:spPr>
          <a:xfrm>
            <a:off x="3730752" y="2368296"/>
            <a:ext cx="1005840" cy="292608"/>
          </a:xfrm>
          <a:prstGeom prst="rect">
            <a:avLst/>
          </a:prstGeom>
          <a:noFill/>
          <a:ln/>
        </p:spPr>
        <p:txBody>
          <a:bodyPr wrap="square" lIns="0" tIns="0" rIns="0" bIns="0" rtlCol="0" anchor="ctr"/>
          <a:lstStyle/>
          <a:p>
            <a:pPr indent="0" marL="0">
              <a:buNone/>
            </a:pPr>
            <a:r>
              <a:rPr lang="de-DE" altLang="en-US" sz="1100" dirty="0">
                <a:solidFill>
                  <a:srgbClr val="EEF4FB"/>
                </a:solidFill>
                <a:latin typeface="Segoe UI" pitchFamily="34" charset="0"/>
                <a:ea typeface="Segoe UI" pitchFamily="34" charset="-122"/>
                <a:cs typeface="Segoe UI" pitchFamily="34" charset="-120"/>
              </a:rPr>
              <a:t>Tweedie</a:t>
            </a:r>
            <a:endParaRPr lang="de-DE" sz="1100" dirty="0"/>
          </a:p>
        </p:txBody>
      </p:sp>
      <p:graphicFrame>
        <p:nvGraphicFramePr>
          <p:cNvPr id="15" name="Chart 0" descr=""/>
          <p:cNvGraphicFramePr/>
          <p:nvPr/>
        </p:nvGraphicFramePr>
        <p:xfrm>
          <a:off x="640080" y="2688336"/>
          <a:ext cx="6949440" cy="3154680"/>
        </p:xfrm>
        <a:graphic xmlns:a="http://schemas.openxmlformats.org/drawingml/2006/main">
          <a:graphicData uri="http://schemas.openxmlformats.org/drawingml/2006/chart">
            <c:chart xmlns:c="http://schemas.openxmlformats.org/drawingml/2006/chart" r:id="rId2"/>
          </a:graphicData>
        </a:graphic>
      </p:graphicFrame>
      <p:sp>
        <p:nvSpPr>
          <p:cNvPr id="16" name="Text 13"/>
          <p:cNvSpPr txBox="1"/>
          <p:nvPr/>
        </p:nvSpPr>
        <p:spPr>
          <a:xfrm>
            <a:off x="822960" y="5870448"/>
            <a:ext cx="6675120" cy="274320"/>
          </a:xfrm>
          <a:prstGeom prst="rect">
            <a:avLst/>
          </a:prstGeom>
          <a:noFill/>
          <a:ln/>
        </p:spPr>
        <p:txBody>
          <a:bodyPr wrap="square" lIns="0" tIns="0" rIns="0" bIns="0" rtlCol="0" anchor="t"/>
          <a:lstStyle/>
          <a:p>
            <a:pPr indent="0" marL="0">
              <a:buNone/>
            </a:pPr>
            <a:r>
              <a:rPr lang="de-DE" altLang="en-US" sz="950" dirty="0">
                <a:solidFill>
                  <a:srgbClr val="7389A6"/>
                </a:solidFill>
                <a:latin typeface="Segoe UI" pitchFamily="34" charset="0"/>
                <a:ea typeface="Segoe UI" pitchFamily="34" charset="-122"/>
                <a:cs typeface="Segoe UI" pitchFamily="34" charset="-120"/>
              </a:rPr>
              <a:t>Severity: nur 4.999 Policen mit beobachtbarer Schadenhöhe · Randgruppen mit wenigen Schäden vorsichtig interpretieren</a:t>
            </a:r>
            <a:endParaRPr lang="de-DE" sz="950" dirty="0"/>
          </a:p>
        </p:txBody>
      </p:sp>
      <p:sp>
        <p:nvSpPr>
          <p:cNvPr id="17" name="Shape 14"/>
          <p:cNvSpPr/>
          <p:nvPr/>
        </p:nvSpPr>
        <p:spPr>
          <a:xfrm>
            <a:off x="8001000" y="1572768"/>
            <a:ext cx="3639312" cy="1216152"/>
          </a:xfrm>
          <a:prstGeom prst="roundRect">
            <a:avLst>
              <a:gd name="adj" fmla="val 9023"/>
            </a:avLst>
          </a:prstGeom>
          <a:solidFill>
            <a:srgbClr val="10213F">
              <a:alpha val="92000"/>
            </a:srgbClr>
          </a:solidFill>
          <a:ln w="12700">
            <a:solidFill>
              <a:srgbClr val="1E3A5F"/>
            </a:solidFill>
            <a:prstDash val="solid"/>
          </a:ln>
        </p:spPr>
      </p:sp>
      <p:sp>
        <p:nvSpPr>
          <p:cNvPr id="18" name="Text 15"/>
          <p:cNvSpPr txBox="1"/>
          <p:nvPr/>
        </p:nvSpPr>
        <p:spPr>
          <a:xfrm>
            <a:off x="8229600" y="1700784"/>
            <a:ext cx="1828800" cy="292608"/>
          </a:xfrm>
          <a:prstGeom prst="rect">
            <a:avLst/>
          </a:prstGeom>
          <a:noFill/>
          <a:ln/>
        </p:spPr>
        <p:txBody>
          <a:bodyPr wrap="square" lIns="0" tIns="0" rIns="0" bIns="0" rtlCol="0" anchor="ctr"/>
          <a:lstStyle/>
          <a:p>
            <a:pPr indent="0" marL="0">
              <a:buNone/>
            </a:pPr>
            <a:r>
              <a:rPr lang="de-DE" altLang="en-US" sz="1400" dirty="0">
                <a:solidFill>
                  <a:srgbClr val="38BDF8"/>
                </a:solidFill>
                <a:latin typeface="Segoe UI Semibold" pitchFamily="34" charset="0"/>
                <a:ea typeface="Segoe UI Semibold" pitchFamily="34" charset="-122"/>
                <a:cs typeface="Segoe UI Semibold" pitchFamily="34" charset="-120"/>
              </a:rPr>
              <a:t>Frequency</a:t>
            </a:r>
            <a:endParaRPr lang="de-DE" sz="1400" dirty="0"/>
          </a:p>
        </p:txBody>
      </p:sp>
      <p:sp>
        <p:nvSpPr>
          <p:cNvPr id="19" name="Shape 16"/>
          <p:cNvSpPr/>
          <p:nvPr/>
        </p:nvSpPr>
        <p:spPr>
          <a:xfrm>
            <a:off x="10405872" y="1719072"/>
            <a:ext cx="1005840" cy="274320"/>
          </a:xfrm>
          <a:prstGeom prst="roundRect">
            <a:avLst>
              <a:gd name="adj" fmla="val 50000"/>
            </a:avLst>
          </a:prstGeom>
          <a:solidFill>
            <a:srgbClr val="34D399">
              <a:alpha val="18000"/>
            </a:srgbClr>
          </a:solidFill>
          <a:ln w="12700">
            <a:solidFill>
              <a:srgbClr val="34D399"/>
            </a:solidFill>
            <a:prstDash val="solid"/>
          </a:ln>
        </p:spPr>
      </p:sp>
      <p:sp>
        <p:nvSpPr>
          <p:cNvPr id="20" name="Text 17"/>
          <p:cNvSpPr txBox="1"/>
          <p:nvPr/>
        </p:nvSpPr>
        <p:spPr>
          <a:xfrm>
            <a:off x="10405872" y="1719072"/>
            <a:ext cx="1005840" cy="274320"/>
          </a:xfrm>
          <a:prstGeom prst="rect">
            <a:avLst/>
          </a:prstGeom>
          <a:noFill/>
          <a:ln/>
        </p:spPr>
        <p:txBody>
          <a:bodyPr wrap="square" lIns="0" tIns="0" rIns="0" bIns="0" rtlCol="0" anchor="ctr"/>
          <a:lstStyle/>
          <a:p>
            <a:pPr algn="ctr" indent="0" marL="0">
              <a:buNone/>
            </a:pPr>
            <a:r>
              <a:rPr lang="de-DE" altLang="en-US" sz="1000" dirty="0">
                <a:solidFill>
                  <a:srgbClr val="34D399"/>
                </a:solidFill>
                <a:latin typeface="Segoe UI Semibold" pitchFamily="34" charset="0"/>
                <a:ea typeface="Segoe UI Semibold" pitchFamily="34" charset="-122"/>
                <a:cs typeface="Segoe UI Semibold" pitchFamily="34" charset="-120"/>
              </a:rPr>
              <a:t>stabil</a:t>
            </a:r>
            <a:endParaRPr lang="de-DE" sz="1000" dirty="0"/>
          </a:p>
        </p:txBody>
      </p:sp>
      <p:sp>
        <p:nvSpPr>
          <p:cNvPr id="21" name="Text 18"/>
          <p:cNvSpPr txBox="1"/>
          <p:nvPr/>
        </p:nvSpPr>
        <p:spPr>
          <a:xfrm>
            <a:off x="8229600" y="2075688"/>
            <a:ext cx="3182112" cy="621792"/>
          </a:xfrm>
          <a:prstGeom prst="rect">
            <a:avLst/>
          </a:prstGeom>
          <a:noFill/>
          <a:ln/>
        </p:spPr>
        <p:txBody>
          <a:bodyPr wrap="square" lIns="0" tIns="0" rIns="0" bIns="0" rtlCol="0" anchor="t"/>
          <a:lstStyle/>
          <a:p>
            <a:pPr indent="0" marL="0">
              <a:buNone/>
            </a:pPr>
            <a:r>
              <a:rPr lang="de-DE" altLang="en-US" sz="1100" dirty="0">
                <a:solidFill>
                  <a:srgbClr val="EEF4FB"/>
                </a:solidFill>
                <a:latin typeface="Segoe UI" pitchFamily="34" charset="0"/>
                <a:ea typeface="Segoe UI" pitchFamily="34" charset="-122"/>
                <a:cs typeface="Segoe UI" pitchFamily="34" charset="-120"/>
              </a:rPr>
              <a:t>Meist im einstelligen Bereich – größte Abweichung bei 75+: −11,6 %</a:t>
            </a:r>
            <a:endParaRPr lang="de-DE" sz="1100" dirty="0"/>
          </a:p>
        </p:txBody>
      </p:sp>
      <p:sp>
        <p:nvSpPr>
          <p:cNvPr id="22" name="Shape 19"/>
          <p:cNvSpPr/>
          <p:nvPr/>
        </p:nvSpPr>
        <p:spPr>
          <a:xfrm>
            <a:off x="8001000" y="2916936"/>
            <a:ext cx="3639312" cy="1216152"/>
          </a:xfrm>
          <a:prstGeom prst="roundRect">
            <a:avLst>
              <a:gd name="adj" fmla="val 9023"/>
            </a:avLst>
          </a:prstGeom>
          <a:solidFill>
            <a:srgbClr val="10213F">
              <a:alpha val="92000"/>
            </a:srgbClr>
          </a:solidFill>
          <a:ln w="12700">
            <a:solidFill>
              <a:srgbClr val="1E3A5F"/>
            </a:solidFill>
            <a:prstDash val="solid"/>
          </a:ln>
        </p:spPr>
      </p:sp>
      <p:sp>
        <p:nvSpPr>
          <p:cNvPr id="23" name="Text 20"/>
          <p:cNvSpPr txBox="1"/>
          <p:nvPr/>
        </p:nvSpPr>
        <p:spPr>
          <a:xfrm>
            <a:off x="8229600" y="3044952"/>
            <a:ext cx="1828800" cy="292608"/>
          </a:xfrm>
          <a:prstGeom prst="rect">
            <a:avLst/>
          </a:prstGeom>
          <a:noFill/>
          <a:ln/>
        </p:spPr>
        <p:txBody>
          <a:bodyPr wrap="square" lIns="0" tIns="0" rIns="0" bIns="0" rtlCol="0" anchor="ctr"/>
          <a:lstStyle/>
          <a:p>
            <a:pPr indent="0" marL="0">
              <a:buNone/>
            </a:pPr>
            <a:r>
              <a:rPr lang="de-DE" altLang="en-US" sz="1400" dirty="0">
                <a:solidFill>
                  <a:srgbClr val="A78BFA"/>
                </a:solidFill>
                <a:latin typeface="Segoe UI Semibold" pitchFamily="34" charset="0"/>
                <a:ea typeface="Segoe UI Semibold" pitchFamily="34" charset="-122"/>
                <a:cs typeface="Segoe UI Semibold" pitchFamily="34" charset="-120"/>
              </a:rPr>
              <a:t>Severity</a:t>
            </a:r>
            <a:endParaRPr lang="de-DE" sz="1400" dirty="0"/>
          </a:p>
        </p:txBody>
      </p:sp>
      <p:sp>
        <p:nvSpPr>
          <p:cNvPr id="24" name="Shape 21"/>
          <p:cNvSpPr/>
          <p:nvPr/>
        </p:nvSpPr>
        <p:spPr>
          <a:xfrm>
            <a:off x="10405872" y="3063240"/>
            <a:ext cx="1005840" cy="274320"/>
          </a:xfrm>
          <a:prstGeom prst="roundRect">
            <a:avLst>
              <a:gd name="adj" fmla="val 50000"/>
            </a:avLst>
          </a:prstGeom>
          <a:solidFill>
            <a:srgbClr val="FBBF24">
              <a:alpha val="18000"/>
            </a:srgbClr>
          </a:solidFill>
          <a:ln w="12700">
            <a:solidFill>
              <a:srgbClr val="FBBF24"/>
            </a:solidFill>
            <a:prstDash val="solid"/>
          </a:ln>
        </p:spPr>
      </p:sp>
      <p:sp>
        <p:nvSpPr>
          <p:cNvPr id="25" name="Text 22"/>
          <p:cNvSpPr txBox="1"/>
          <p:nvPr/>
        </p:nvSpPr>
        <p:spPr>
          <a:xfrm>
            <a:off x="10405872" y="3063240"/>
            <a:ext cx="1005840" cy="274320"/>
          </a:xfrm>
          <a:prstGeom prst="rect">
            <a:avLst/>
          </a:prstGeom>
          <a:noFill/>
          <a:ln/>
        </p:spPr>
        <p:txBody>
          <a:bodyPr wrap="square" lIns="0" tIns="0" rIns="0" bIns="0" rtlCol="0" anchor="ctr"/>
          <a:lstStyle/>
          <a:p>
            <a:pPr algn="ctr" indent="0" marL="0">
              <a:buNone/>
            </a:pPr>
            <a:r>
              <a:rPr lang="de-DE" altLang="en-US" sz="1000" dirty="0">
                <a:solidFill>
                  <a:srgbClr val="FBBF24"/>
                </a:solidFill>
                <a:latin typeface="Segoe UI Semibold" pitchFamily="34" charset="0"/>
                <a:ea typeface="Segoe UI Semibold" pitchFamily="34" charset="-122"/>
                <a:cs typeface="Segoe UI Semibold" pitchFamily="34" charset="-120"/>
              </a:rPr>
              <a:t>heterogen</a:t>
            </a:r>
            <a:endParaRPr lang="de-DE" sz="1000" dirty="0"/>
          </a:p>
        </p:txBody>
      </p:sp>
      <p:sp>
        <p:nvSpPr>
          <p:cNvPr id="26" name="Text 23"/>
          <p:cNvSpPr txBox="1"/>
          <p:nvPr/>
        </p:nvSpPr>
        <p:spPr>
          <a:xfrm>
            <a:off x="8229600" y="3419856"/>
            <a:ext cx="3182112" cy="621792"/>
          </a:xfrm>
          <a:prstGeom prst="rect">
            <a:avLst/>
          </a:prstGeom>
          <a:noFill/>
          <a:ln/>
        </p:spPr>
        <p:txBody>
          <a:bodyPr wrap="square" lIns="0" tIns="0" rIns="0" bIns="0" rtlCol="0" anchor="t"/>
          <a:lstStyle/>
          <a:p>
            <a:pPr indent="0" marL="0">
              <a:buNone/>
            </a:pPr>
            <a:r>
              <a:rPr lang="de-DE" altLang="en-US" sz="1100" dirty="0">
                <a:solidFill>
                  <a:srgbClr val="EEF4FB"/>
                </a:solidFill>
                <a:latin typeface="Segoe UI" pitchFamily="34" charset="0"/>
                <a:ea typeface="Segoe UI" pitchFamily="34" charset="-122"/>
                <a:cs typeface="Segoe UI" pitchFamily="34" charset="-120"/>
              </a:rPr>
              <a:t>18–24: +74 % · 75+: −45 % – stark von Großschäden beeinflusst</a:t>
            </a:r>
            <a:endParaRPr lang="de-DE" sz="1100" dirty="0"/>
          </a:p>
        </p:txBody>
      </p:sp>
      <p:sp>
        <p:nvSpPr>
          <p:cNvPr id="27" name="Shape 24"/>
          <p:cNvSpPr/>
          <p:nvPr/>
        </p:nvSpPr>
        <p:spPr>
          <a:xfrm>
            <a:off x="8001000" y="4261104"/>
            <a:ext cx="3639312" cy="1216152"/>
          </a:xfrm>
          <a:prstGeom prst="roundRect">
            <a:avLst>
              <a:gd name="adj" fmla="val 9023"/>
            </a:avLst>
          </a:prstGeom>
          <a:solidFill>
            <a:srgbClr val="10213F">
              <a:alpha val="92000"/>
            </a:srgbClr>
          </a:solidFill>
          <a:ln w="12700">
            <a:solidFill>
              <a:srgbClr val="1E3A5F"/>
            </a:solidFill>
            <a:prstDash val="solid"/>
          </a:ln>
        </p:spPr>
      </p:sp>
      <p:sp>
        <p:nvSpPr>
          <p:cNvPr id="28" name="Text 25"/>
          <p:cNvSpPr txBox="1"/>
          <p:nvPr/>
        </p:nvSpPr>
        <p:spPr>
          <a:xfrm>
            <a:off x="8229600" y="4389120"/>
            <a:ext cx="1828800" cy="292608"/>
          </a:xfrm>
          <a:prstGeom prst="rect">
            <a:avLst/>
          </a:prstGeom>
          <a:noFill/>
          <a:ln/>
        </p:spPr>
        <p:txBody>
          <a:bodyPr wrap="square" lIns="0" tIns="0" rIns="0" bIns="0" rtlCol="0" anchor="ctr"/>
          <a:lstStyle/>
          <a:p>
            <a:pPr indent="0" marL="0">
              <a:buNone/>
            </a:pPr>
            <a:r>
              <a:rPr lang="de-DE" altLang="en-US" sz="1400" dirty="0">
                <a:solidFill>
                  <a:srgbClr val="2DD4BF"/>
                </a:solidFill>
                <a:latin typeface="Segoe UI Semibold" pitchFamily="34" charset="0"/>
                <a:ea typeface="Segoe UI Semibold" pitchFamily="34" charset="-122"/>
                <a:cs typeface="Segoe UI Semibold" pitchFamily="34" charset="-120"/>
              </a:rPr>
              <a:t>Tweedie</a:t>
            </a:r>
            <a:endParaRPr lang="de-DE" sz="1400" dirty="0"/>
          </a:p>
        </p:txBody>
      </p:sp>
      <p:sp>
        <p:nvSpPr>
          <p:cNvPr id="29" name="Shape 26"/>
          <p:cNvSpPr/>
          <p:nvPr/>
        </p:nvSpPr>
        <p:spPr>
          <a:xfrm>
            <a:off x="10405872" y="4407408"/>
            <a:ext cx="1005840" cy="274320"/>
          </a:xfrm>
          <a:prstGeom prst="roundRect">
            <a:avLst>
              <a:gd name="adj" fmla="val 50000"/>
            </a:avLst>
          </a:prstGeom>
          <a:solidFill>
            <a:srgbClr val="FBBF24">
              <a:alpha val="18000"/>
            </a:srgbClr>
          </a:solidFill>
          <a:ln w="12700">
            <a:solidFill>
              <a:srgbClr val="FBBF24"/>
            </a:solidFill>
            <a:prstDash val="solid"/>
          </a:ln>
        </p:spPr>
      </p:sp>
      <p:sp>
        <p:nvSpPr>
          <p:cNvPr id="30" name="Text 27"/>
          <p:cNvSpPr txBox="1"/>
          <p:nvPr/>
        </p:nvSpPr>
        <p:spPr>
          <a:xfrm>
            <a:off x="10405872" y="4407408"/>
            <a:ext cx="1005840" cy="274320"/>
          </a:xfrm>
          <a:prstGeom prst="rect">
            <a:avLst/>
          </a:prstGeom>
          <a:noFill/>
          <a:ln/>
        </p:spPr>
        <p:txBody>
          <a:bodyPr wrap="square" lIns="0" tIns="0" rIns="0" bIns="0" rtlCol="0" anchor="ctr"/>
          <a:lstStyle/>
          <a:p>
            <a:pPr algn="ctr" indent="0" marL="0">
              <a:buNone/>
            </a:pPr>
            <a:r>
              <a:rPr lang="de-DE" altLang="en-US" sz="1000" dirty="0">
                <a:solidFill>
                  <a:srgbClr val="FBBF24"/>
                </a:solidFill>
                <a:latin typeface="Segoe UI Semibold" pitchFamily="34" charset="0"/>
                <a:ea typeface="Segoe UI Semibold" pitchFamily="34" charset="-122"/>
                <a:cs typeface="Segoe UI Semibold" pitchFamily="34" charset="-120"/>
              </a:rPr>
              <a:t>heterogen</a:t>
            </a:r>
            <a:endParaRPr lang="de-DE" sz="1000" dirty="0"/>
          </a:p>
        </p:txBody>
      </p:sp>
      <p:sp>
        <p:nvSpPr>
          <p:cNvPr id="31" name="Text 28"/>
          <p:cNvSpPr txBox="1"/>
          <p:nvPr/>
        </p:nvSpPr>
        <p:spPr>
          <a:xfrm>
            <a:off x="8229600" y="4764024"/>
            <a:ext cx="3182112" cy="621792"/>
          </a:xfrm>
          <a:prstGeom prst="rect">
            <a:avLst/>
          </a:prstGeom>
          <a:noFill/>
          <a:ln/>
        </p:spPr>
        <p:txBody>
          <a:bodyPr wrap="square" lIns="0" tIns="0" rIns="0" bIns="0" rtlCol="0" anchor="t"/>
          <a:lstStyle/>
          <a:p>
            <a:pPr indent="0" marL="0">
              <a:buNone/>
            </a:pPr>
            <a:r>
              <a:rPr lang="de-DE" altLang="en-US" sz="1100" dirty="0">
                <a:solidFill>
                  <a:srgbClr val="EEF4FB"/>
                </a:solidFill>
                <a:latin typeface="Segoe UI" pitchFamily="34" charset="0"/>
                <a:ea typeface="Segoe UI" pitchFamily="34" charset="-122"/>
                <a:cs typeface="Segoe UI" pitchFamily="34" charset="-120"/>
              </a:rPr>
              <a:t>25–44 nahe an der Beobachtung · 18–24: +114 % · 75+: −47,5 %</a:t>
            </a:r>
            <a:endParaRPr lang="de-DE" sz="1100" dirty="0"/>
          </a:p>
        </p:txBody>
      </p:sp>
      <p:sp>
        <p:nvSpPr>
          <p:cNvPr id="32" name="Shape 29"/>
          <p:cNvSpPr/>
          <p:nvPr/>
        </p:nvSpPr>
        <p:spPr>
          <a:xfrm>
            <a:off x="8001000" y="5605272"/>
            <a:ext cx="3639312" cy="658368"/>
          </a:xfrm>
          <a:prstGeom prst="roundRect">
            <a:avLst>
              <a:gd name="adj" fmla="val 16667"/>
            </a:avLst>
          </a:prstGeom>
          <a:solidFill>
            <a:srgbClr val="10213F">
              <a:alpha val="75000"/>
            </a:srgbClr>
          </a:solidFill>
          <a:ln w="12700">
            <a:solidFill>
              <a:srgbClr val="1E3A5F"/>
            </a:solidFill>
            <a:prstDash val="solid"/>
          </a:ln>
        </p:spPr>
      </p:sp>
      <p:sp>
        <p:nvSpPr>
          <p:cNvPr id="33" name="Text 30"/>
          <p:cNvSpPr txBox="1"/>
          <p:nvPr/>
        </p:nvSpPr>
        <p:spPr>
          <a:xfrm>
            <a:off x="8229600" y="5605272"/>
            <a:ext cx="3182112" cy="658368"/>
          </a:xfrm>
          <a:prstGeom prst="rect">
            <a:avLst/>
          </a:prstGeom>
          <a:noFill/>
          <a:ln/>
        </p:spPr>
        <p:txBody>
          <a:bodyPr wrap="square" lIns="0" tIns="0" rIns="0" bIns="0" rtlCol="0" anchor="ctr"/>
          <a:lstStyle/>
          <a:p>
            <a:pPr indent="0" marL="0">
              <a:buNone/>
            </a:pPr>
            <a:r>
              <a:rPr lang="de-DE" altLang="en-US" sz="1050" dirty="0">
                <a:solidFill>
                  <a:srgbClr val="EEF4FB"/>
                </a:solidFill>
                <a:latin typeface="Segoe UI Semibold" pitchFamily="34" charset="0"/>
                <a:ea typeface="Segoe UI Semibold" pitchFamily="34" charset="-122"/>
                <a:cs typeface="Segoe UI Semibold" pitchFamily="34" charset="-120"/>
              </a:rPr>
              <a:t>Ebenso untersucht: </a:t>
            </a:r>
            <a:pPr indent="0" marL="0">
              <a:buNone/>
            </a:pPr>
            <a:r>
              <a:rPr lang="de-DE" altLang="en-US" sz="1050" dirty="0">
                <a:solidFill>
                  <a:srgbClr val="A9BBD0"/>
                </a:solidFill>
                <a:latin typeface="Segoe UI" pitchFamily="34" charset="0"/>
                <a:ea typeface="Segoe UI" pitchFamily="34" charset="-122"/>
                <a:cs typeface="Segoe UI" pitchFamily="34" charset="-120"/>
              </a:rPr>
              <a:t>Region · Area · Density – z. B. Area F: Frequency +7,1 %, Tweedie +73 %</a:t>
            </a:r>
            <a:endParaRPr lang="de-DE"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GRENZEN &amp; VERANTWORTUNG</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Grenzen offen benennen – verantwortungsvoll nutzen</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18 / 19</a:t>
            </a:r>
            <a:endParaRPr lang="de-DE" sz="900" dirty="0"/>
          </a:p>
        </p:txBody>
      </p:sp>
      <p:sp>
        <p:nvSpPr>
          <p:cNvPr id="6" name="Shape 4"/>
          <p:cNvSpPr/>
          <p:nvPr/>
        </p:nvSpPr>
        <p:spPr>
          <a:xfrm>
            <a:off x="548640" y="1572768"/>
            <a:ext cx="5806440" cy="4690872"/>
          </a:xfrm>
          <a:prstGeom prst="roundRect">
            <a:avLst>
              <a:gd name="adj" fmla="val 2339"/>
            </a:avLst>
          </a:prstGeom>
          <a:solidFill>
            <a:srgbClr val="10213F">
              <a:alpha val="92000"/>
            </a:srgbClr>
          </a:solidFill>
          <a:ln w="12700">
            <a:solidFill>
              <a:srgbClr val="1E3A5F"/>
            </a:solidFill>
            <a:prstDash val="solid"/>
          </a:ln>
        </p:spPr>
      </p:sp>
      <p:sp>
        <p:nvSpPr>
          <p:cNvPr id="7" name="Text 5"/>
          <p:cNvSpPr txBox="1"/>
          <p:nvPr/>
        </p:nvSpPr>
        <p:spPr>
          <a:xfrm>
            <a:off x="822960" y="1755648"/>
            <a:ext cx="27432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LIMITATIONEN</a:t>
            </a:r>
            <a:endParaRPr lang="de-DE" sz="1000" dirty="0"/>
          </a:p>
        </p:txBody>
      </p:sp>
      <p:sp>
        <p:nvSpPr>
          <p:cNvPr id="8" name="Shape 6"/>
          <p:cNvSpPr/>
          <p:nvPr/>
        </p:nvSpPr>
        <p:spPr>
          <a:xfrm>
            <a:off x="822960" y="2139696"/>
            <a:ext cx="2514600" cy="896112"/>
          </a:xfrm>
          <a:prstGeom prst="roundRect">
            <a:avLst>
              <a:gd name="adj" fmla="val 8163"/>
            </a:avLst>
          </a:prstGeom>
          <a:solidFill>
            <a:srgbClr val="0B2440"/>
          </a:solidFill>
          <a:ln w="9525">
            <a:solidFill>
              <a:srgbClr val="1E3A5F"/>
            </a:solidFill>
            <a:prstDash val="solid"/>
          </a:ln>
        </p:spPr>
      </p:sp>
      <p:pic>
        <p:nvPicPr>
          <p:cNvPr id="9" name="Image 0" descr="preencoded.png">    </p:cNvPr>
          <p:cNvPicPr>
            <a:picLocks noChangeAspect="1"/>
          </p:cNvPicPr>
          <p:nvPr/>
        </p:nvPicPr>
        <p:blipFill>
          <a:blip r:embed="rId2"/>
          <a:stretch>
            <a:fillRect/>
          </a:stretch>
        </p:blipFill>
        <p:spPr>
          <a:xfrm>
            <a:off x="969264" y="2295144"/>
            <a:ext cx="274320" cy="274320"/>
          </a:xfrm>
          <a:prstGeom prst="rect">
            <a:avLst/>
          </a:prstGeom>
        </p:spPr>
      </p:pic>
      <p:sp>
        <p:nvSpPr>
          <p:cNvPr id="10" name="Text 7"/>
          <p:cNvSpPr txBox="1"/>
          <p:nvPr/>
        </p:nvSpPr>
        <p:spPr>
          <a:xfrm>
            <a:off x="1335024" y="2249424"/>
            <a:ext cx="1892808" cy="292608"/>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Severity-Modell</a:t>
            </a:r>
            <a:endParaRPr lang="de-DE" sz="1200" dirty="0"/>
          </a:p>
        </p:txBody>
      </p:sp>
      <p:sp>
        <p:nvSpPr>
          <p:cNvPr id="11" name="Text 8"/>
          <p:cNvSpPr txBox="1"/>
          <p:nvPr/>
        </p:nvSpPr>
        <p:spPr>
          <a:xfrm>
            <a:off x="1335024" y="2542032"/>
            <a:ext cx="1892808" cy="457200"/>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kein eigenständiger Ranking-Score (Gini 0,003)</a:t>
            </a:r>
            <a:endParaRPr lang="de-DE" sz="1000" dirty="0"/>
          </a:p>
        </p:txBody>
      </p:sp>
      <p:sp>
        <p:nvSpPr>
          <p:cNvPr id="12" name="Shape 9"/>
          <p:cNvSpPr/>
          <p:nvPr/>
        </p:nvSpPr>
        <p:spPr>
          <a:xfrm>
            <a:off x="3566160" y="2139696"/>
            <a:ext cx="2514600" cy="896112"/>
          </a:xfrm>
          <a:prstGeom prst="roundRect">
            <a:avLst>
              <a:gd name="adj" fmla="val 8163"/>
            </a:avLst>
          </a:prstGeom>
          <a:solidFill>
            <a:srgbClr val="0B2440"/>
          </a:solidFill>
          <a:ln w="9525">
            <a:solidFill>
              <a:srgbClr val="1E3A5F"/>
            </a:solidFill>
            <a:prstDash val="solid"/>
          </a:ln>
        </p:spPr>
      </p:sp>
      <p:pic>
        <p:nvPicPr>
          <p:cNvPr id="13" name="Image 1" descr="preencoded.png">    </p:cNvPr>
          <p:cNvPicPr>
            <a:picLocks noChangeAspect="1"/>
          </p:cNvPicPr>
          <p:nvPr/>
        </p:nvPicPr>
        <p:blipFill>
          <a:blip r:embed="rId3"/>
          <a:stretch>
            <a:fillRect/>
          </a:stretch>
        </p:blipFill>
        <p:spPr>
          <a:xfrm>
            <a:off x="3712464" y="2295144"/>
            <a:ext cx="274320" cy="274320"/>
          </a:xfrm>
          <a:prstGeom prst="rect">
            <a:avLst/>
          </a:prstGeom>
        </p:spPr>
      </p:pic>
      <p:sp>
        <p:nvSpPr>
          <p:cNvPr id="14" name="Text 10"/>
          <p:cNvSpPr txBox="1"/>
          <p:nvPr/>
        </p:nvSpPr>
        <p:spPr>
          <a:xfrm>
            <a:off x="4078224" y="2249424"/>
            <a:ext cx="1892808" cy="292608"/>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Holdout-Historie</a:t>
            </a:r>
            <a:endParaRPr lang="de-DE" sz="1200" dirty="0"/>
          </a:p>
        </p:txBody>
      </p:sp>
      <p:sp>
        <p:nvSpPr>
          <p:cNvPr id="15" name="Text 11"/>
          <p:cNvSpPr txBox="1"/>
          <p:nvPr/>
        </p:nvSpPr>
        <p:spPr>
          <a:xfrm>
            <a:off x="4078224" y="2542032"/>
            <a:ext cx="1892808" cy="457200"/>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früher bereits eingesehen – kein unberührter Blind-Test</a:t>
            </a:r>
            <a:endParaRPr lang="de-DE" sz="1000" dirty="0"/>
          </a:p>
        </p:txBody>
      </p:sp>
      <p:sp>
        <p:nvSpPr>
          <p:cNvPr id="16" name="Shape 12"/>
          <p:cNvSpPr/>
          <p:nvPr/>
        </p:nvSpPr>
        <p:spPr>
          <a:xfrm>
            <a:off x="822960" y="3145536"/>
            <a:ext cx="2514600" cy="896112"/>
          </a:xfrm>
          <a:prstGeom prst="roundRect">
            <a:avLst>
              <a:gd name="adj" fmla="val 8163"/>
            </a:avLst>
          </a:prstGeom>
          <a:solidFill>
            <a:srgbClr val="0B2440"/>
          </a:solidFill>
          <a:ln w="9525">
            <a:solidFill>
              <a:srgbClr val="1E3A5F"/>
            </a:solidFill>
            <a:prstDash val="solid"/>
          </a:ln>
        </p:spPr>
      </p:sp>
      <p:pic>
        <p:nvPicPr>
          <p:cNvPr id="17" name="Image 2" descr="preencoded.png">    </p:cNvPr>
          <p:cNvPicPr>
            <a:picLocks noChangeAspect="1"/>
          </p:cNvPicPr>
          <p:nvPr/>
        </p:nvPicPr>
        <p:blipFill>
          <a:blip r:embed="rId4"/>
          <a:stretch>
            <a:fillRect/>
          </a:stretch>
        </p:blipFill>
        <p:spPr>
          <a:xfrm>
            <a:off x="969264" y="3300984"/>
            <a:ext cx="274320" cy="274320"/>
          </a:xfrm>
          <a:prstGeom prst="rect">
            <a:avLst/>
          </a:prstGeom>
        </p:spPr>
      </p:pic>
      <p:sp>
        <p:nvSpPr>
          <p:cNvPr id="18" name="Text 13"/>
          <p:cNvSpPr txBox="1"/>
          <p:nvPr/>
        </p:nvSpPr>
        <p:spPr>
          <a:xfrm>
            <a:off x="1335024" y="3255264"/>
            <a:ext cx="1892808" cy="292608"/>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Subgruppen</a:t>
            </a:r>
            <a:endParaRPr lang="de-DE" sz="1200" dirty="0"/>
          </a:p>
        </p:txBody>
      </p:sp>
      <p:sp>
        <p:nvSpPr>
          <p:cNvPr id="19" name="Text 14"/>
          <p:cNvSpPr txBox="1"/>
          <p:nvPr/>
        </p:nvSpPr>
        <p:spPr>
          <a:xfrm>
            <a:off x="1335024" y="3547872"/>
            <a:ext cx="1892808" cy="457200"/>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ungleichmäßige Kalibrierung nach Alter, Region, Area, Density</a:t>
            </a:r>
            <a:endParaRPr lang="de-DE" sz="1000" dirty="0"/>
          </a:p>
        </p:txBody>
      </p:sp>
      <p:sp>
        <p:nvSpPr>
          <p:cNvPr id="20" name="Shape 15"/>
          <p:cNvSpPr/>
          <p:nvPr/>
        </p:nvSpPr>
        <p:spPr>
          <a:xfrm>
            <a:off x="3566160" y="3145536"/>
            <a:ext cx="2514600" cy="896112"/>
          </a:xfrm>
          <a:prstGeom prst="roundRect">
            <a:avLst>
              <a:gd name="adj" fmla="val 8163"/>
            </a:avLst>
          </a:prstGeom>
          <a:solidFill>
            <a:srgbClr val="0B2440"/>
          </a:solidFill>
          <a:ln w="9525">
            <a:solidFill>
              <a:srgbClr val="1E3A5F"/>
            </a:solidFill>
            <a:prstDash val="solid"/>
          </a:ln>
        </p:spPr>
      </p:sp>
      <p:pic>
        <p:nvPicPr>
          <p:cNvPr id="21" name="Image 3" descr="preencoded.png">    </p:cNvPr>
          <p:cNvPicPr>
            <a:picLocks noChangeAspect="1"/>
          </p:cNvPicPr>
          <p:nvPr/>
        </p:nvPicPr>
        <p:blipFill>
          <a:blip r:embed="rId5"/>
          <a:stretch>
            <a:fillRect/>
          </a:stretch>
        </p:blipFill>
        <p:spPr>
          <a:xfrm>
            <a:off x="3712464" y="3300984"/>
            <a:ext cx="274320" cy="274320"/>
          </a:xfrm>
          <a:prstGeom prst="rect">
            <a:avLst/>
          </a:prstGeom>
        </p:spPr>
      </p:pic>
      <p:sp>
        <p:nvSpPr>
          <p:cNvPr id="22" name="Text 16"/>
          <p:cNvSpPr txBox="1"/>
          <p:nvPr/>
        </p:nvSpPr>
        <p:spPr>
          <a:xfrm>
            <a:off x="4078224" y="3255264"/>
            <a:ext cx="1892808" cy="292608"/>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Fehlende Schadenhöhen</a:t>
            </a:r>
            <a:endParaRPr lang="de-DE" sz="1200" dirty="0"/>
          </a:p>
        </p:txBody>
      </p:sp>
      <p:sp>
        <p:nvSpPr>
          <p:cNvPr id="23" name="Text 17"/>
          <p:cNvSpPr txBox="1"/>
          <p:nvPr/>
        </p:nvSpPr>
        <p:spPr>
          <a:xfrm>
            <a:off x="4078224" y="3547872"/>
            <a:ext cx="1892808" cy="457200"/>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26,8 % der Schadenpolicen ohne beobachtbaren Betrag</a:t>
            </a:r>
            <a:endParaRPr lang="de-DE" sz="1000" dirty="0"/>
          </a:p>
        </p:txBody>
      </p:sp>
      <p:sp>
        <p:nvSpPr>
          <p:cNvPr id="24" name="Shape 18"/>
          <p:cNvSpPr/>
          <p:nvPr/>
        </p:nvSpPr>
        <p:spPr>
          <a:xfrm>
            <a:off x="822960" y="4151376"/>
            <a:ext cx="2514600" cy="896112"/>
          </a:xfrm>
          <a:prstGeom prst="roundRect">
            <a:avLst>
              <a:gd name="adj" fmla="val 8163"/>
            </a:avLst>
          </a:prstGeom>
          <a:solidFill>
            <a:srgbClr val="0B2440"/>
          </a:solidFill>
          <a:ln w="9525">
            <a:solidFill>
              <a:srgbClr val="1E3A5F"/>
            </a:solidFill>
            <a:prstDash val="solid"/>
          </a:ln>
        </p:spPr>
      </p:sp>
      <p:pic>
        <p:nvPicPr>
          <p:cNvPr id="25" name="Image 4" descr="preencoded.png">    </p:cNvPr>
          <p:cNvPicPr>
            <a:picLocks noChangeAspect="1"/>
          </p:cNvPicPr>
          <p:nvPr/>
        </p:nvPicPr>
        <p:blipFill>
          <a:blip r:embed="rId6"/>
          <a:stretch>
            <a:fillRect/>
          </a:stretch>
        </p:blipFill>
        <p:spPr>
          <a:xfrm>
            <a:off x="969264" y="4306824"/>
            <a:ext cx="274320" cy="274320"/>
          </a:xfrm>
          <a:prstGeom prst="rect">
            <a:avLst/>
          </a:prstGeom>
        </p:spPr>
      </p:pic>
      <p:sp>
        <p:nvSpPr>
          <p:cNvPr id="26" name="Text 19"/>
          <p:cNvSpPr txBox="1"/>
          <p:nvPr/>
        </p:nvSpPr>
        <p:spPr>
          <a:xfrm>
            <a:off x="1335024" y="4261104"/>
            <a:ext cx="1892808" cy="292608"/>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Historische Daten</a:t>
            </a:r>
            <a:endParaRPr lang="de-DE" sz="1200" dirty="0"/>
          </a:p>
        </p:txBody>
      </p:sp>
      <p:sp>
        <p:nvSpPr>
          <p:cNvPr id="27" name="Text 20"/>
          <p:cNvSpPr txBox="1"/>
          <p:nvPr/>
        </p:nvSpPr>
        <p:spPr>
          <a:xfrm>
            <a:off x="1335024" y="4553712"/>
            <a:ext cx="1892808" cy="457200"/>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öffentlicher Datensatz, keine aktuelle Schadeninflation</a:t>
            </a:r>
            <a:endParaRPr lang="de-DE" sz="1000" dirty="0"/>
          </a:p>
        </p:txBody>
      </p:sp>
      <p:sp>
        <p:nvSpPr>
          <p:cNvPr id="28" name="Shape 21"/>
          <p:cNvSpPr/>
          <p:nvPr/>
        </p:nvSpPr>
        <p:spPr>
          <a:xfrm>
            <a:off x="3566160" y="4151376"/>
            <a:ext cx="2514600" cy="896112"/>
          </a:xfrm>
          <a:prstGeom prst="roundRect">
            <a:avLst>
              <a:gd name="adj" fmla="val 8163"/>
            </a:avLst>
          </a:prstGeom>
          <a:solidFill>
            <a:srgbClr val="0B2440"/>
          </a:solidFill>
          <a:ln w="9525">
            <a:solidFill>
              <a:srgbClr val="1E3A5F"/>
            </a:solidFill>
            <a:prstDash val="solid"/>
          </a:ln>
        </p:spPr>
      </p:sp>
      <p:pic>
        <p:nvPicPr>
          <p:cNvPr id="29" name="Image 5" descr="preencoded.png">    </p:cNvPr>
          <p:cNvPicPr>
            <a:picLocks noChangeAspect="1"/>
          </p:cNvPicPr>
          <p:nvPr/>
        </p:nvPicPr>
        <p:blipFill>
          <a:blip r:embed="rId7"/>
          <a:stretch>
            <a:fillRect/>
          </a:stretch>
        </p:blipFill>
        <p:spPr>
          <a:xfrm>
            <a:off x="3712464" y="4306824"/>
            <a:ext cx="274320" cy="274320"/>
          </a:xfrm>
          <a:prstGeom prst="rect">
            <a:avLst/>
          </a:prstGeom>
        </p:spPr>
      </p:pic>
      <p:sp>
        <p:nvSpPr>
          <p:cNvPr id="30" name="Text 22"/>
          <p:cNvSpPr txBox="1"/>
          <p:nvPr/>
        </p:nvSpPr>
        <p:spPr>
          <a:xfrm>
            <a:off x="4078224" y="4261104"/>
            <a:ext cx="1892808" cy="292608"/>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Keine Kausalität</a:t>
            </a:r>
            <a:endParaRPr lang="de-DE" sz="1200" dirty="0"/>
          </a:p>
        </p:txBody>
      </p:sp>
      <p:sp>
        <p:nvSpPr>
          <p:cNvPr id="31" name="Text 23"/>
          <p:cNvSpPr txBox="1"/>
          <p:nvPr/>
        </p:nvSpPr>
        <p:spPr>
          <a:xfrm>
            <a:off x="4078224" y="4553712"/>
            <a:ext cx="1892808" cy="457200"/>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Modelle zeigen Zusammenhänge, keine Ursachen</a:t>
            </a:r>
            <a:endParaRPr lang="de-DE" sz="1000" dirty="0"/>
          </a:p>
        </p:txBody>
      </p:sp>
      <p:sp>
        <p:nvSpPr>
          <p:cNvPr id="32" name="Shape 24"/>
          <p:cNvSpPr/>
          <p:nvPr/>
        </p:nvSpPr>
        <p:spPr>
          <a:xfrm>
            <a:off x="822960" y="5157216"/>
            <a:ext cx="2514600" cy="896112"/>
          </a:xfrm>
          <a:prstGeom prst="roundRect">
            <a:avLst>
              <a:gd name="adj" fmla="val 8163"/>
            </a:avLst>
          </a:prstGeom>
          <a:solidFill>
            <a:srgbClr val="0B2440"/>
          </a:solidFill>
          <a:ln w="9525">
            <a:solidFill>
              <a:srgbClr val="1E3A5F"/>
            </a:solidFill>
            <a:prstDash val="solid"/>
          </a:ln>
        </p:spPr>
      </p:sp>
      <p:pic>
        <p:nvPicPr>
          <p:cNvPr id="33" name="Image 6" descr="preencoded.png">    </p:cNvPr>
          <p:cNvPicPr>
            <a:picLocks noChangeAspect="1"/>
          </p:cNvPicPr>
          <p:nvPr/>
        </p:nvPicPr>
        <p:blipFill>
          <a:blip r:embed="rId8"/>
          <a:stretch>
            <a:fillRect/>
          </a:stretch>
        </p:blipFill>
        <p:spPr>
          <a:xfrm>
            <a:off x="969264" y="5312664"/>
            <a:ext cx="274320" cy="274320"/>
          </a:xfrm>
          <a:prstGeom prst="rect">
            <a:avLst/>
          </a:prstGeom>
        </p:spPr>
      </p:pic>
      <p:sp>
        <p:nvSpPr>
          <p:cNvPr id="34" name="Text 25"/>
          <p:cNvSpPr txBox="1"/>
          <p:nvPr/>
        </p:nvSpPr>
        <p:spPr>
          <a:xfrm>
            <a:off x="1335024" y="5266944"/>
            <a:ext cx="1892808" cy="292608"/>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Prototyp</a:t>
            </a:r>
            <a:endParaRPr lang="de-DE" sz="1200" dirty="0"/>
          </a:p>
        </p:txBody>
      </p:sp>
      <p:sp>
        <p:nvSpPr>
          <p:cNvPr id="35" name="Text 26"/>
          <p:cNvSpPr txBox="1"/>
          <p:nvPr/>
        </p:nvSpPr>
        <p:spPr>
          <a:xfrm>
            <a:off x="1335024" y="5559552"/>
            <a:ext cx="1892808" cy="457200"/>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kein produktives Versicherungssystem</a:t>
            </a:r>
            <a:endParaRPr lang="de-DE" sz="1000" dirty="0"/>
          </a:p>
        </p:txBody>
      </p:sp>
      <p:sp>
        <p:nvSpPr>
          <p:cNvPr id="36" name="Shape 27"/>
          <p:cNvSpPr/>
          <p:nvPr/>
        </p:nvSpPr>
        <p:spPr>
          <a:xfrm>
            <a:off x="3566160" y="5157216"/>
            <a:ext cx="2514600" cy="896112"/>
          </a:xfrm>
          <a:prstGeom prst="roundRect">
            <a:avLst>
              <a:gd name="adj" fmla="val 8163"/>
            </a:avLst>
          </a:prstGeom>
          <a:solidFill>
            <a:srgbClr val="0B2440"/>
          </a:solidFill>
          <a:ln w="9525">
            <a:solidFill>
              <a:srgbClr val="1E3A5F"/>
            </a:solidFill>
            <a:prstDash val="solid"/>
          </a:ln>
        </p:spPr>
      </p:sp>
      <p:pic>
        <p:nvPicPr>
          <p:cNvPr id="37" name="Image 7" descr="preencoded.png">    </p:cNvPr>
          <p:cNvPicPr>
            <a:picLocks noChangeAspect="1"/>
          </p:cNvPicPr>
          <p:nvPr/>
        </p:nvPicPr>
        <p:blipFill>
          <a:blip r:embed="rId9"/>
          <a:stretch>
            <a:fillRect/>
          </a:stretch>
        </p:blipFill>
        <p:spPr>
          <a:xfrm>
            <a:off x="3712464" y="5312664"/>
            <a:ext cx="274320" cy="274320"/>
          </a:xfrm>
          <a:prstGeom prst="rect">
            <a:avLst/>
          </a:prstGeom>
        </p:spPr>
      </p:pic>
      <p:sp>
        <p:nvSpPr>
          <p:cNvPr id="38" name="Text 28"/>
          <p:cNvSpPr txBox="1"/>
          <p:nvPr/>
        </p:nvSpPr>
        <p:spPr>
          <a:xfrm>
            <a:off x="4078224" y="5266944"/>
            <a:ext cx="1892808" cy="292608"/>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Produktiver Einsatz</a:t>
            </a:r>
            <a:endParaRPr lang="de-DE" sz="1200" dirty="0"/>
          </a:p>
        </p:txBody>
      </p:sp>
      <p:sp>
        <p:nvSpPr>
          <p:cNvPr id="39" name="Text 29"/>
          <p:cNvSpPr txBox="1"/>
          <p:nvPr/>
        </p:nvSpPr>
        <p:spPr>
          <a:xfrm>
            <a:off x="4078224" y="5559552"/>
            <a:ext cx="1892808" cy="457200"/>
          </a:xfrm>
          <a:prstGeom prst="rect">
            <a:avLst/>
          </a:prstGeom>
          <a:noFill/>
          <a:ln/>
        </p:spPr>
        <p:txBody>
          <a:bodyPr wrap="square" lIns="0" tIns="0" rIns="0" bIns="0" rtlCol="0" anchor="t"/>
          <a:lstStyle/>
          <a:p>
            <a:pPr indent="0" marL="0">
              <a:buNone/>
            </a:pPr>
            <a:r>
              <a:rPr lang="de-DE" altLang="en-US" sz="1000" dirty="0">
                <a:solidFill>
                  <a:srgbClr val="A9BBD0"/>
                </a:solidFill>
                <a:latin typeface="Segoe UI" pitchFamily="34" charset="0"/>
                <a:ea typeface="Segoe UI" pitchFamily="34" charset="-122"/>
                <a:cs typeface="Segoe UI" pitchFamily="34" charset="-120"/>
              </a:rPr>
              <a:t>erfordert Monitoring, Governance und Rekalibrierung</a:t>
            </a:r>
            <a:endParaRPr lang="de-DE" sz="1000" dirty="0"/>
          </a:p>
        </p:txBody>
      </p:sp>
      <p:sp>
        <p:nvSpPr>
          <p:cNvPr id="40" name="Shape 30"/>
          <p:cNvSpPr/>
          <p:nvPr/>
        </p:nvSpPr>
        <p:spPr>
          <a:xfrm>
            <a:off x="6583680" y="1572768"/>
            <a:ext cx="5056632" cy="4690872"/>
          </a:xfrm>
          <a:prstGeom prst="roundRect">
            <a:avLst>
              <a:gd name="adj" fmla="val 2339"/>
            </a:avLst>
          </a:prstGeom>
          <a:solidFill>
            <a:srgbClr val="10213F">
              <a:alpha val="92000"/>
            </a:srgbClr>
          </a:solidFill>
          <a:ln w="12700">
            <a:solidFill>
              <a:srgbClr val="1E3A5F"/>
            </a:solidFill>
            <a:prstDash val="solid"/>
          </a:ln>
          <a:effectLst>
            <a:outerShdw sx="100000" sy="100000" kx="0" ky="0" algn="bl" rotWithShape="0" blurRad="228600" dist="50800" dir="5400000">
              <a:srgbClr val="22D3EE">
                <a:alpha val="32000"/>
              </a:srgbClr>
            </a:outerShdw>
          </a:effectLst>
        </p:spPr>
      </p:sp>
      <p:sp>
        <p:nvSpPr>
          <p:cNvPr id="41" name="Text 31"/>
          <p:cNvSpPr txBox="1"/>
          <p:nvPr/>
        </p:nvSpPr>
        <p:spPr>
          <a:xfrm>
            <a:off x="6858000" y="1755648"/>
            <a:ext cx="2743200" cy="237744"/>
          </a:xfrm>
          <a:prstGeom prst="rect">
            <a:avLst/>
          </a:prstGeom>
          <a:noFill/>
          <a:ln/>
        </p:spPr>
        <p:txBody>
          <a:bodyPr wrap="square" lIns="0" tIns="0" rIns="0" bIns="0" rtlCol="0" anchor="t"/>
          <a:lstStyle/>
          <a:p>
            <a:pPr indent="0" marL="0">
              <a:buNone/>
            </a:pPr>
            <a:r>
              <a:rPr lang="de-DE" altLang="en-US" sz="1000" b="1" spc="200" kern="0" dirty="0">
                <a:solidFill>
                  <a:srgbClr val="22D3EE"/>
                </a:solidFill>
                <a:latin typeface="Segoe UI" pitchFamily="34" charset="0"/>
                <a:ea typeface="Segoe UI" pitchFamily="34" charset="-122"/>
                <a:cs typeface="Segoe UI" pitchFamily="34" charset="-120"/>
              </a:rPr>
              <a:t>RESPONSIBLE USE</a:t>
            </a:r>
            <a:endParaRPr lang="de-DE" sz="1000" dirty="0"/>
          </a:p>
        </p:txBody>
      </p:sp>
      <p:sp>
        <p:nvSpPr>
          <p:cNvPr id="42" name="Shape 32"/>
          <p:cNvSpPr/>
          <p:nvPr/>
        </p:nvSpPr>
        <p:spPr>
          <a:xfrm>
            <a:off x="6858000" y="2139696"/>
            <a:ext cx="4507992" cy="768096"/>
          </a:xfrm>
          <a:prstGeom prst="roundRect">
            <a:avLst>
              <a:gd name="adj" fmla="val 9524"/>
            </a:avLst>
          </a:prstGeom>
          <a:solidFill>
            <a:srgbClr val="0B2440"/>
          </a:solidFill>
          <a:ln w="9525">
            <a:solidFill>
              <a:srgbClr val="1E3A5F"/>
            </a:solidFill>
            <a:prstDash val="solid"/>
          </a:ln>
        </p:spPr>
      </p:sp>
      <p:sp>
        <p:nvSpPr>
          <p:cNvPr id="43" name="Text 33"/>
          <p:cNvSpPr txBox="1"/>
          <p:nvPr/>
        </p:nvSpPr>
        <p:spPr>
          <a:xfrm>
            <a:off x="6995160" y="2139696"/>
            <a:ext cx="1920240" cy="7680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HIGH-Risk</a:t>
            </a:r>
            <a:endParaRPr lang="de-DE" sz="1200" dirty="0"/>
          </a:p>
        </p:txBody>
      </p:sp>
      <p:sp>
        <p:nvSpPr>
          <p:cNvPr id="44" name="Shape 34"/>
          <p:cNvSpPr/>
          <p:nvPr/>
        </p:nvSpPr>
        <p:spPr>
          <a:xfrm>
            <a:off x="8961120" y="2313432"/>
            <a:ext cx="420624" cy="420624"/>
          </a:xfrm>
          <a:prstGeom prst="ellipse">
            <a:avLst/>
          </a:prstGeom>
          <a:solidFill>
            <a:srgbClr val="F87171">
              <a:alpha val="20000"/>
            </a:srgbClr>
          </a:solidFill>
          <a:ln w="12700">
            <a:solidFill>
              <a:srgbClr val="F87171"/>
            </a:solidFill>
            <a:prstDash val="solid"/>
          </a:ln>
        </p:spPr>
      </p:sp>
      <p:sp>
        <p:nvSpPr>
          <p:cNvPr id="45" name="Text 35"/>
          <p:cNvSpPr txBox="1"/>
          <p:nvPr/>
        </p:nvSpPr>
        <p:spPr>
          <a:xfrm>
            <a:off x="8961120" y="2313432"/>
            <a:ext cx="420624" cy="402336"/>
          </a:xfrm>
          <a:prstGeom prst="rect">
            <a:avLst/>
          </a:prstGeom>
          <a:noFill/>
          <a:ln/>
        </p:spPr>
        <p:txBody>
          <a:bodyPr wrap="square" lIns="0" tIns="0" rIns="0" bIns="0" rtlCol="0" anchor="ctr"/>
          <a:lstStyle/>
          <a:p>
            <a:pPr algn="ctr" indent="0" marL="0">
              <a:buNone/>
            </a:pPr>
            <a:r>
              <a:rPr lang="de-DE" altLang="en-US" sz="1800" dirty="0">
                <a:solidFill>
                  <a:srgbClr val="F87171"/>
                </a:solidFill>
                <a:latin typeface="Segoe UI Semibold" pitchFamily="34" charset="0"/>
                <a:ea typeface="Segoe UI Semibold" pitchFamily="34" charset="-122"/>
                <a:cs typeface="Segoe UI Semibold" pitchFamily="34" charset="-120"/>
              </a:rPr>
              <a:t>≠</a:t>
            </a:r>
            <a:endParaRPr lang="de-DE" sz="1800" dirty="0"/>
          </a:p>
        </p:txBody>
      </p:sp>
      <p:sp>
        <p:nvSpPr>
          <p:cNvPr id="46" name="Text 36"/>
          <p:cNvSpPr txBox="1"/>
          <p:nvPr/>
        </p:nvSpPr>
        <p:spPr>
          <a:xfrm>
            <a:off x="9509760" y="2139696"/>
            <a:ext cx="1737360" cy="7680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pitchFamily="34" charset="0"/>
                <a:ea typeface="Segoe UI" pitchFamily="34" charset="-122"/>
                <a:cs typeface="Segoe UI" pitchFamily="34" charset="-120"/>
              </a:rPr>
              <a:t>automatische Ablehnung</a:t>
            </a:r>
            <a:endParaRPr lang="de-DE" sz="1200" dirty="0"/>
          </a:p>
        </p:txBody>
      </p:sp>
      <p:sp>
        <p:nvSpPr>
          <p:cNvPr id="47" name="Shape 37"/>
          <p:cNvSpPr/>
          <p:nvPr/>
        </p:nvSpPr>
        <p:spPr>
          <a:xfrm>
            <a:off x="6858000" y="3035808"/>
            <a:ext cx="4507992" cy="768096"/>
          </a:xfrm>
          <a:prstGeom prst="roundRect">
            <a:avLst>
              <a:gd name="adj" fmla="val 9524"/>
            </a:avLst>
          </a:prstGeom>
          <a:solidFill>
            <a:srgbClr val="0B2440"/>
          </a:solidFill>
          <a:ln w="9525">
            <a:solidFill>
              <a:srgbClr val="1E3A5F"/>
            </a:solidFill>
            <a:prstDash val="solid"/>
          </a:ln>
        </p:spPr>
      </p:sp>
      <p:sp>
        <p:nvSpPr>
          <p:cNvPr id="48" name="Text 38"/>
          <p:cNvSpPr txBox="1"/>
          <p:nvPr/>
        </p:nvSpPr>
        <p:spPr>
          <a:xfrm>
            <a:off x="6995160" y="3035808"/>
            <a:ext cx="1920240" cy="7680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Schadenbedarf</a:t>
            </a:r>
            <a:endParaRPr lang="de-DE" sz="1200" dirty="0"/>
          </a:p>
        </p:txBody>
      </p:sp>
      <p:sp>
        <p:nvSpPr>
          <p:cNvPr id="49" name="Shape 39"/>
          <p:cNvSpPr/>
          <p:nvPr/>
        </p:nvSpPr>
        <p:spPr>
          <a:xfrm>
            <a:off x="8961120" y="3209544"/>
            <a:ext cx="420624" cy="420624"/>
          </a:xfrm>
          <a:prstGeom prst="ellipse">
            <a:avLst/>
          </a:prstGeom>
          <a:solidFill>
            <a:srgbClr val="F87171">
              <a:alpha val="20000"/>
            </a:srgbClr>
          </a:solidFill>
          <a:ln w="12700">
            <a:solidFill>
              <a:srgbClr val="F87171"/>
            </a:solidFill>
            <a:prstDash val="solid"/>
          </a:ln>
        </p:spPr>
      </p:sp>
      <p:sp>
        <p:nvSpPr>
          <p:cNvPr id="50" name="Text 40"/>
          <p:cNvSpPr txBox="1"/>
          <p:nvPr/>
        </p:nvSpPr>
        <p:spPr>
          <a:xfrm>
            <a:off x="8961120" y="3209544"/>
            <a:ext cx="420624" cy="402336"/>
          </a:xfrm>
          <a:prstGeom prst="rect">
            <a:avLst/>
          </a:prstGeom>
          <a:noFill/>
          <a:ln/>
        </p:spPr>
        <p:txBody>
          <a:bodyPr wrap="square" lIns="0" tIns="0" rIns="0" bIns="0" rtlCol="0" anchor="ctr"/>
          <a:lstStyle/>
          <a:p>
            <a:pPr algn="ctr" indent="0" marL="0">
              <a:buNone/>
            </a:pPr>
            <a:r>
              <a:rPr lang="de-DE" altLang="en-US" sz="1800" dirty="0">
                <a:solidFill>
                  <a:srgbClr val="F87171"/>
                </a:solidFill>
                <a:latin typeface="Segoe UI Semibold" pitchFamily="34" charset="0"/>
                <a:ea typeface="Segoe UI Semibold" pitchFamily="34" charset="-122"/>
                <a:cs typeface="Segoe UI Semibold" pitchFamily="34" charset="-120"/>
              </a:rPr>
              <a:t>≠</a:t>
            </a:r>
            <a:endParaRPr lang="de-DE" sz="1800" dirty="0"/>
          </a:p>
        </p:txBody>
      </p:sp>
      <p:sp>
        <p:nvSpPr>
          <p:cNvPr id="51" name="Text 41"/>
          <p:cNvSpPr txBox="1"/>
          <p:nvPr/>
        </p:nvSpPr>
        <p:spPr>
          <a:xfrm>
            <a:off x="9509760" y="3035808"/>
            <a:ext cx="1737360" cy="7680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pitchFamily="34" charset="0"/>
                <a:ea typeface="Segoe UI" pitchFamily="34" charset="-122"/>
                <a:cs typeface="Segoe UI" pitchFamily="34" charset="-120"/>
              </a:rPr>
              <a:t>Kundenprämie</a:t>
            </a:r>
            <a:endParaRPr lang="de-DE" sz="1200" dirty="0"/>
          </a:p>
        </p:txBody>
      </p:sp>
      <p:sp>
        <p:nvSpPr>
          <p:cNvPr id="52" name="Shape 42"/>
          <p:cNvSpPr/>
          <p:nvPr/>
        </p:nvSpPr>
        <p:spPr>
          <a:xfrm>
            <a:off x="6858000" y="3931920"/>
            <a:ext cx="4507992" cy="768096"/>
          </a:xfrm>
          <a:prstGeom prst="roundRect">
            <a:avLst>
              <a:gd name="adj" fmla="val 9524"/>
            </a:avLst>
          </a:prstGeom>
          <a:solidFill>
            <a:srgbClr val="0B2440"/>
          </a:solidFill>
          <a:ln w="9525">
            <a:solidFill>
              <a:srgbClr val="1E3A5F"/>
            </a:solidFill>
            <a:prstDash val="solid"/>
          </a:ln>
        </p:spPr>
      </p:sp>
      <p:sp>
        <p:nvSpPr>
          <p:cNvPr id="53" name="Text 43"/>
          <p:cNvSpPr txBox="1"/>
          <p:nvPr/>
        </p:nvSpPr>
        <p:spPr>
          <a:xfrm>
            <a:off x="6995160" y="3931920"/>
            <a:ext cx="1920240" cy="7680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Modellprognose</a:t>
            </a:r>
            <a:endParaRPr lang="de-DE" sz="1200" dirty="0"/>
          </a:p>
        </p:txBody>
      </p:sp>
      <p:sp>
        <p:nvSpPr>
          <p:cNvPr id="54" name="Shape 44"/>
          <p:cNvSpPr/>
          <p:nvPr/>
        </p:nvSpPr>
        <p:spPr>
          <a:xfrm>
            <a:off x="8961120" y="4105656"/>
            <a:ext cx="420624" cy="420624"/>
          </a:xfrm>
          <a:prstGeom prst="ellipse">
            <a:avLst/>
          </a:prstGeom>
          <a:solidFill>
            <a:srgbClr val="F87171">
              <a:alpha val="20000"/>
            </a:srgbClr>
          </a:solidFill>
          <a:ln w="12700">
            <a:solidFill>
              <a:srgbClr val="F87171"/>
            </a:solidFill>
            <a:prstDash val="solid"/>
          </a:ln>
        </p:spPr>
      </p:sp>
      <p:sp>
        <p:nvSpPr>
          <p:cNvPr id="55" name="Text 45"/>
          <p:cNvSpPr txBox="1"/>
          <p:nvPr/>
        </p:nvSpPr>
        <p:spPr>
          <a:xfrm>
            <a:off x="8961120" y="4105656"/>
            <a:ext cx="420624" cy="402336"/>
          </a:xfrm>
          <a:prstGeom prst="rect">
            <a:avLst/>
          </a:prstGeom>
          <a:noFill/>
          <a:ln/>
        </p:spPr>
        <p:txBody>
          <a:bodyPr wrap="square" lIns="0" tIns="0" rIns="0" bIns="0" rtlCol="0" anchor="ctr"/>
          <a:lstStyle/>
          <a:p>
            <a:pPr algn="ctr" indent="0" marL="0">
              <a:buNone/>
            </a:pPr>
            <a:r>
              <a:rPr lang="de-DE" altLang="en-US" sz="1800" dirty="0">
                <a:solidFill>
                  <a:srgbClr val="F87171"/>
                </a:solidFill>
                <a:latin typeface="Segoe UI Semibold" pitchFamily="34" charset="0"/>
                <a:ea typeface="Segoe UI Semibold" pitchFamily="34" charset="-122"/>
                <a:cs typeface="Segoe UI Semibold" pitchFamily="34" charset="-120"/>
              </a:rPr>
              <a:t>≠</a:t>
            </a:r>
            <a:endParaRPr lang="de-DE" sz="1800" dirty="0"/>
          </a:p>
        </p:txBody>
      </p:sp>
      <p:sp>
        <p:nvSpPr>
          <p:cNvPr id="56" name="Text 46"/>
          <p:cNvSpPr txBox="1"/>
          <p:nvPr/>
        </p:nvSpPr>
        <p:spPr>
          <a:xfrm>
            <a:off x="9509760" y="3931920"/>
            <a:ext cx="1737360" cy="7680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pitchFamily="34" charset="0"/>
                <a:ea typeface="Segoe UI" pitchFamily="34" charset="-122"/>
                <a:cs typeface="Segoe UI" pitchFamily="34" charset="-120"/>
              </a:rPr>
              <a:t>Underwriting-Entscheidung</a:t>
            </a:r>
            <a:endParaRPr lang="de-DE" sz="1200" dirty="0"/>
          </a:p>
        </p:txBody>
      </p:sp>
      <p:sp>
        <p:nvSpPr>
          <p:cNvPr id="57" name="Shape 47"/>
          <p:cNvSpPr/>
          <p:nvPr/>
        </p:nvSpPr>
        <p:spPr>
          <a:xfrm>
            <a:off x="6858000" y="4828032"/>
            <a:ext cx="4507992" cy="768096"/>
          </a:xfrm>
          <a:prstGeom prst="roundRect">
            <a:avLst>
              <a:gd name="adj" fmla="val 9524"/>
            </a:avLst>
          </a:prstGeom>
          <a:solidFill>
            <a:srgbClr val="0B2440"/>
          </a:solidFill>
          <a:ln w="9525">
            <a:solidFill>
              <a:srgbClr val="1E3A5F"/>
            </a:solidFill>
            <a:prstDash val="solid"/>
          </a:ln>
        </p:spPr>
      </p:sp>
      <p:sp>
        <p:nvSpPr>
          <p:cNvPr id="58" name="Text 48"/>
          <p:cNvSpPr txBox="1"/>
          <p:nvPr/>
        </p:nvSpPr>
        <p:spPr>
          <a:xfrm>
            <a:off x="6995160" y="4828032"/>
            <a:ext cx="1920240" cy="7680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Semibold" pitchFamily="34" charset="0"/>
                <a:ea typeface="Segoe UI Semibold" pitchFamily="34" charset="-122"/>
                <a:cs typeface="Segoe UI Semibold" pitchFamily="34" charset="-120"/>
              </a:rPr>
              <a:t>Subgruppen-Diagnostik</a:t>
            </a:r>
            <a:endParaRPr lang="de-DE" sz="1200" dirty="0"/>
          </a:p>
        </p:txBody>
      </p:sp>
      <p:sp>
        <p:nvSpPr>
          <p:cNvPr id="59" name="Shape 49"/>
          <p:cNvSpPr/>
          <p:nvPr/>
        </p:nvSpPr>
        <p:spPr>
          <a:xfrm>
            <a:off x="8961120" y="5001768"/>
            <a:ext cx="420624" cy="420624"/>
          </a:xfrm>
          <a:prstGeom prst="ellipse">
            <a:avLst/>
          </a:prstGeom>
          <a:solidFill>
            <a:srgbClr val="F87171">
              <a:alpha val="20000"/>
            </a:srgbClr>
          </a:solidFill>
          <a:ln w="12700">
            <a:solidFill>
              <a:srgbClr val="F87171"/>
            </a:solidFill>
            <a:prstDash val="solid"/>
          </a:ln>
        </p:spPr>
      </p:sp>
      <p:sp>
        <p:nvSpPr>
          <p:cNvPr id="60" name="Text 50"/>
          <p:cNvSpPr txBox="1"/>
          <p:nvPr/>
        </p:nvSpPr>
        <p:spPr>
          <a:xfrm>
            <a:off x="8961120" y="5001768"/>
            <a:ext cx="420624" cy="402336"/>
          </a:xfrm>
          <a:prstGeom prst="rect">
            <a:avLst/>
          </a:prstGeom>
          <a:noFill/>
          <a:ln/>
        </p:spPr>
        <p:txBody>
          <a:bodyPr wrap="square" lIns="0" tIns="0" rIns="0" bIns="0" rtlCol="0" anchor="ctr"/>
          <a:lstStyle/>
          <a:p>
            <a:pPr algn="ctr" indent="0" marL="0">
              <a:buNone/>
            </a:pPr>
            <a:r>
              <a:rPr lang="de-DE" altLang="en-US" sz="1800" dirty="0">
                <a:solidFill>
                  <a:srgbClr val="F87171"/>
                </a:solidFill>
                <a:latin typeface="Segoe UI Semibold" pitchFamily="34" charset="0"/>
                <a:ea typeface="Segoe UI Semibold" pitchFamily="34" charset="-122"/>
                <a:cs typeface="Segoe UI Semibold" pitchFamily="34" charset="-120"/>
              </a:rPr>
              <a:t>≠</a:t>
            </a:r>
            <a:endParaRPr lang="de-DE" sz="1800" dirty="0"/>
          </a:p>
        </p:txBody>
      </p:sp>
      <p:sp>
        <p:nvSpPr>
          <p:cNvPr id="61" name="Text 51"/>
          <p:cNvSpPr txBox="1"/>
          <p:nvPr/>
        </p:nvSpPr>
        <p:spPr>
          <a:xfrm>
            <a:off x="9509760" y="4828032"/>
            <a:ext cx="1737360" cy="768096"/>
          </a:xfrm>
          <a:prstGeom prst="rect">
            <a:avLst/>
          </a:prstGeom>
          <a:noFill/>
          <a:ln/>
        </p:spPr>
        <p:txBody>
          <a:bodyPr wrap="square" lIns="0" tIns="0" rIns="0" bIns="0" rtlCol="0" anchor="ctr"/>
          <a:lstStyle/>
          <a:p>
            <a:pPr indent="0" marL="0">
              <a:buNone/>
            </a:pPr>
            <a:r>
              <a:rPr lang="de-DE" altLang="en-US" sz="1200" dirty="0">
                <a:solidFill>
                  <a:srgbClr val="EEF4FB"/>
                </a:solidFill>
                <a:latin typeface="Segoe UI" pitchFamily="34" charset="0"/>
                <a:ea typeface="Segoe UI" pitchFamily="34" charset="-122"/>
                <a:cs typeface="Segoe UI" pitchFamily="34" charset="-120"/>
              </a:rPr>
              <a:t>vollständiger Fairness-Nachweis</a:t>
            </a:r>
            <a:endParaRPr lang="de-DE" sz="1200" dirty="0"/>
          </a:p>
        </p:txBody>
      </p:sp>
      <p:pic>
        <p:nvPicPr>
          <p:cNvPr id="62" name="Image 8" descr="preencoded.png">    </p:cNvPr>
          <p:cNvPicPr>
            <a:picLocks noChangeAspect="1"/>
          </p:cNvPicPr>
          <p:nvPr/>
        </p:nvPicPr>
        <p:blipFill>
          <a:blip r:embed="rId10"/>
          <a:stretch>
            <a:fillRect/>
          </a:stretch>
        </p:blipFill>
        <p:spPr>
          <a:xfrm>
            <a:off x="6858000" y="5779008"/>
            <a:ext cx="274320" cy="274320"/>
          </a:xfrm>
          <a:prstGeom prst="rect">
            <a:avLst/>
          </a:prstGeom>
        </p:spPr>
      </p:pic>
      <p:sp>
        <p:nvSpPr>
          <p:cNvPr id="63" name="Text 52"/>
          <p:cNvSpPr txBox="1"/>
          <p:nvPr/>
        </p:nvSpPr>
        <p:spPr>
          <a:xfrm>
            <a:off x="7242048" y="5687568"/>
            <a:ext cx="4142232" cy="457200"/>
          </a:xfrm>
          <a:prstGeom prst="rect">
            <a:avLst/>
          </a:prstGeom>
          <a:noFill/>
          <a:ln/>
        </p:spPr>
        <p:txBody>
          <a:bodyPr wrap="square" lIns="0" tIns="0" rIns="0" bIns="0" rtlCol="0" anchor="ctr"/>
          <a:lstStyle/>
          <a:p>
            <a:pPr indent="0" marL="0">
              <a:buNone/>
            </a:pPr>
            <a:r>
              <a:rPr lang="de-DE" altLang="en-US" sz="1050" dirty="0">
                <a:solidFill>
                  <a:srgbClr val="A9BBD0"/>
                </a:solidFill>
                <a:latin typeface="Segoe UI" pitchFamily="34" charset="0"/>
                <a:ea typeface="Segoe UI" pitchFamily="34" charset="-122"/>
                <a:cs typeface="Segoe UI" pitchFamily="34" charset="-120"/>
              </a:rPr>
              <a:t>Merkmale wie Alter und Region vor produktiver Nutzung fachlich und regulatorisch prüfen.</a:t>
            </a:r>
            <a:endParaRPr lang="de-DE"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indent="0" marL="0">
              <a:buNone/>
            </a:pPr>
            <a:r>
              <a:rPr lang="de-DE" altLang="en-US" sz="1100" b="1" spc="300" kern="0" dirty="0">
                <a:solidFill>
                  <a:srgbClr val="22D3EE"/>
                </a:solidFill>
                <a:latin typeface="Segoe UI" pitchFamily="34" charset="0"/>
                <a:ea typeface="Segoe UI" pitchFamily="34" charset="-122"/>
                <a:cs typeface="Segoe UI" pitchFamily="34" charset="-120"/>
              </a:rPr>
              <a:t>FAZIT</a:t>
            </a:r>
            <a:endParaRPr lang="de-DE"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normAutofit/>
          </a:bodyPr>
          <a:lstStyle/>
          <a:p>
            <a:pPr indent="0" marL="0">
              <a:buNone/>
            </a:pPr>
            <a:r>
              <a:rPr lang="de-DE" altLang="en-US" sz="2800" dirty="0">
                <a:solidFill>
                  <a:srgbClr val="EEF4FB"/>
                </a:solidFill>
                <a:latin typeface="Segoe UI Semibold" pitchFamily="34" charset="0"/>
                <a:ea typeface="Segoe UI Semibold" pitchFamily="34" charset="-122"/>
                <a:cs typeface="Segoe UI Semibold" pitchFamily="34" charset="-120"/>
              </a:rPr>
              <a:t>Was die Plattform leistet</a:t>
            </a:r>
            <a:endParaRPr lang="de-DE" sz="2800" dirty="0"/>
          </a:p>
        </p:txBody>
      </p:sp>
      <p:sp>
        <p:nvSpPr>
          <p:cNvPr id="4" name="Text 2"/>
          <p:cNvSpPr txBox="1"/>
          <p:nvPr/>
        </p:nvSpPr>
        <p:spPr>
          <a:xfrm>
            <a:off x="548640" y="6455664"/>
            <a:ext cx="6400800" cy="219456"/>
          </a:xfrm>
          <a:prstGeom prst="rect">
            <a:avLst/>
          </a:prstGeom>
          <a:noFill/>
          <a:ln/>
        </p:spPr>
        <p:txBody>
          <a:bodyPr wrap="square" lIns="0" tIns="0" rIns="0" bIns="0" rtlCol="0" anchor="t"/>
          <a:lstStyle/>
          <a:p>
            <a:pPr indent="0" marL="0">
              <a:buNone/>
            </a:pPr>
            <a:r>
              <a:rPr lang="de-DE" altLang="en-US" sz="900" dirty="0">
                <a:solidFill>
                  <a:srgbClr val="7389A6"/>
                </a:solidFill>
                <a:latin typeface="Segoe UI" pitchFamily="34" charset="0"/>
                <a:ea typeface="Segoe UI" pitchFamily="34" charset="-122"/>
                <a:cs typeface="Segoe UI" pitchFamily="34" charset="-120"/>
              </a:rPr>
              <a:t>Kfz Insurance Risk &amp; Pure Premium Intelligence Platform</a:t>
            </a:r>
            <a:endParaRPr lang="de-DE" sz="900" dirty="0"/>
          </a:p>
        </p:txBody>
      </p:sp>
      <p:sp>
        <p:nvSpPr>
          <p:cNvPr id="5" name="Text 3"/>
          <p:cNvSpPr txBox="1"/>
          <p:nvPr/>
        </p:nvSpPr>
        <p:spPr>
          <a:xfrm>
            <a:off x="10725912" y="6455664"/>
            <a:ext cx="914400" cy="219456"/>
          </a:xfrm>
          <a:prstGeom prst="rect">
            <a:avLst/>
          </a:prstGeom>
          <a:noFill/>
          <a:ln/>
        </p:spPr>
        <p:txBody>
          <a:bodyPr wrap="square" lIns="0" tIns="0" rIns="0" bIns="0" rtlCol="0" anchor="t"/>
          <a:lstStyle/>
          <a:p>
            <a:pPr algn="r" indent="0" marL="0">
              <a:buNone/>
            </a:pPr>
            <a:r>
              <a:rPr lang="de-DE" altLang="en-US" sz="900" dirty="0">
                <a:solidFill>
                  <a:srgbClr val="7389A6"/>
                </a:solidFill>
                <a:latin typeface="Segoe UI" pitchFamily="34" charset="0"/>
                <a:ea typeface="Segoe UI" pitchFamily="34" charset="-122"/>
                <a:cs typeface="Segoe UI" pitchFamily="34" charset="-120"/>
              </a:rPr>
              <a:t>19 / 19</a:t>
            </a:r>
            <a:endParaRPr lang="de-DE" sz="900" dirty="0"/>
          </a:p>
        </p:txBody>
      </p:sp>
      <p:sp>
        <p:nvSpPr>
          <p:cNvPr id="6" name="Shape 4"/>
          <p:cNvSpPr/>
          <p:nvPr/>
        </p:nvSpPr>
        <p:spPr>
          <a:xfrm>
            <a:off x="548640" y="1600200"/>
            <a:ext cx="2601468" cy="2971800"/>
          </a:xfrm>
          <a:prstGeom prst="roundRect">
            <a:avLst>
              <a:gd name="adj" fmla="val 4218"/>
            </a:avLst>
          </a:prstGeom>
          <a:solidFill>
            <a:srgbClr val="10213F">
              <a:alpha val="92000"/>
            </a:srgbClr>
          </a:solidFill>
          <a:ln w="12700">
            <a:solidFill>
              <a:srgbClr val="1E3A5F"/>
            </a:solidFill>
            <a:prstDash val="solid"/>
          </a:ln>
        </p:spPr>
      </p:sp>
      <p:sp>
        <p:nvSpPr>
          <p:cNvPr id="7" name="Shape 5"/>
          <p:cNvSpPr/>
          <p:nvPr/>
        </p:nvSpPr>
        <p:spPr>
          <a:xfrm>
            <a:off x="777240" y="1856232"/>
            <a:ext cx="658368" cy="658368"/>
          </a:xfrm>
          <a:prstGeom prst="ellipse">
            <a:avLst/>
          </a:prstGeom>
          <a:solidFill>
            <a:srgbClr val="0E2A47"/>
          </a:solidFill>
          <a:ln w="12700">
            <a:solidFill>
              <a:srgbClr val="22D3EE">
                <a:alpha val="55000"/>
              </a:srgbClr>
            </a:solidFill>
            <a:prstDash val="solid"/>
          </a:ln>
        </p:spPr>
      </p:sp>
      <p:pic>
        <p:nvPicPr>
          <p:cNvPr id="8" name="Image 0" descr="preencoded.png">    </p:cNvPr>
          <p:cNvPicPr>
            <a:picLocks noChangeAspect="1"/>
          </p:cNvPicPr>
          <p:nvPr/>
        </p:nvPicPr>
        <p:blipFill>
          <a:blip r:embed="rId2"/>
          <a:stretch>
            <a:fillRect/>
          </a:stretch>
        </p:blipFill>
        <p:spPr>
          <a:xfrm>
            <a:off x="941832" y="2020824"/>
            <a:ext cx="329184" cy="329184"/>
          </a:xfrm>
          <a:prstGeom prst="rect">
            <a:avLst/>
          </a:prstGeom>
        </p:spPr>
      </p:pic>
      <p:sp>
        <p:nvSpPr>
          <p:cNvPr id="9" name="Text 6"/>
          <p:cNvSpPr txBox="1"/>
          <p:nvPr/>
        </p:nvSpPr>
        <p:spPr>
          <a:xfrm>
            <a:off x="777240" y="2697480"/>
            <a:ext cx="2144268" cy="658368"/>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Risiko transparent quantifizieren</a:t>
            </a:r>
            <a:endParaRPr lang="de-DE" sz="1500" dirty="0"/>
          </a:p>
        </p:txBody>
      </p:sp>
      <p:sp>
        <p:nvSpPr>
          <p:cNvPr id="10" name="Text 7"/>
          <p:cNvSpPr txBox="1"/>
          <p:nvPr/>
        </p:nvSpPr>
        <p:spPr>
          <a:xfrm>
            <a:off x="777240" y="3383280"/>
            <a:ext cx="2144268" cy="1051560"/>
          </a:xfrm>
          <a:prstGeom prst="rect">
            <a:avLst/>
          </a:prstGeom>
          <a:noFill/>
          <a:ln/>
        </p:spPr>
        <p:txBody>
          <a:bodyPr wrap="square" lIns="0" tIns="0" rIns="0" bIns="0" rtlCol="0" anchor="t"/>
          <a:lstStyle/>
          <a:p>
            <a:pPr indent="0" marL="0">
              <a:buNone/>
            </a:pPr>
            <a:r>
              <a:rPr lang="de-DE" altLang="en-US" sz="1300" dirty="0">
                <a:solidFill>
                  <a:srgbClr val="A9BBD0"/>
                </a:solidFill>
                <a:latin typeface="Segoe UI" pitchFamily="34" charset="0"/>
                <a:ea typeface="Segoe UI" pitchFamily="34" charset="-122"/>
                <a:cs typeface="Segoe UI" pitchFamily="34" charset="-120"/>
              </a:rPr>
              <a:t>Erwarteter Schaden je Police – zerlegbar in Häufigkeit und Schadenhöhe</a:t>
            </a:r>
            <a:endParaRPr lang="de-DE" sz="1300" dirty="0"/>
          </a:p>
        </p:txBody>
      </p:sp>
      <p:sp>
        <p:nvSpPr>
          <p:cNvPr id="11" name="Shape 8"/>
          <p:cNvSpPr/>
          <p:nvPr/>
        </p:nvSpPr>
        <p:spPr>
          <a:xfrm>
            <a:off x="3378708" y="1600200"/>
            <a:ext cx="2601468" cy="2971800"/>
          </a:xfrm>
          <a:prstGeom prst="roundRect">
            <a:avLst>
              <a:gd name="adj" fmla="val 4218"/>
            </a:avLst>
          </a:prstGeom>
          <a:solidFill>
            <a:srgbClr val="10213F">
              <a:alpha val="92000"/>
            </a:srgbClr>
          </a:solidFill>
          <a:ln w="12700">
            <a:solidFill>
              <a:srgbClr val="1E3A5F"/>
            </a:solidFill>
            <a:prstDash val="solid"/>
          </a:ln>
          <a:effectLst>
            <a:outerShdw sx="100000" sy="100000" kx="0" ky="0" algn="bl" rotWithShape="0" blurRad="228600" dist="50800" dir="5400000">
              <a:srgbClr val="F87171">
                <a:alpha val="32000"/>
              </a:srgbClr>
            </a:outerShdw>
          </a:effectLst>
        </p:spPr>
      </p:sp>
      <p:sp>
        <p:nvSpPr>
          <p:cNvPr id="12" name="Shape 9"/>
          <p:cNvSpPr/>
          <p:nvPr/>
        </p:nvSpPr>
        <p:spPr>
          <a:xfrm>
            <a:off x="3607308" y="1856232"/>
            <a:ext cx="658368" cy="658368"/>
          </a:xfrm>
          <a:prstGeom prst="ellipse">
            <a:avLst/>
          </a:prstGeom>
          <a:solidFill>
            <a:srgbClr val="0E2A47"/>
          </a:solidFill>
          <a:ln w="12700">
            <a:solidFill>
              <a:srgbClr val="F87171">
                <a:alpha val="55000"/>
              </a:srgbClr>
            </a:solidFill>
            <a:prstDash val="solid"/>
          </a:ln>
        </p:spPr>
      </p:sp>
      <p:pic>
        <p:nvPicPr>
          <p:cNvPr id="13" name="Image 1" descr="preencoded.png">    </p:cNvPr>
          <p:cNvPicPr>
            <a:picLocks noChangeAspect="1"/>
          </p:cNvPicPr>
          <p:nvPr/>
        </p:nvPicPr>
        <p:blipFill>
          <a:blip r:embed="rId3"/>
          <a:stretch>
            <a:fillRect/>
          </a:stretch>
        </p:blipFill>
        <p:spPr>
          <a:xfrm>
            <a:off x="3771900" y="2020824"/>
            <a:ext cx="329184" cy="329184"/>
          </a:xfrm>
          <a:prstGeom prst="rect">
            <a:avLst/>
          </a:prstGeom>
        </p:spPr>
      </p:pic>
      <p:sp>
        <p:nvSpPr>
          <p:cNvPr id="14" name="Text 10"/>
          <p:cNvSpPr txBox="1"/>
          <p:nvPr/>
        </p:nvSpPr>
        <p:spPr>
          <a:xfrm>
            <a:off x="3607308" y="2697480"/>
            <a:ext cx="2144268" cy="658368"/>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Gezielt priorisieren</a:t>
            </a:r>
            <a:endParaRPr lang="de-DE" sz="1500" dirty="0"/>
          </a:p>
        </p:txBody>
      </p:sp>
      <p:sp>
        <p:nvSpPr>
          <p:cNvPr id="15" name="Text 11"/>
          <p:cNvSpPr txBox="1"/>
          <p:nvPr/>
        </p:nvSpPr>
        <p:spPr>
          <a:xfrm>
            <a:off x="3607308" y="3383280"/>
            <a:ext cx="2144268" cy="1051560"/>
          </a:xfrm>
          <a:prstGeom prst="rect">
            <a:avLst/>
          </a:prstGeom>
          <a:noFill/>
          <a:ln/>
        </p:spPr>
        <p:txBody>
          <a:bodyPr wrap="square" lIns="0" tIns="0" rIns="0" bIns="0" rtlCol="0" anchor="t"/>
          <a:lstStyle/>
          <a:p>
            <a:pPr indent="0" marL="0">
              <a:buNone/>
            </a:pPr>
            <a:r>
              <a:rPr lang="de-DE" altLang="en-US" sz="1300" dirty="0">
                <a:solidFill>
                  <a:srgbClr val="A9BBD0"/>
                </a:solidFill>
                <a:latin typeface="Segoe UI" pitchFamily="34" charset="0"/>
                <a:ea typeface="Segoe UI" pitchFamily="34" charset="-122"/>
                <a:cs typeface="Segoe UI" pitchFamily="34" charset="-120"/>
              </a:rPr>
              <a:t>10 % der Policen tragen 32,1 % des erwarteten Schadens</a:t>
            </a:r>
            <a:endParaRPr lang="de-DE" sz="1300" dirty="0"/>
          </a:p>
        </p:txBody>
      </p:sp>
      <p:sp>
        <p:nvSpPr>
          <p:cNvPr id="16" name="Shape 12"/>
          <p:cNvSpPr/>
          <p:nvPr/>
        </p:nvSpPr>
        <p:spPr>
          <a:xfrm>
            <a:off x="6208776" y="1600200"/>
            <a:ext cx="2601468" cy="2971800"/>
          </a:xfrm>
          <a:prstGeom prst="roundRect">
            <a:avLst>
              <a:gd name="adj" fmla="val 4218"/>
            </a:avLst>
          </a:prstGeom>
          <a:solidFill>
            <a:srgbClr val="10213F">
              <a:alpha val="92000"/>
            </a:srgbClr>
          </a:solidFill>
          <a:ln w="12700">
            <a:solidFill>
              <a:srgbClr val="1E3A5F"/>
            </a:solidFill>
            <a:prstDash val="solid"/>
          </a:ln>
        </p:spPr>
      </p:sp>
      <p:sp>
        <p:nvSpPr>
          <p:cNvPr id="17" name="Shape 13"/>
          <p:cNvSpPr/>
          <p:nvPr/>
        </p:nvSpPr>
        <p:spPr>
          <a:xfrm>
            <a:off x="6437376" y="1856232"/>
            <a:ext cx="658368" cy="658368"/>
          </a:xfrm>
          <a:prstGeom prst="ellipse">
            <a:avLst/>
          </a:prstGeom>
          <a:solidFill>
            <a:srgbClr val="0E2A47"/>
          </a:solidFill>
          <a:ln w="12700">
            <a:solidFill>
              <a:srgbClr val="22D3EE">
                <a:alpha val="55000"/>
              </a:srgbClr>
            </a:solidFill>
            <a:prstDash val="solid"/>
          </a:ln>
        </p:spPr>
      </p:sp>
      <p:pic>
        <p:nvPicPr>
          <p:cNvPr id="18" name="Image 2" descr="preencoded.png">    </p:cNvPr>
          <p:cNvPicPr>
            <a:picLocks noChangeAspect="1"/>
          </p:cNvPicPr>
          <p:nvPr/>
        </p:nvPicPr>
        <p:blipFill>
          <a:blip r:embed="rId4"/>
          <a:stretch>
            <a:fillRect/>
          </a:stretch>
        </p:blipFill>
        <p:spPr>
          <a:xfrm>
            <a:off x="6601968" y="2020824"/>
            <a:ext cx="329184" cy="329184"/>
          </a:xfrm>
          <a:prstGeom prst="rect">
            <a:avLst/>
          </a:prstGeom>
        </p:spPr>
      </p:pic>
      <p:sp>
        <p:nvSpPr>
          <p:cNvPr id="19" name="Text 14"/>
          <p:cNvSpPr txBox="1"/>
          <p:nvPr/>
        </p:nvSpPr>
        <p:spPr>
          <a:xfrm>
            <a:off x="6437376" y="2697480"/>
            <a:ext cx="2144268" cy="658368"/>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Belastbare Datenbasis</a:t>
            </a:r>
            <a:endParaRPr lang="de-DE" sz="1500" dirty="0"/>
          </a:p>
        </p:txBody>
      </p:sp>
      <p:sp>
        <p:nvSpPr>
          <p:cNvPr id="20" name="Text 15"/>
          <p:cNvSpPr txBox="1"/>
          <p:nvPr/>
        </p:nvSpPr>
        <p:spPr>
          <a:xfrm>
            <a:off x="6437376" y="3383280"/>
            <a:ext cx="2144268" cy="1051560"/>
          </a:xfrm>
          <a:prstGeom prst="rect">
            <a:avLst/>
          </a:prstGeom>
          <a:noFill/>
          <a:ln/>
        </p:spPr>
        <p:txBody>
          <a:bodyPr wrap="square" lIns="0" tIns="0" rIns="0" bIns="0" rtlCol="0" anchor="t"/>
          <a:lstStyle/>
          <a:p>
            <a:pPr indent="0" marL="0">
              <a:buNone/>
            </a:pPr>
            <a:r>
              <a:rPr lang="de-DE" altLang="en-US" sz="1300" dirty="0">
                <a:solidFill>
                  <a:srgbClr val="A9BBD0"/>
                </a:solidFill>
                <a:latin typeface="Segoe UI" pitchFamily="34" charset="0"/>
                <a:ea typeface="Segoe UI" pitchFamily="34" charset="-122"/>
                <a:cs typeface="Segoe UI" pitchFamily="34" charset="-120"/>
              </a:rPr>
              <a:t>Verifizierte Rohdaten, dokumentierte DQ-Entscheidungen, keine Null-Imputation</a:t>
            </a:r>
            <a:endParaRPr lang="de-DE" sz="1300" dirty="0"/>
          </a:p>
        </p:txBody>
      </p:sp>
      <p:sp>
        <p:nvSpPr>
          <p:cNvPr id="21" name="Shape 16"/>
          <p:cNvSpPr/>
          <p:nvPr/>
        </p:nvSpPr>
        <p:spPr>
          <a:xfrm>
            <a:off x="9038844" y="1600200"/>
            <a:ext cx="2601468" cy="2971800"/>
          </a:xfrm>
          <a:prstGeom prst="roundRect">
            <a:avLst>
              <a:gd name="adj" fmla="val 4218"/>
            </a:avLst>
          </a:prstGeom>
          <a:solidFill>
            <a:srgbClr val="10213F">
              <a:alpha val="92000"/>
            </a:srgbClr>
          </a:solidFill>
          <a:ln w="12700">
            <a:solidFill>
              <a:srgbClr val="1E3A5F"/>
            </a:solidFill>
            <a:prstDash val="solid"/>
          </a:ln>
        </p:spPr>
      </p:sp>
      <p:sp>
        <p:nvSpPr>
          <p:cNvPr id="22" name="Shape 17"/>
          <p:cNvSpPr/>
          <p:nvPr/>
        </p:nvSpPr>
        <p:spPr>
          <a:xfrm>
            <a:off x="9267444" y="1856232"/>
            <a:ext cx="658368" cy="658368"/>
          </a:xfrm>
          <a:prstGeom prst="ellipse">
            <a:avLst/>
          </a:prstGeom>
          <a:solidFill>
            <a:srgbClr val="0E2A47"/>
          </a:solidFill>
          <a:ln w="12700">
            <a:solidFill>
              <a:srgbClr val="22D3EE">
                <a:alpha val="55000"/>
              </a:srgbClr>
            </a:solidFill>
            <a:prstDash val="solid"/>
          </a:ln>
        </p:spPr>
      </p:sp>
      <p:pic>
        <p:nvPicPr>
          <p:cNvPr id="23" name="Image 3" descr="preencoded.png">    </p:cNvPr>
          <p:cNvPicPr>
            <a:picLocks noChangeAspect="1"/>
          </p:cNvPicPr>
          <p:nvPr/>
        </p:nvPicPr>
        <p:blipFill>
          <a:blip r:embed="rId5"/>
          <a:stretch>
            <a:fillRect/>
          </a:stretch>
        </p:blipFill>
        <p:spPr>
          <a:xfrm>
            <a:off x="9432036" y="2020824"/>
            <a:ext cx="329184" cy="329184"/>
          </a:xfrm>
          <a:prstGeom prst="rect">
            <a:avLst/>
          </a:prstGeom>
        </p:spPr>
      </p:pic>
      <p:sp>
        <p:nvSpPr>
          <p:cNvPr id="24" name="Text 18"/>
          <p:cNvSpPr txBox="1"/>
          <p:nvPr/>
        </p:nvSpPr>
        <p:spPr>
          <a:xfrm>
            <a:off x="9267444" y="2697480"/>
            <a:ext cx="2144268" cy="658368"/>
          </a:xfrm>
          <a:prstGeom prst="rect">
            <a:avLst/>
          </a:prstGeom>
          <a:noFill/>
          <a:ln/>
        </p:spPr>
        <p:txBody>
          <a:bodyPr wrap="square" lIns="0" tIns="0" rIns="0" bIns="0" rtlCol="0" anchor="t"/>
          <a:lstStyle/>
          <a:p>
            <a:pPr indent="0" marL="0">
              <a:buNone/>
            </a:pPr>
            <a:r>
              <a:rPr lang="de-DE" altLang="en-US" sz="1500" dirty="0">
                <a:solidFill>
                  <a:srgbClr val="EEF4FB"/>
                </a:solidFill>
                <a:latin typeface="Segoe UI Semibold" pitchFamily="34" charset="0"/>
                <a:ea typeface="Segoe UI Semibold" pitchFamily="34" charset="-122"/>
                <a:cs typeface="Segoe UI Semibold" pitchFamily="34" charset="-120"/>
              </a:rPr>
              <a:t>Nutzbar statt nur analysiert</a:t>
            </a:r>
            <a:endParaRPr lang="de-DE" sz="1500" dirty="0"/>
          </a:p>
        </p:txBody>
      </p:sp>
      <p:sp>
        <p:nvSpPr>
          <p:cNvPr id="25" name="Text 19"/>
          <p:cNvSpPr txBox="1"/>
          <p:nvPr/>
        </p:nvSpPr>
        <p:spPr>
          <a:xfrm>
            <a:off x="9267444" y="3383280"/>
            <a:ext cx="2144268" cy="1051560"/>
          </a:xfrm>
          <a:prstGeom prst="rect">
            <a:avLst/>
          </a:prstGeom>
          <a:noFill/>
          <a:ln/>
        </p:spPr>
        <p:txBody>
          <a:bodyPr wrap="square" lIns="0" tIns="0" rIns="0" bIns="0" rtlCol="0" anchor="t"/>
          <a:lstStyle/>
          <a:p>
            <a:pPr indent="0" marL="0">
              <a:buNone/>
            </a:pPr>
            <a:r>
              <a:rPr lang="de-DE" altLang="en-US" sz="1300" dirty="0">
                <a:solidFill>
                  <a:srgbClr val="A9BBD0"/>
                </a:solidFill>
                <a:latin typeface="Segoe UI" pitchFamily="34" charset="0"/>
                <a:ea typeface="Segoe UI" pitchFamily="34" charset="-122"/>
                <a:cs typeface="Segoe UI" pitchFamily="34" charset="-120"/>
              </a:rPr>
              <a:t>PostgreSQL, Power-BI-Dashboard und prototypische API</a:t>
            </a:r>
            <a:endParaRPr lang="de-DE" sz="1300" dirty="0"/>
          </a:p>
        </p:txBody>
      </p:sp>
      <p:sp>
        <p:nvSpPr>
          <p:cNvPr id="26" name="Shape 20"/>
          <p:cNvSpPr/>
          <p:nvPr/>
        </p:nvSpPr>
        <p:spPr>
          <a:xfrm>
            <a:off x="548640" y="4828032"/>
            <a:ext cx="11091672" cy="932688"/>
          </a:xfrm>
          <a:prstGeom prst="roundRect">
            <a:avLst>
              <a:gd name="adj" fmla="val 11765"/>
            </a:avLst>
          </a:prstGeom>
          <a:solidFill>
            <a:srgbClr val="10213F">
              <a:alpha val="92000"/>
            </a:srgbClr>
          </a:solidFill>
          <a:ln w="12700">
            <a:solidFill>
              <a:srgbClr val="22D3EE"/>
            </a:solidFill>
            <a:prstDash val="solid"/>
          </a:ln>
          <a:effectLst>
            <a:outerShdw sx="100000" sy="100000" kx="0" ky="0" algn="bl" rotWithShape="0" blurRad="228600" dist="50800" dir="5400000">
              <a:srgbClr val="22D3EE">
                <a:alpha val="32000"/>
              </a:srgbClr>
            </a:outerShdw>
          </a:effectLst>
        </p:spPr>
      </p:sp>
      <p:sp>
        <p:nvSpPr>
          <p:cNvPr id="27" name="Text 21"/>
          <p:cNvSpPr txBox="1"/>
          <p:nvPr/>
        </p:nvSpPr>
        <p:spPr>
          <a:xfrm>
            <a:off x="731520" y="4828032"/>
            <a:ext cx="10725912" cy="932688"/>
          </a:xfrm>
          <a:prstGeom prst="rect">
            <a:avLst/>
          </a:prstGeom>
          <a:noFill/>
          <a:ln/>
        </p:spPr>
        <p:txBody>
          <a:bodyPr wrap="square" lIns="0" tIns="0" rIns="0" bIns="0" rtlCol="0" anchor="ctr"/>
          <a:lstStyle/>
          <a:p>
            <a:pPr algn="ctr" indent="0" marL="0">
              <a:buNone/>
            </a:pPr>
            <a:r>
              <a:rPr lang="de-DE" altLang="en-US" sz="2100" dirty="0">
                <a:solidFill>
                  <a:srgbClr val="EEF4FB"/>
                </a:solidFill>
                <a:latin typeface="Segoe UI Semibold" pitchFamily="34" charset="0"/>
                <a:ea typeface="Segoe UI Semibold" pitchFamily="34" charset="-122"/>
                <a:cs typeface="Segoe UI Semibold" pitchFamily="34" charset="-120"/>
              </a:rPr>
              <a:t>Risiko transparent quantifizieren – Entscheidungen unterstützen, nicht ersetzen.</a:t>
            </a:r>
            <a:endParaRPr lang="de-DE" sz="2100" dirty="0"/>
          </a:p>
        </p:txBody>
      </p:sp>
      <p:sp>
        <p:nvSpPr>
          <p:cNvPr id="28" name="Text 22"/>
          <p:cNvSpPr txBox="1"/>
          <p:nvPr/>
        </p:nvSpPr>
        <p:spPr>
          <a:xfrm>
            <a:off x="548640" y="5897880"/>
            <a:ext cx="11091672" cy="365760"/>
          </a:xfrm>
          <a:prstGeom prst="rect">
            <a:avLst/>
          </a:prstGeom>
          <a:noFill/>
          <a:ln/>
        </p:spPr>
        <p:txBody>
          <a:bodyPr wrap="square" lIns="0" tIns="0" rIns="0" bIns="0" rtlCol="0" anchor="ctr"/>
          <a:lstStyle/>
          <a:p>
            <a:pPr algn="ctr" indent="0" marL="0">
              <a:buNone/>
            </a:pPr>
            <a:r>
              <a:rPr lang="de-DE" altLang="en-US" sz="1300" dirty="0">
                <a:solidFill>
                  <a:srgbClr val="22D3EE"/>
                </a:solidFill>
                <a:latin typeface="Segoe UI" pitchFamily="34" charset="0"/>
                <a:ea typeface="Segoe UI" pitchFamily="34" charset="-122"/>
                <a:cs typeface="Segoe UI" pitchFamily="34" charset="-120"/>
              </a:rPr>
              <a:t>Vielen Dank für Ihre Aufmerksamkeit – ich freue mich auf Ihre Fragen.</a:t>
            </a:r>
            <a:endParaRPr lang="de-DE"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Kfz Insurance Risk &amp; Pure Premium Intelligence Platform – Abschlusspräsentation</dc:title>
  <dc:subject>Abschlusspräsentation</dc:subject>
  <dc:creator>Mesut Karagöz</dc:creator>
  <cp:lastModifiedBy>Mesut Karagöz</cp:lastModifiedBy>
  <cp:revision>1</cp:revision>
  <dcterms:created xsi:type="dcterms:W3CDTF">2026-09-17T11:11:13Z</dcterms:created>
  <dcterms:modified xsi:type="dcterms:W3CDTF">2026-09-17T11:11:13Z</dcterms:modified>
</cp:coreProperties>
</file>
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webextensions/webextension2.xml" ContentType="application/vnd.ms-office.webextension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3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webextensions/webextension4.xml" ContentType="application/vnd.ms-office.webextension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8979" autoAdjust="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2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65–74</c:v>
                </c:pt>
                <c:pt idx="6">
                  <c:v>75+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2.4</c:v>
                </c:pt>
                <c:pt idx="1">
                  <c:v>1.5</c:v>
                </c:pt>
                <c:pt idx="2">
                  <c:v>-2.7</c:v>
                </c:pt>
                <c:pt idx="3">
                  <c:v>-0.1</c:v>
                </c:pt>
                <c:pt idx="4">
                  <c:v>1.1000000000000001</c:v>
                </c:pt>
                <c:pt idx="5">
                  <c:v>5.2</c:v>
                </c:pt>
                <c:pt idx="6">
                  <c:v>-11.6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19-46E7-81A6-1AA429EA04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65–74</c:v>
                </c:pt>
                <c:pt idx="6">
                  <c:v>75+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74.3</c:v>
                </c:pt>
                <c:pt idx="1">
                  <c:v>16.7</c:v>
                </c:pt>
                <c:pt idx="2">
                  <c:v>-2.2000000000000002</c:v>
                </c:pt>
                <c:pt idx="3">
                  <c:v>-16.399999999999999</c:v>
                </c:pt>
                <c:pt idx="4">
                  <c:v>31.5</c:v>
                </c:pt>
                <c:pt idx="5">
                  <c:v>6.8</c:v>
                </c:pt>
                <c:pt idx="6">
                  <c:v>-45.2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19-46E7-81A6-1AA429EA04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Tweedie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65–74</c:v>
                </c:pt>
                <c:pt idx="6">
                  <c:v>75+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114.2</c:v>
                </c:pt>
                <c:pt idx="1">
                  <c:v>4.0999999999999996</c:v>
                </c:pt>
                <c:pt idx="2">
                  <c:v>-1.3</c:v>
                </c:pt>
                <c:pt idx="3">
                  <c:v>-12.8</c:v>
                </c:pt>
                <c:pt idx="4">
                  <c:v>33.200000000000003</c:v>
                </c:pt>
                <c:pt idx="5">
                  <c:v>16.100000000000001</c:v>
                </c:pt>
                <c:pt idx="6">
                  <c:v>-47.5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19-46E7-81A6-1AA429EA0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557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EF4FB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-60"/>
        </c:scaling>
        <c:delete val="0"/>
        <c:axPos val="l"/>
        <c:majorGridlines>
          <c:spPr>
            <a:ln w="9525" cap="flat">
              <a:solidFill>
                <a:srgbClr val="1E3A5F"/>
              </a:solidFill>
              <a:prstDash val="solid"/>
              <a:round/>
            </a:ln>
          </c:spPr>
        </c:majorGridlines>
        <c:numFmt formatCode="\+0&quot; %&quot;;\-0&quot; %&quot;;0&quot; 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BD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27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11/relationships/webextension" Target="../webextensions/webextension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b="1" kern="0" spc="4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ABSCHLUSSPRÄSENTATION</a:t>
            </a:r>
            <a:endParaRPr lang="de-DE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955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Kfz Insurance Risk &amp;</a:t>
            </a:r>
            <a:endParaRPr lang="de-DE" sz="3400" dirty="0"/>
          </a:p>
          <a:p>
            <a:pPr marL="0" indent="0">
              <a:buNone/>
            </a:pPr>
            <a:r>
              <a:rPr lang="de-DE" altLang="en-US" sz="3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Pure Premium Intelligence Platform</a:t>
            </a:r>
            <a:endParaRPr lang="de-DE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8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Datenbasierte Risikobewertung und Schadenbedarf</a:t>
            </a:r>
            <a:endParaRPr lang="de-DE" sz="1800" dirty="0"/>
          </a:p>
          <a:p>
            <a:pPr marL="0" indent="0">
              <a:buNone/>
            </a:pPr>
            <a:r>
              <a:rPr lang="de-DE" altLang="en-US" sz="18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der Kfz-Versicherung</a:t>
            </a:r>
            <a:endParaRPr lang="de-DE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45152"/>
            <a:ext cx="139446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731520" y="4645152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Datenqualität</a:t>
            </a:r>
            <a:endParaRPr lang="de-DE" sz="1050" dirty="0"/>
          </a:p>
        </p:txBody>
      </p:sp>
      <p:sp>
        <p:nvSpPr>
          <p:cNvPr id="7" name="Shape 5"/>
          <p:cNvSpPr/>
          <p:nvPr/>
        </p:nvSpPr>
        <p:spPr>
          <a:xfrm>
            <a:off x="2253996" y="4645152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2253996" y="464515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Modellierung</a:t>
            </a:r>
            <a:endParaRPr lang="de-DE" sz="1050" dirty="0"/>
          </a:p>
        </p:txBody>
      </p:sp>
      <p:sp>
        <p:nvSpPr>
          <p:cNvPr id="9" name="Shape 7"/>
          <p:cNvSpPr/>
          <p:nvPr/>
        </p:nvSpPr>
        <p:spPr>
          <a:xfrm>
            <a:off x="3698748" y="4645152"/>
            <a:ext cx="1860804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3698748" y="4645152"/>
            <a:ext cx="1860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Risikosegmentierung</a:t>
            </a:r>
            <a:endParaRPr lang="de-DE" sz="1050" dirty="0"/>
          </a:p>
        </p:txBody>
      </p:sp>
      <p:sp>
        <p:nvSpPr>
          <p:cNvPr id="11" name="Shape 9"/>
          <p:cNvSpPr/>
          <p:nvPr/>
        </p:nvSpPr>
        <p:spPr>
          <a:xfrm>
            <a:off x="5687568" y="464515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5687568" y="46451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de-DE" sz="1050" dirty="0"/>
          </a:p>
        </p:txBody>
      </p:sp>
      <p:sp>
        <p:nvSpPr>
          <p:cNvPr id="13" name="Shape 11"/>
          <p:cNvSpPr/>
          <p:nvPr/>
        </p:nvSpPr>
        <p:spPr>
          <a:xfrm>
            <a:off x="6821424" y="4645152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6821424" y="4645152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de-DE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Mesut Karagöz – </a:t>
            </a:r>
            <a:r>
              <a:rPr lang="de-DE" altLang="en-US" sz="1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Scientist</a:t>
            </a:r>
            <a:endParaRPr lang="de-DE" sz="1200" dirty="0">
              <a:solidFill>
                <a:srgbClr val="22D3EE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Abschlussprojekt · 2026</a:t>
            </a:r>
            <a:endParaRPr lang="de-DE" sz="1200" dirty="0"/>
          </a:p>
        </p:txBody>
      </p:sp>
      <p:sp>
        <p:nvSpPr>
          <p:cNvPr id="17" name="Shape 15"/>
          <p:cNvSpPr/>
          <p:nvPr/>
        </p:nvSpPr>
        <p:spPr>
          <a:xfrm>
            <a:off x="8531352" y="1581912"/>
            <a:ext cx="2962656" cy="2962656"/>
          </a:xfrm>
          <a:prstGeom prst="ellipse">
            <a:avLst/>
          </a:prstGeom>
          <a:solidFill>
            <a:srgbClr val="0A1628">
              <a:alpha val="0"/>
            </a:srgbClr>
          </a:solidFill>
          <a:ln w="15875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052560" y="2103120"/>
            <a:ext cx="1920240" cy="1920240"/>
          </a:xfrm>
          <a:prstGeom prst="ellipse">
            <a:avLst/>
          </a:prstGeom>
          <a:solidFill>
            <a:srgbClr val="0E2A47">
              <a:alpha val="90000"/>
            </a:srgbClr>
          </a:solidFill>
          <a:ln w="19050">
            <a:solidFill>
              <a:srgbClr val="22D3EE">
                <a:alpha val="80000"/>
              </a:srgbClr>
            </a:solidFill>
            <a:prstDash val="solid"/>
          </a:ln>
          <a:effectLst>
            <a:outerShdw blurRad="381000" dist="50800" dir="5400000" algn="bl" rotWithShape="0">
              <a:srgbClr val="22D3EE">
                <a:alpha val="4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560320"/>
            <a:ext cx="1005840" cy="10058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665208" y="1234440"/>
            <a:ext cx="694944" cy="694944"/>
          </a:xfrm>
          <a:prstGeom prst="ellipse">
            <a:avLst/>
          </a:prstGeom>
          <a:solidFill>
            <a:srgbClr val="0B2038"/>
          </a:solidFill>
          <a:ln w="15875">
            <a:solidFill>
              <a:srgbClr val="2DD4BF">
                <a:alpha val="80000"/>
              </a:srgbClr>
            </a:solidFill>
            <a:prstDash val="solid"/>
          </a:ln>
          <a:effectLst>
            <a:outerShdw blurRad="177800" dist="50800" dir="5400000" algn="bl" rotWithShape="0">
              <a:srgbClr val="2DD4BF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399032"/>
            <a:ext cx="365760" cy="3657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382340" y="3456432"/>
            <a:ext cx="694944" cy="694944"/>
          </a:xfrm>
          <a:prstGeom prst="ellipse">
            <a:avLst/>
          </a:prstGeom>
          <a:solidFill>
            <a:srgbClr val="0B2038"/>
          </a:solidFill>
          <a:ln w="15875">
            <a:solidFill>
              <a:srgbClr val="2DD4BF">
                <a:alpha val="80000"/>
              </a:srgbClr>
            </a:solidFill>
            <a:prstDash val="solid"/>
          </a:ln>
          <a:effectLst>
            <a:outerShdw blurRad="177800" dist="50800" dir="5400000" algn="bl" rotWithShape="0">
              <a:srgbClr val="2DD4BF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6932" y="3621024"/>
            <a:ext cx="365760" cy="3657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948076" y="3456432"/>
            <a:ext cx="694944" cy="694944"/>
          </a:xfrm>
          <a:prstGeom prst="ellipse">
            <a:avLst/>
          </a:prstGeom>
          <a:solidFill>
            <a:srgbClr val="0B2038"/>
          </a:solidFill>
          <a:ln w="15875">
            <a:solidFill>
              <a:srgbClr val="2DD4BF">
                <a:alpha val="80000"/>
              </a:srgbClr>
            </a:solidFill>
            <a:prstDash val="solid"/>
          </a:ln>
          <a:effectLst>
            <a:outerShdw blurRad="177800" dist="50800" dir="5400000" algn="bl" rotWithShape="0">
              <a:srgbClr val="2DD4BF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2668" y="362102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AUSGANGSLAGE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Warum die Schadensumme allein nicht ausreicht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46504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1888236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72768" y="17099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Schadenfrequenz</a:t>
            </a:r>
            <a:endParaRPr lang="de-DE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572768" y="20482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häufig treten Schäden auf?</a:t>
            </a:r>
            <a:endParaRPr lang="de-DE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777240" y="2825496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296722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72768" y="27889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Schadenhöhe</a:t>
            </a:r>
            <a:endParaRPr lang="de-DE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572768" y="31272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teuer ist ein Schaden, wenn er eintritt?</a:t>
            </a:r>
            <a:endParaRPr lang="de-DE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730752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777240" y="390448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404622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72768" y="38679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</a:t>
            </a:r>
            <a:endParaRPr lang="de-DE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572768" y="42062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lange war eine Police tatsächlich unter Risiko?</a:t>
            </a:r>
            <a:endParaRPr lang="de-DE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846320"/>
            <a:ext cx="6675120" cy="1417320"/>
          </a:xfrm>
          <a:prstGeom prst="roundRect">
            <a:avLst>
              <a:gd name="adj" fmla="val 774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7"/>
          <p:cNvSpPr txBox="1"/>
          <p:nvPr/>
        </p:nvSpPr>
        <p:spPr>
          <a:xfrm>
            <a:off x="822960" y="498348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SCHADENBEDARF (PURE PREMIUM)</a:t>
            </a:r>
            <a:endParaRPr lang="de-DE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2578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1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 Frequenz</a:t>
            </a:r>
            <a:r>
              <a:rPr lang="de-DE" altLang="en-US" sz="21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×  </a:t>
            </a:r>
            <a:r>
              <a:rPr lang="de-DE" altLang="en-US" sz="210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 Schadenhöhe</a:t>
            </a:r>
            <a:endParaRPr lang="de-DE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7424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statistisch erwartete jährliche Schadenkosten je Police – kein Kundenpreis</a:t>
            </a:r>
            <a:endParaRPr lang="de-DE" sz="1250" dirty="0"/>
          </a:p>
        </p:txBody>
      </p:sp>
      <p:sp>
        <p:nvSpPr>
          <p:cNvPr id="25" name="Shape 20"/>
          <p:cNvSpPr/>
          <p:nvPr/>
        </p:nvSpPr>
        <p:spPr>
          <a:xfrm>
            <a:off x="7452360" y="1572768"/>
            <a:ext cx="4187952" cy="2331720"/>
          </a:xfrm>
          <a:prstGeom prst="roundRect">
            <a:avLst>
              <a:gd name="adj" fmla="val 4706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1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ZENTRALE FRAGESTELLUNG</a:t>
            </a:r>
            <a:endParaRPr lang="de-DE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7726680" y="20574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50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„Welche annualisierten Schadenkosten sind für unterschiedliche Versicherungsprofile statistisch zu erwarten – und wie können Underwriting und Portfoliosteuerung dadurch datenbasiert unterstützt werden?“</a:t>
            </a:r>
            <a:endParaRPr lang="de-DE" sz="1500" dirty="0"/>
          </a:p>
        </p:txBody>
      </p:sp>
      <p:sp>
        <p:nvSpPr>
          <p:cNvPr id="28" name="Shape 23"/>
          <p:cNvSpPr/>
          <p:nvPr/>
        </p:nvSpPr>
        <p:spPr>
          <a:xfrm>
            <a:off x="7452360" y="4069080"/>
            <a:ext cx="4187952" cy="1024128"/>
          </a:xfrm>
          <a:prstGeom prst="roundRect">
            <a:avLst>
              <a:gd name="adj" fmla="val 1071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422452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183880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ZIELGRUPPEN</a:t>
            </a:r>
            <a:endParaRPr lang="de-DE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726680" y="45994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Underwriting · Portfoliosteuerung · Data &amp; Business Analytics</a:t>
            </a:r>
            <a:endParaRPr lang="de-DE" sz="1200" dirty="0"/>
          </a:p>
        </p:txBody>
      </p:sp>
      <p:sp>
        <p:nvSpPr>
          <p:cNvPr id="32" name="Shape 26"/>
          <p:cNvSpPr/>
          <p:nvPr/>
        </p:nvSpPr>
        <p:spPr>
          <a:xfrm>
            <a:off x="7452360" y="5257800"/>
            <a:ext cx="4187952" cy="1005840"/>
          </a:xfrm>
          <a:prstGeom prst="roundRect">
            <a:avLst>
              <a:gd name="adj" fmla="val 1090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5413248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183880" y="5431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ENTSCHEIDUNGSUNTERSTÜTZUNG</a:t>
            </a:r>
            <a:endParaRPr lang="de-DE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726680" y="57881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Tarifierung · keine automatischen Entscheidungen</a:t>
            </a:r>
            <a:endParaRPr lang="de-DE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DATENBASIS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Zwei öffentliche Datensätze – eine Zeile pro Police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977640" cy="2286000"/>
          </a:xfrm>
          <a:prstGeom prst="roundRect">
            <a:avLst>
              <a:gd name="adj" fmla="val 48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502920" cy="5029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1899666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55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freMTPL2freq</a:t>
            </a:r>
            <a:endParaRPr lang="de-DE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Policen &amp; Risikomerkmale</a:t>
            </a:r>
            <a:endParaRPr lang="de-DE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4414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678.013</a:t>
            </a:r>
            <a:endParaRPr lang="de-DE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Policen · 12 Spalten</a:t>
            </a:r>
            <a:endParaRPr lang="de-DE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369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Schadenanzahl &amp; Exposure · Fahreralter, Bonus-Malus, Fahrzeug, Region</a:t>
            </a:r>
            <a:endParaRPr lang="de-DE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995928"/>
            <a:ext cx="3977640" cy="2267712"/>
          </a:xfrm>
          <a:prstGeom prst="roundRect">
            <a:avLst>
              <a:gd name="adj" fmla="val 48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777240" y="4197096"/>
            <a:ext cx="502920" cy="5029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4322826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17320" y="4178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freMTPL2sev</a:t>
            </a:r>
            <a:endParaRPr lang="de-DE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4453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Einzelne Schadenbeträge</a:t>
            </a:r>
            <a:endParaRPr lang="de-DE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8646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26.639</a:t>
            </a:r>
            <a:endParaRPr lang="de-DE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5367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Schadenrecords · Policen-ID &amp; Betrag</a:t>
            </a:r>
            <a:endParaRPr lang="de-DE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56601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Mehrere Schäden je Police möglich</a:t>
            </a:r>
            <a:endParaRPr lang="de-DE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Schäden je Police aggregieren</a:t>
            </a:r>
            <a:endParaRPr lang="de-DE" sz="1050" dirty="0"/>
          </a:p>
        </p:txBody>
      </p:sp>
      <p:sp>
        <p:nvSpPr>
          <p:cNvPr id="23" name="Shape 19"/>
          <p:cNvSpPr/>
          <p:nvPr/>
        </p:nvSpPr>
        <p:spPr>
          <a:xfrm>
            <a:off x="4800600" y="3520440"/>
            <a:ext cx="1280160" cy="502920"/>
          </a:xfrm>
          <a:prstGeom prst="rightArrow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0"/>
          <p:cNvSpPr txBox="1"/>
          <p:nvPr/>
        </p:nvSpPr>
        <p:spPr>
          <a:xfrm>
            <a:off x="461772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Join über IDpol</a:t>
            </a:r>
            <a:endParaRPr lang="de-DE" sz="1050" dirty="0"/>
          </a:p>
        </p:txBody>
      </p:sp>
      <p:sp>
        <p:nvSpPr>
          <p:cNvPr id="25" name="Shape 21"/>
          <p:cNvSpPr/>
          <p:nvPr/>
        </p:nvSpPr>
        <p:spPr>
          <a:xfrm>
            <a:off x="6355080" y="1572768"/>
            <a:ext cx="5285232" cy="3246120"/>
          </a:xfrm>
          <a:prstGeom prst="roundRect">
            <a:avLst>
              <a:gd name="adj" fmla="val 338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2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92024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69480" y="17647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Curated Policy Layer</a:t>
            </a:r>
            <a:endParaRPr lang="de-DE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7269480" y="2084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Analyse- und Modellierungsbasis</a:t>
            </a:r>
            <a:endParaRPr lang="de-DE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6583680" y="24871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678.013</a:t>
            </a:r>
            <a:r>
              <a:rPr lang="de-DE" altLang="en-US" sz="14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Zeilen – genau eine pro Police</a:t>
            </a:r>
            <a:endParaRPr lang="de-DE" sz="14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22783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967728" y="3200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Gesamtschaden und Anzahl Schadenrecords je Police</a:t>
            </a:r>
            <a:endParaRPr lang="de-DE" sz="12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703320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967728" y="36758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DQ-Flags statt Löschungen, z. B. fehlende Schadenhöhe</a:t>
            </a:r>
            <a:endParaRPr lang="de-DE" sz="12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4178808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967728" y="41513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 Altersgruppen, Bonus-Malus-Segmente, log(Density)</a:t>
            </a:r>
            <a:endParaRPr lang="de-DE" sz="1250" dirty="0"/>
          </a:p>
        </p:txBody>
      </p:sp>
      <p:sp>
        <p:nvSpPr>
          <p:cNvPr id="37" name="Shape 29"/>
          <p:cNvSpPr/>
          <p:nvPr/>
        </p:nvSpPr>
        <p:spPr>
          <a:xfrm>
            <a:off x="6355080" y="4983480"/>
            <a:ext cx="2551176" cy="1280160"/>
          </a:xfrm>
          <a:prstGeom prst="roundRect">
            <a:avLst>
              <a:gd name="adj" fmla="val 8571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0"/>
          <p:cNvSpPr txBox="1"/>
          <p:nvPr/>
        </p:nvSpPr>
        <p:spPr>
          <a:xfrm>
            <a:off x="6556248" y="5102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94,98 %</a:t>
            </a:r>
            <a:endParaRPr lang="de-DE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6556248" y="5577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Policen ohne gemeldeten Schaden</a:t>
            </a:r>
            <a:endParaRPr lang="de-DE" sz="1100" dirty="0"/>
          </a:p>
        </p:txBody>
      </p:sp>
      <p:sp>
        <p:nvSpPr>
          <p:cNvPr id="40" name="Shape 32"/>
          <p:cNvSpPr/>
          <p:nvPr/>
        </p:nvSpPr>
        <p:spPr>
          <a:xfrm>
            <a:off x="9089136" y="4983480"/>
            <a:ext cx="2551176" cy="1280160"/>
          </a:xfrm>
          <a:prstGeom prst="roundRect">
            <a:avLst>
              <a:gd name="adj" fmla="val 8571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3"/>
          <p:cNvSpPr txBox="1"/>
          <p:nvPr/>
        </p:nvSpPr>
        <p:spPr>
          <a:xfrm>
            <a:off x="9290304" y="5102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4,08 Mio. €</a:t>
            </a:r>
            <a:endParaRPr lang="de-DE" sz="2200" dirty="0"/>
          </a:p>
        </p:txBody>
      </p:sp>
      <p:sp>
        <p:nvSpPr>
          <p:cNvPr id="42" name="Text 34"/>
          <p:cNvSpPr txBox="1"/>
          <p:nvPr/>
        </p:nvSpPr>
        <p:spPr>
          <a:xfrm>
            <a:off x="9290304" y="5577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größter Einzelschaden – 99 % liegen unter ca. 16.800 €</a:t>
            </a:r>
            <a:endParaRPr lang="de-DE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ARCHITEKTUR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End-to-End-Pipeline: von der Quelle bis zum Dashboard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3422599" cy="841248"/>
          </a:xfrm>
          <a:prstGeom prst="roundRect">
            <a:avLst>
              <a:gd name="adj" fmla="val 130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475488" cy="47548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7389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746504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53312" y="1545336"/>
            <a:ext cx="2508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GEPLANT</a:t>
            </a:r>
            <a:endParaRPr lang="de-DE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353312" y="1746504"/>
            <a:ext cx="24899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OpenML-API – automatisierter Abruf</a:t>
            </a:r>
            <a:endParaRPr lang="de-DE" sz="1150" dirty="0"/>
          </a:p>
        </p:txBody>
      </p:sp>
      <p:sp>
        <p:nvSpPr>
          <p:cNvPr id="11" name="Shape 8"/>
          <p:cNvSpPr/>
          <p:nvPr/>
        </p:nvSpPr>
        <p:spPr>
          <a:xfrm>
            <a:off x="4044391" y="1746504"/>
            <a:ext cx="265176" cy="237744"/>
          </a:xfrm>
          <a:prstGeom prst="rightArrow">
            <a:avLst/>
          </a:prstGeom>
          <a:solidFill>
            <a:srgbClr val="7389A6"/>
          </a:solidFill>
          <a:ln w="12700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4382719" y="1444752"/>
            <a:ext cx="3422599" cy="841248"/>
          </a:xfrm>
          <a:prstGeom prst="roundRect">
            <a:avLst>
              <a:gd name="adj" fmla="val 130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565599" y="1627632"/>
            <a:ext cx="475488" cy="47548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F8717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471" y="174650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87391" y="1545336"/>
            <a:ext cx="2508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2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de-DE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187391" y="1746504"/>
            <a:ext cx="24899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Wiederholte HTTP-504-Fehler – API als Quelle unzuverlässig</a:t>
            </a:r>
            <a:endParaRPr lang="de-DE" sz="1150" dirty="0"/>
          </a:p>
        </p:txBody>
      </p:sp>
      <p:sp>
        <p:nvSpPr>
          <p:cNvPr id="17" name="Shape 13"/>
          <p:cNvSpPr/>
          <p:nvPr/>
        </p:nvSpPr>
        <p:spPr>
          <a:xfrm>
            <a:off x="7878470" y="1746504"/>
            <a:ext cx="265176" cy="237744"/>
          </a:xfrm>
          <a:prstGeom prst="rightArrow">
            <a:avLst/>
          </a:prstGeom>
          <a:solidFill>
            <a:srgbClr val="7389A6"/>
          </a:solidFill>
          <a:ln w="12700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8216798" y="1444752"/>
            <a:ext cx="3422599" cy="841248"/>
          </a:xfrm>
          <a:prstGeom prst="roundRect">
            <a:avLst>
              <a:gd name="adj" fmla="val 130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DD4BF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8399678" y="1627632"/>
            <a:ext cx="475488" cy="47548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550" y="174650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21470" y="1545336"/>
            <a:ext cx="2508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2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UMSETZUNG</a:t>
            </a:r>
            <a:endParaRPr lang="de-DE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021470" y="1746504"/>
            <a:ext cx="24899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OpenML Static Data Server + verifizierter lokaler Raw Layer</a:t>
            </a:r>
            <a:endParaRPr lang="de-DE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2487168"/>
            <a:ext cx="3362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BESCHAFFUNG &amp; VALIDIERUNG</a:t>
            </a:r>
            <a:endParaRPr lang="de-DE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413809" y="2487168"/>
            <a:ext cx="3362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AUFBEREITUNG &amp; MODELLIERUNG</a:t>
            </a:r>
            <a:endParaRPr lang="de-DE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278978" y="2487168"/>
            <a:ext cx="3362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PERSISTENZ &amp; BEREITSTELLUNG</a:t>
            </a:r>
            <a:endParaRPr lang="de-DE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2816352"/>
            <a:ext cx="3362249" cy="640080"/>
          </a:xfrm>
          <a:prstGeom prst="roundRect">
            <a:avLst>
              <a:gd name="adj" fmla="val 171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2"/>
          <p:cNvSpPr txBox="1"/>
          <p:nvPr/>
        </p:nvSpPr>
        <p:spPr>
          <a:xfrm>
            <a:off x="694944" y="288950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OpenML Static Data Server</a:t>
            </a:r>
            <a:endParaRPr lang="de-DE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94944" y="3145536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freMTPL2freq · freMTPL2sev (Parquet)</a:t>
            </a:r>
            <a:endParaRPr lang="de-DE" sz="950" dirty="0"/>
          </a:p>
        </p:txBody>
      </p:sp>
      <p:sp>
        <p:nvSpPr>
          <p:cNvPr id="29" name="Shape 24"/>
          <p:cNvSpPr/>
          <p:nvPr/>
        </p:nvSpPr>
        <p:spPr>
          <a:xfrm>
            <a:off x="2229764" y="3456432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5"/>
          <p:cNvSpPr/>
          <p:nvPr/>
        </p:nvSpPr>
        <p:spPr>
          <a:xfrm>
            <a:off x="548640" y="3657600"/>
            <a:ext cx="3362249" cy="640080"/>
          </a:xfrm>
          <a:prstGeom prst="roundRect">
            <a:avLst>
              <a:gd name="adj" fmla="val 171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6"/>
          <p:cNvSpPr txBox="1"/>
          <p:nvPr/>
        </p:nvSpPr>
        <p:spPr>
          <a:xfrm>
            <a:off x="694944" y="3730752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Lokaler Raw Layer</a:t>
            </a:r>
            <a:endParaRPr lang="de-DE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694944" y="398678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unverändert gespeichert – Basis jedes Laufs</a:t>
            </a:r>
            <a:endParaRPr lang="de-DE" sz="950" dirty="0"/>
          </a:p>
        </p:txBody>
      </p:sp>
      <p:sp>
        <p:nvSpPr>
          <p:cNvPr id="33" name="Shape 28"/>
          <p:cNvSpPr/>
          <p:nvPr/>
        </p:nvSpPr>
        <p:spPr>
          <a:xfrm>
            <a:off x="2229764" y="4297680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29"/>
          <p:cNvSpPr/>
          <p:nvPr/>
        </p:nvSpPr>
        <p:spPr>
          <a:xfrm>
            <a:off x="548640" y="4498848"/>
            <a:ext cx="3362249" cy="1783080"/>
          </a:xfrm>
          <a:prstGeom prst="roundRect">
            <a:avLst>
              <a:gd name="adj" fmla="val 615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0"/>
          <p:cNvSpPr txBox="1"/>
          <p:nvPr/>
        </p:nvSpPr>
        <p:spPr>
          <a:xfrm>
            <a:off x="694944" y="4572000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Ingestion-Validierung</a:t>
            </a:r>
            <a:endParaRPr lang="de-DE" sz="1200" dirty="0"/>
          </a:p>
        </p:txBody>
      </p:sp>
      <p:sp>
        <p:nvSpPr>
          <p:cNvPr id="36" name="Shape 31"/>
          <p:cNvSpPr/>
          <p:nvPr/>
        </p:nvSpPr>
        <p:spPr>
          <a:xfrm>
            <a:off x="694944" y="4919472"/>
            <a:ext cx="84124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2"/>
          <p:cNvSpPr txBox="1"/>
          <p:nvPr/>
        </p:nvSpPr>
        <p:spPr>
          <a:xfrm>
            <a:off x="694944" y="4919472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Manifest</a:t>
            </a:r>
            <a:endParaRPr lang="de-DE" sz="950" dirty="0"/>
          </a:p>
        </p:txBody>
      </p:sp>
      <p:sp>
        <p:nvSpPr>
          <p:cNvPr id="38" name="Shape 33"/>
          <p:cNvSpPr/>
          <p:nvPr/>
        </p:nvSpPr>
        <p:spPr>
          <a:xfrm>
            <a:off x="1627632" y="4919472"/>
            <a:ext cx="97840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4"/>
          <p:cNvSpPr txBox="1"/>
          <p:nvPr/>
        </p:nvSpPr>
        <p:spPr>
          <a:xfrm>
            <a:off x="1627632" y="4919472"/>
            <a:ext cx="978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Dateigröße</a:t>
            </a:r>
            <a:endParaRPr lang="de-DE" sz="950" dirty="0"/>
          </a:p>
        </p:txBody>
      </p:sp>
      <p:sp>
        <p:nvSpPr>
          <p:cNvPr id="40" name="Shape 35"/>
          <p:cNvSpPr/>
          <p:nvPr/>
        </p:nvSpPr>
        <p:spPr>
          <a:xfrm>
            <a:off x="2697480" y="4919472"/>
            <a:ext cx="70408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6"/>
          <p:cNvSpPr txBox="1"/>
          <p:nvPr/>
        </p:nvSpPr>
        <p:spPr>
          <a:xfrm>
            <a:off x="2697480" y="4919472"/>
            <a:ext cx="704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SHA256</a:t>
            </a:r>
            <a:endParaRPr lang="de-DE" sz="950" dirty="0"/>
          </a:p>
        </p:txBody>
      </p:sp>
      <p:sp>
        <p:nvSpPr>
          <p:cNvPr id="42" name="Shape 37"/>
          <p:cNvSpPr/>
          <p:nvPr/>
        </p:nvSpPr>
        <p:spPr>
          <a:xfrm>
            <a:off x="694944" y="5266944"/>
            <a:ext cx="90982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8"/>
          <p:cNvSpPr txBox="1"/>
          <p:nvPr/>
        </p:nvSpPr>
        <p:spPr>
          <a:xfrm>
            <a:off x="694944" y="5266944"/>
            <a:ext cx="9098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Metadaten</a:t>
            </a:r>
            <a:endParaRPr lang="de-DE" sz="950" dirty="0"/>
          </a:p>
        </p:txBody>
      </p:sp>
      <p:sp>
        <p:nvSpPr>
          <p:cNvPr id="44" name="Shape 39"/>
          <p:cNvSpPr/>
          <p:nvPr/>
        </p:nvSpPr>
        <p:spPr>
          <a:xfrm>
            <a:off x="1696212" y="5266944"/>
            <a:ext cx="704088" cy="265176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0"/>
          <p:cNvSpPr txBox="1"/>
          <p:nvPr/>
        </p:nvSpPr>
        <p:spPr>
          <a:xfrm>
            <a:off x="1696212" y="5266944"/>
            <a:ext cx="704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Schema</a:t>
            </a:r>
            <a:endParaRPr lang="de-DE" sz="950" dirty="0"/>
          </a:p>
        </p:txBody>
      </p:sp>
      <p:sp>
        <p:nvSpPr>
          <p:cNvPr id="46" name="Shape 41"/>
          <p:cNvSpPr/>
          <p:nvPr/>
        </p:nvSpPr>
        <p:spPr>
          <a:xfrm>
            <a:off x="694944" y="5742432"/>
            <a:ext cx="566928" cy="265176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2"/>
          <p:cNvSpPr txBox="1"/>
          <p:nvPr/>
        </p:nvSpPr>
        <p:spPr>
          <a:xfrm>
            <a:off x="694944" y="574243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95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de-DE" sz="950" dirty="0"/>
          </a:p>
        </p:txBody>
      </p:sp>
      <p:sp>
        <p:nvSpPr>
          <p:cNvPr id="48" name="Text 43"/>
          <p:cNvSpPr txBox="1"/>
          <p:nvPr/>
        </p:nvSpPr>
        <p:spPr>
          <a:xfrm>
            <a:off x="1335024" y="5742432"/>
            <a:ext cx="244784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Datenquelle: verifizierte lokale Dateien</a:t>
            </a:r>
            <a:endParaRPr lang="de-DE" sz="950" dirty="0"/>
          </a:p>
        </p:txBody>
      </p:sp>
      <p:sp>
        <p:nvSpPr>
          <p:cNvPr id="49" name="Shape 44"/>
          <p:cNvSpPr/>
          <p:nvPr/>
        </p:nvSpPr>
        <p:spPr>
          <a:xfrm>
            <a:off x="4413809" y="2816352"/>
            <a:ext cx="3362249" cy="585216"/>
          </a:xfrm>
          <a:prstGeom prst="roundRect">
            <a:avLst>
              <a:gd name="adj" fmla="val 1875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5"/>
          <p:cNvSpPr txBox="1"/>
          <p:nvPr/>
        </p:nvSpPr>
        <p:spPr>
          <a:xfrm>
            <a:off x="4560113" y="288950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Quality</a:t>
            </a:r>
            <a:endParaRPr lang="de-DE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4560113" y="3145536"/>
            <a:ext cx="30696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Prüfungen · PASS / WARN / FAIL</a:t>
            </a:r>
            <a:endParaRPr lang="de-DE" sz="950" dirty="0"/>
          </a:p>
        </p:txBody>
      </p:sp>
      <p:sp>
        <p:nvSpPr>
          <p:cNvPr id="52" name="Shape 47"/>
          <p:cNvSpPr/>
          <p:nvPr/>
        </p:nvSpPr>
        <p:spPr>
          <a:xfrm>
            <a:off x="6094933" y="3401568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48"/>
          <p:cNvSpPr/>
          <p:nvPr/>
        </p:nvSpPr>
        <p:spPr>
          <a:xfrm>
            <a:off x="4413809" y="3602736"/>
            <a:ext cx="3362249" cy="585216"/>
          </a:xfrm>
          <a:prstGeom prst="roundRect">
            <a:avLst>
              <a:gd name="adj" fmla="val 1875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49"/>
          <p:cNvSpPr txBox="1"/>
          <p:nvPr/>
        </p:nvSpPr>
        <p:spPr>
          <a:xfrm>
            <a:off x="4560113" y="3675888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Curated Policy Layer</a:t>
            </a:r>
            <a:endParaRPr lang="de-DE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4560113" y="3931920"/>
            <a:ext cx="30696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Zeile pro Police · DQ-Flags</a:t>
            </a:r>
            <a:endParaRPr lang="de-DE" sz="950" dirty="0"/>
          </a:p>
        </p:txBody>
      </p:sp>
      <p:sp>
        <p:nvSpPr>
          <p:cNvPr id="56" name="Shape 51"/>
          <p:cNvSpPr/>
          <p:nvPr/>
        </p:nvSpPr>
        <p:spPr>
          <a:xfrm>
            <a:off x="6094933" y="4187952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2"/>
          <p:cNvSpPr/>
          <p:nvPr/>
        </p:nvSpPr>
        <p:spPr>
          <a:xfrm>
            <a:off x="4413809" y="4389120"/>
            <a:ext cx="3362249" cy="585216"/>
          </a:xfrm>
          <a:prstGeom prst="roundRect">
            <a:avLst>
              <a:gd name="adj" fmla="val 1875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3"/>
          <p:cNvSpPr txBox="1"/>
          <p:nvPr/>
        </p:nvSpPr>
        <p:spPr>
          <a:xfrm>
            <a:off x="4560113" y="4462272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Engineering</a:t>
            </a:r>
            <a:endParaRPr lang="de-DE" sz="1200" dirty="0"/>
          </a:p>
        </p:txBody>
      </p:sp>
      <p:sp>
        <p:nvSpPr>
          <p:cNvPr id="59" name="Text 54"/>
          <p:cNvSpPr txBox="1"/>
          <p:nvPr/>
        </p:nvSpPr>
        <p:spPr>
          <a:xfrm>
            <a:off x="4560113" y="4718304"/>
            <a:ext cx="30696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Altersgruppen · Bonus-Malus-Segmente · log(Density)</a:t>
            </a:r>
            <a:endParaRPr lang="de-DE" sz="950" dirty="0"/>
          </a:p>
        </p:txBody>
      </p:sp>
      <p:sp>
        <p:nvSpPr>
          <p:cNvPr id="60" name="Shape 55"/>
          <p:cNvSpPr/>
          <p:nvPr/>
        </p:nvSpPr>
        <p:spPr>
          <a:xfrm>
            <a:off x="6094933" y="4974336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1" name="Shape 56"/>
          <p:cNvSpPr/>
          <p:nvPr/>
        </p:nvSpPr>
        <p:spPr>
          <a:xfrm>
            <a:off x="4413809" y="5175504"/>
            <a:ext cx="3362249" cy="1106424"/>
          </a:xfrm>
          <a:prstGeom prst="roundRect">
            <a:avLst>
              <a:gd name="adj" fmla="val 991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2" name="Text 57"/>
          <p:cNvSpPr txBox="1"/>
          <p:nvPr/>
        </p:nvSpPr>
        <p:spPr>
          <a:xfrm>
            <a:off x="4560113" y="5248656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Modellierung</a:t>
            </a:r>
            <a:endParaRPr lang="de-DE" sz="1200" dirty="0"/>
          </a:p>
        </p:txBody>
      </p:sp>
      <p:sp>
        <p:nvSpPr>
          <p:cNvPr id="63" name="Shape 58"/>
          <p:cNvSpPr/>
          <p:nvPr/>
        </p:nvSpPr>
        <p:spPr>
          <a:xfrm>
            <a:off x="4560113" y="5577840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59"/>
          <p:cNvSpPr txBox="1"/>
          <p:nvPr/>
        </p:nvSpPr>
        <p:spPr>
          <a:xfrm>
            <a:off x="4560113" y="5577840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000" dirty="0"/>
          </a:p>
        </p:txBody>
      </p:sp>
      <p:sp>
        <p:nvSpPr>
          <p:cNvPr id="65" name="Shape 60"/>
          <p:cNvSpPr/>
          <p:nvPr/>
        </p:nvSpPr>
        <p:spPr>
          <a:xfrm>
            <a:off x="6149797" y="5577840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1"/>
          <p:cNvSpPr txBox="1"/>
          <p:nvPr/>
        </p:nvSpPr>
        <p:spPr>
          <a:xfrm>
            <a:off x="6149797" y="5577840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000" dirty="0"/>
          </a:p>
        </p:txBody>
      </p:sp>
      <p:sp>
        <p:nvSpPr>
          <p:cNvPr id="67" name="Shape 62"/>
          <p:cNvSpPr/>
          <p:nvPr/>
        </p:nvSpPr>
        <p:spPr>
          <a:xfrm>
            <a:off x="4560113" y="5925312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63"/>
          <p:cNvSpPr txBox="1"/>
          <p:nvPr/>
        </p:nvSpPr>
        <p:spPr>
          <a:xfrm>
            <a:off x="4560113" y="5925312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</a:t>
            </a:r>
            <a:endParaRPr lang="de-DE" sz="1000" dirty="0"/>
          </a:p>
        </p:txBody>
      </p:sp>
      <p:sp>
        <p:nvSpPr>
          <p:cNvPr id="69" name="Shape 64"/>
          <p:cNvSpPr/>
          <p:nvPr/>
        </p:nvSpPr>
        <p:spPr>
          <a:xfrm>
            <a:off x="6149797" y="5925312"/>
            <a:ext cx="1479956" cy="274320"/>
          </a:xfrm>
          <a:prstGeom prst="roundRect">
            <a:avLst>
              <a:gd name="adj" fmla="val 50000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5"/>
          <p:cNvSpPr txBox="1"/>
          <p:nvPr/>
        </p:nvSpPr>
        <p:spPr>
          <a:xfrm>
            <a:off x="6149797" y="5925312"/>
            <a:ext cx="147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000" dirty="0"/>
          </a:p>
        </p:txBody>
      </p:sp>
      <p:sp>
        <p:nvSpPr>
          <p:cNvPr id="71" name="Shape 66"/>
          <p:cNvSpPr/>
          <p:nvPr/>
        </p:nvSpPr>
        <p:spPr>
          <a:xfrm>
            <a:off x="8278978" y="2816352"/>
            <a:ext cx="3362249" cy="640080"/>
          </a:xfrm>
          <a:prstGeom prst="roundRect">
            <a:avLst>
              <a:gd name="adj" fmla="val 1714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Text 67"/>
          <p:cNvSpPr txBox="1"/>
          <p:nvPr/>
        </p:nvSpPr>
        <p:spPr>
          <a:xfrm>
            <a:off x="8425282" y="2889504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Prediction Outputs</a:t>
            </a:r>
            <a:endParaRPr lang="de-DE" sz="1200" dirty="0"/>
          </a:p>
        </p:txBody>
      </p:sp>
      <p:sp>
        <p:nvSpPr>
          <p:cNvPr id="73" name="Text 68"/>
          <p:cNvSpPr txBox="1"/>
          <p:nvPr/>
        </p:nvSpPr>
        <p:spPr>
          <a:xfrm>
            <a:off x="8425282" y="3145536"/>
            <a:ext cx="3069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Prognosen, Segmente &amp; Deciles auf Policenebene</a:t>
            </a:r>
            <a:endParaRPr lang="de-DE" sz="950" dirty="0"/>
          </a:p>
        </p:txBody>
      </p:sp>
      <p:sp>
        <p:nvSpPr>
          <p:cNvPr id="74" name="Shape 69"/>
          <p:cNvSpPr/>
          <p:nvPr/>
        </p:nvSpPr>
        <p:spPr>
          <a:xfrm>
            <a:off x="9073820" y="3456432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5" name="Shape 70"/>
          <p:cNvSpPr/>
          <p:nvPr/>
        </p:nvSpPr>
        <p:spPr>
          <a:xfrm>
            <a:off x="8278978" y="3657600"/>
            <a:ext cx="1589684" cy="1371600"/>
          </a:xfrm>
          <a:prstGeom prst="roundRect">
            <a:avLst>
              <a:gd name="adj" fmla="val 80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71"/>
          <p:cNvSpPr txBox="1"/>
          <p:nvPr/>
        </p:nvSpPr>
        <p:spPr>
          <a:xfrm>
            <a:off x="8425282" y="3730752"/>
            <a:ext cx="1297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</a:t>
            </a:r>
            <a:endParaRPr lang="de-DE" sz="1200" dirty="0"/>
          </a:p>
        </p:txBody>
      </p:sp>
      <p:sp>
        <p:nvSpPr>
          <p:cNvPr id="77" name="Text 72"/>
          <p:cNvSpPr txBox="1"/>
          <p:nvPr/>
        </p:nvSpPr>
        <p:spPr>
          <a:xfrm>
            <a:off x="8425282" y="3986784"/>
            <a:ext cx="12970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Facts · Prognosen</a:t>
            </a:r>
            <a:endParaRPr lang="de-DE" sz="950" dirty="0"/>
          </a:p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DQ-Ergebnisse</a:t>
            </a:r>
            <a:endParaRPr lang="de-DE" sz="950" dirty="0"/>
          </a:p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Pipeline-Läufe · Views</a:t>
            </a:r>
            <a:endParaRPr lang="de-DE" sz="950" dirty="0"/>
          </a:p>
        </p:txBody>
      </p:sp>
      <p:sp>
        <p:nvSpPr>
          <p:cNvPr id="78" name="Shape 73"/>
          <p:cNvSpPr/>
          <p:nvPr/>
        </p:nvSpPr>
        <p:spPr>
          <a:xfrm>
            <a:off x="9073820" y="5029200"/>
            <a:ext cx="0" cy="201168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9" name="Shape 74"/>
          <p:cNvSpPr/>
          <p:nvPr/>
        </p:nvSpPr>
        <p:spPr>
          <a:xfrm>
            <a:off x="8278978" y="5230368"/>
            <a:ext cx="1589684" cy="1051560"/>
          </a:xfrm>
          <a:prstGeom prst="roundRect">
            <a:avLst>
              <a:gd name="adj" fmla="val 1043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  <a:effectLst>
            <a:outerShdw blurRad="228600" dist="50800" dir="5400000" algn="bl" rotWithShape="0">
              <a:srgbClr val="FBBF24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8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282" y="5358384"/>
            <a:ext cx="274320" cy="274320"/>
          </a:xfrm>
          <a:prstGeom prst="rect">
            <a:avLst/>
          </a:prstGeom>
        </p:spPr>
      </p:pic>
      <p:sp>
        <p:nvSpPr>
          <p:cNvPr id="81" name="Text 75"/>
          <p:cNvSpPr txBox="1"/>
          <p:nvPr/>
        </p:nvSpPr>
        <p:spPr>
          <a:xfrm>
            <a:off x="8754466" y="5340096"/>
            <a:ext cx="1041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de-DE" sz="1200" dirty="0"/>
          </a:p>
        </p:txBody>
      </p:sp>
      <p:sp>
        <p:nvSpPr>
          <p:cNvPr id="82" name="Text 76"/>
          <p:cNvSpPr txBox="1"/>
          <p:nvPr/>
        </p:nvSpPr>
        <p:spPr>
          <a:xfrm>
            <a:off x="8425282" y="5705856"/>
            <a:ext cx="1315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Dashboard-Seiten</a:t>
            </a:r>
            <a:endParaRPr lang="de-DE" sz="950" dirty="0"/>
          </a:p>
        </p:txBody>
      </p:sp>
      <p:sp>
        <p:nvSpPr>
          <p:cNvPr id="83" name="Shape 77"/>
          <p:cNvSpPr/>
          <p:nvPr/>
        </p:nvSpPr>
        <p:spPr>
          <a:xfrm>
            <a:off x="10846384" y="3456432"/>
            <a:ext cx="0" cy="1773936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4" name="Shape 78"/>
          <p:cNvSpPr/>
          <p:nvPr/>
        </p:nvSpPr>
        <p:spPr>
          <a:xfrm>
            <a:off x="10051542" y="5230368"/>
            <a:ext cx="1589684" cy="1051560"/>
          </a:xfrm>
          <a:prstGeom prst="roundRect">
            <a:avLst>
              <a:gd name="adj" fmla="val 1043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F5F8C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8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7846" y="5358384"/>
            <a:ext cx="274320" cy="274320"/>
          </a:xfrm>
          <a:prstGeom prst="rect">
            <a:avLst/>
          </a:prstGeom>
        </p:spPr>
      </p:pic>
      <p:sp>
        <p:nvSpPr>
          <p:cNvPr id="86" name="Text 79"/>
          <p:cNvSpPr txBox="1"/>
          <p:nvPr/>
        </p:nvSpPr>
        <p:spPr>
          <a:xfrm>
            <a:off x="10527030" y="5340096"/>
            <a:ext cx="1041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de-DE" sz="1200" dirty="0"/>
          </a:p>
        </p:txBody>
      </p:sp>
      <p:sp>
        <p:nvSpPr>
          <p:cNvPr id="87" name="Text 80"/>
          <p:cNvSpPr txBox="1"/>
          <p:nvPr/>
        </p:nvSpPr>
        <p:spPr>
          <a:xfrm>
            <a:off x="10197846" y="5705856"/>
            <a:ext cx="1315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Prototyp-API</a:t>
            </a:r>
            <a:endParaRPr lang="de-DE" sz="950" dirty="0"/>
          </a:p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Endpunkte</a:t>
            </a:r>
            <a:endParaRPr lang="de-DE" sz="950" dirty="0"/>
          </a:p>
        </p:txBody>
      </p:sp>
      <p:sp>
        <p:nvSpPr>
          <p:cNvPr id="88" name="Shape 81"/>
          <p:cNvSpPr/>
          <p:nvPr/>
        </p:nvSpPr>
        <p:spPr>
          <a:xfrm>
            <a:off x="4020617" y="4434840"/>
            <a:ext cx="283464" cy="274320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" name="Shape 82"/>
          <p:cNvSpPr/>
          <p:nvPr/>
        </p:nvSpPr>
        <p:spPr>
          <a:xfrm>
            <a:off x="7885786" y="4434840"/>
            <a:ext cx="283464" cy="274320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DATENQUALITÄT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Datenqualität: dokumentieren statt blind löschen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19</a:t>
            </a:r>
            <a:endParaRPr lang="de-DE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AUTOMATISIERTE PRÜFUNGEN</a:t>
            </a:r>
            <a:endParaRPr lang="de-DE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731520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de-DE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947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de-DE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176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z. B. keine fehlenden Werte, alle Schadenbeträge &gt; 0</a:t>
            </a:r>
            <a:endParaRPr lang="de-DE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731520" y="26974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de-DE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de-DE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944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auffällig, aber nicht nachweislich falsch</a:t>
            </a:r>
            <a:endParaRPr lang="de-DE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410712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731520" y="34655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3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de-DE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4838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7124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fachliche oder referenzielle Regel verletzt</a:t>
            </a:r>
            <a:endParaRPr lang="de-DE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34840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88720" y="4453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WICHTIG</a:t>
            </a:r>
            <a:endParaRPr lang="de-DE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846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 beschreibt einen Befund in den Rohdaten – nicht einen unbrauchbaren Curated-Datensatz.</a:t>
            </a:r>
            <a:endParaRPr lang="de-DE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669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Jeder Befund wurde bewusst im Curated- oder Modeling-Layer behandelt.</a:t>
            </a:r>
            <a:endParaRPr lang="de-DE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BEFUND &amp; UMFANG</a:t>
            </a:r>
            <a:endParaRPr lang="de-DE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536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95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de-DE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1536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BEHANDLUNG</a:t>
            </a:r>
            <a:endParaRPr lang="de-DE" sz="950" dirty="0"/>
          </a:p>
        </p:txBody>
      </p:sp>
      <p:sp>
        <p:nvSpPr>
          <p:cNvPr id="27" name="Shape 24"/>
          <p:cNvSpPr/>
          <p:nvPr/>
        </p:nvSpPr>
        <p:spPr>
          <a:xfrm>
            <a:off x="3886200" y="184708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 txBox="1"/>
          <p:nvPr/>
        </p:nvSpPr>
        <p:spPr>
          <a:xfrm>
            <a:off x="4069080" y="19385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 &gt; 1 Jahr</a:t>
            </a:r>
            <a:endParaRPr lang="de-DE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069080" y="2231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1.224 Policen</a:t>
            </a:r>
            <a:endParaRPr lang="de-DE" sz="1050" dirty="0"/>
          </a:p>
        </p:txBody>
      </p:sp>
      <p:sp>
        <p:nvSpPr>
          <p:cNvPr id="30" name="Shape 27"/>
          <p:cNvSpPr/>
          <p:nvPr/>
        </p:nvSpPr>
        <p:spPr>
          <a:xfrm>
            <a:off x="7772400" y="210312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 txBox="1"/>
          <p:nvPr/>
        </p:nvSpPr>
        <p:spPr>
          <a:xfrm>
            <a:off x="7772400" y="2103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732520" y="19385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 1,0 begrenzt und per Flag markiert</a:t>
            </a:r>
            <a:endParaRPr lang="de-DE" sz="1150" dirty="0"/>
          </a:p>
        </p:txBody>
      </p:sp>
      <p:sp>
        <p:nvSpPr>
          <p:cNvPr id="33" name="Shape 30"/>
          <p:cNvSpPr/>
          <p:nvPr/>
        </p:nvSpPr>
        <p:spPr>
          <a:xfrm>
            <a:off x="3886200" y="273862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5875">
            <a:solidFill>
              <a:srgbClr val="22D3EE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1"/>
          <p:cNvSpPr txBox="1"/>
          <p:nvPr/>
        </p:nvSpPr>
        <p:spPr>
          <a:xfrm>
            <a:off x="4069080" y="28300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 gemeldet, aber keine Schadenhöhe</a:t>
            </a:r>
            <a:endParaRPr lang="de-DE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069080" y="31226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9.116 Policen · 26,8 % aller Schadenpolicen</a:t>
            </a:r>
            <a:endParaRPr lang="de-DE" sz="1050" dirty="0"/>
          </a:p>
        </p:txBody>
      </p:sp>
      <p:sp>
        <p:nvSpPr>
          <p:cNvPr id="36" name="Shape 33"/>
          <p:cNvSpPr/>
          <p:nvPr/>
        </p:nvSpPr>
        <p:spPr>
          <a:xfrm>
            <a:off x="7772400" y="29946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 txBox="1"/>
          <p:nvPr/>
        </p:nvSpPr>
        <p:spPr>
          <a:xfrm>
            <a:off x="7772400" y="29946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732520" y="28300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Markiert – bewusst nicht mit 0 € aufgefüllt</a:t>
            </a:r>
            <a:endParaRPr lang="de-DE" sz="1150" dirty="0"/>
          </a:p>
        </p:txBody>
      </p:sp>
      <p:sp>
        <p:nvSpPr>
          <p:cNvPr id="39" name="Shape 36"/>
          <p:cNvSpPr/>
          <p:nvPr/>
        </p:nvSpPr>
        <p:spPr>
          <a:xfrm>
            <a:off x="3886200" y="363016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7"/>
          <p:cNvSpPr txBox="1"/>
          <p:nvPr/>
        </p:nvSpPr>
        <p:spPr>
          <a:xfrm>
            <a:off x="4069080" y="3721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Verwaiste Schadenrecords</a:t>
            </a:r>
            <a:endParaRPr lang="de-DE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4069080" y="401421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195 Zeilen aus 6 Policen ohne Policeneintrag</a:t>
            </a:r>
            <a:endParaRPr lang="de-DE" sz="1050" dirty="0"/>
          </a:p>
        </p:txBody>
      </p:sp>
      <p:sp>
        <p:nvSpPr>
          <p:cNvPr id="42" name="Shape 39"/>
          <p:cNvSpPr/>
          <p:nvPr/>
        </p:nvSpPr>
        <p:spPr>
          <a:xfrm>
            <a:off x="7772400" y="388620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0"/>
          <p:cNvSpPr txBox="1"/>
          <p:nvPr/>
        </p:nvSpPr>
        <p:spPr>
          <a:xfrm>
            <a:off x="7772400" y="3886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</a:t>
            </a:r>
            <a:endParaRPr lang="de-DE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732520" y="372160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 dem Curated Layer ausgeschlossen – Rohdaten bleiben erhalten</a:t>
            </a:r>
            <a:endParaRPr lang="de-DE" sz="1150" dirty="0"/>
          </a:p>
        </p:txBody>
      </p:sp>
      <p:sp>
        <p:nvSpPr>
          <p:cNvPr id="45" name="Shape 42"/>
          <p:cNvSpPr/>
          <p:nvPr/>
        </p:nvSpPr>
        <p:spPr>
          <a:xfrm>
            <a:off x="3886200" y="452170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3"/>
          <p:cNvSpPr txBox="1"/>
          <p:nvPr/>
        </p:nvSpPr>
        <p:spPr>
          <a:xfrm>
            <a:off x="4069080" y="46131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Auffällig hohe Schadenanzahl (&gt; 4)</a:t>
            </a:r>
            <a:endParaRPr lang="de-DE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4069080" y="49057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Policen, maximal 16 Schäden</a:t>
            </a:r>
            <a:endParaRPr lang="de-DE" sz="1050" dirty="0"/>
          </a:p>
        </p:txBody>
      </p:sp>
      <p:sp>
        <p:nvSpPr>
          <p:cNvPr id="48" name="Shape 45"/>
          <p:cNvSpPr/>
          <p:nvPr/>
        </p:nvSpPr>
        <p:spPr>
          <a:xfrm>
            <a:off x="7772400" y="47777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6"/>
          <p:cNvSpPr txBox="1"/>
          <p:nvPr/>
        </p:nvSpPr>
        <p:spPr>
          <a:xfrm>
            <a:off x="7772400" y="47777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de-DE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732520" y="46131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Beibehalten und markiert</a:t>
            </a:r>
            <a:endParaRPr lang="de-DE" sz="1150" dirty="0"/>
          </a:p>
        </p:txBody>
      </p:sp>
      <p:sp>
        <p:nvSpPr>
          <p:cNvPr id="51" name="Shape 48"/>
          <p:cNvSpPr/>
          <p:nvPr/>
        </p:nvSpPr>
        <p:spPr>
          <a:xfrm>
            <a:off x="3886200" y="5413248"/>
            <a:ext cx="7754112" cy="786384"/>
          </a:xfrm>
          <a:prstGeom prst="roundRect">
            <a:avLst>
              <a:gd name="adj" fmla="val 1395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49"/>
          <p:cNvSpPr txBox="1"/>
          <p:nvPr/>
        </p:nvSpPr>
        <p:spPr>
          <a:xfrm>
            <a:off x="4069080" y="5504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Potenzielle Duplikate</a:t>
            </a:r>
            <a:endParaRPr lang="de-DE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4069080" y="57972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255 Zeilen mit gleicher Police und gleichem Betrag</a:t>
            </a:r>
            <a:endParaRPr lang="de-DE" sz="1050" dirty="0"/>
          </a:p>
        </p:txBody>
      </p:sp>
      <p:sp>
        <p:nvSpPr>
          <p:cNvPr id="54" name="Shape 51"/>
          <p:cNvSpPr/>
          <p:nvPr/>
        </p:nvSpPr>
        <p:spPr>
          <a:xfrm>
            <a:off x="7772400" y="56692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2"/>
          <p:cNvSpPr txBox="1"/>
          <p:nvPr/>
        </p:nvSpPr>
        <p:spPr>
          <a:xfrm>
            <a:off x="7772400" y="5669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de-DE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8732520" y="550468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Beibehalten – ohne Schaden-ID nicht nachweisbar</a:t>
            </a:r>
            <a:endParaRPr lang="de-DE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1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Bestandsüberblick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1: Bestandsüberblick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SCHADENFREI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94,98 %</a:t>
            </a:r>
            <a:endParaRPr lang="de-DE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13432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Policen ohne gemeldeten Schaden – starke Null-Struktur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COVERAGE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ca. 73 %</a:t>
            </a:r>
            <a:endParaRPr lang="de-DE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Schadenpolicen mit beobachtbarer Schadenhöhe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KPI-LOGIK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Exposure-basiert</a:t>
            </a:r>
            <a:endParaRPr lang="de-DE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Raten werden über die Exposure gewichtet – nie einfach summiert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ED1280C0-ECBC-E3C8-AD27-A766FC9E55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638771"/>
                  </p:ext>
                </p:extLst>
              </p:nvPr>
            </p:nvGraphicFramePr>
            <p:xfrm>
              <a:off x="492369" y="1316736"/>
              <a:ext cx="8761359" cy="493776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ED1280C0-ECBC-E3C8-AD27-A766FC9E55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2369" y="1316736"/>
                <a:ext cx="8761359" cy="493776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METHODIK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Zwei Leitplanken für eine faire Bewertung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40680" cy="4325112"/>
          </a:xfrm>
          <a:prstGeom prst="roundRect">
            <a:avLst>
              <a:gd name="adj" fmla="val 253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LEITPLANKE 1</a:t>
            </a:r>
            <a:endParaRPr lang="de-DE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Exposure konsequent berücksichtigen</a:t>
            </a:r>
            <a:endParaRPr lang="de-DE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Police A</a:t>
            </a:r>
            <a:endParaRPr lang="de-DE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2596896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783080" y="2596896"/>
            <a:ext cx="982980" cy="20116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178308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Monate versichert · Exposure 0,25 · 1 Schaden</a:t>
            </a:r>
            <a:endParaRPr lang="de-DE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Police B</a:t>
            </a:r>
            <a:endParaRPr lang="de-DE" sz="1200" dirty="0"/>
          </a:p>
        </p:txBody>
      </p:sp>
      <p:sp>
        <p:nvSpPr>
          <p:cNvPr id="14" name="Shape 12"/>
          <p:cNvSpPr/>
          <p:nvPr/>
        </p:nvSpPr>
        <p:spPr>
          <a:xfrm>
            <a:off x="1783080" y="331012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783080" y="331012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178308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Monate versichert · Exposure 1,0 · 1 Schaden</a:t>
            </a:r>
            <a:endParaRPr lang="de-DE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9684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Jahr gerechnet ist Police A deutlich riskanter.</a:t>
            </a:r>
            <a:endParaRPr lang="de-DE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36168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B2440"/>
          </a:solidFill>
          <a:ln w="9525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1005840" y="436168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 Schäden</a:t>
            </a: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=  Frequenz × Exposure</a:t>
            </a:r>
            <a:endParaRPr lang="de-DE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B2440"/>
          </a:solidFill>
          <a:ln w="9525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1005840" y="489204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Erwarteter Schaden</a:t>
            </a: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=  Schadenbedarf × Exposure</a:t>
            </a:r>
            <a:endParaRPr lang="de-DE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77256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88720" y="541324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Annualisierte Raten werden nie einfach summiert – weder im Modell noch in SQL oder DAX.</a:t>
            </a:r>
            <a:endParaRPr lang="de-DE" sz="1050" dirty="0"/>
          </a:p>
        </p:txBody>
      </p:sp>
      <p:sp>
        <p:nvSpPr>
          <p:cNvPr id="24" name="Shape 21"/>
          <p:cNvSpPr/>
          <p:nvPr/>
        </p:nvSpPr>
        <p:spPr>
          <a:xfrm>
            <a:off x="6199632" y="1572768"/>
            <a:ext cx="5440680" cy="4325112"/>
          </a:xfrm>
          <a:prstGeom prst="roundRect">
            <a:avLst>
              <a:gd name="adj" fmla="val 253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 txBox="1"/>
          <p:nvPr/>
        </p:nvSpPr>
        <p:spPr>
          <a:xfrm>
            <a:off x="6473952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LEITPLANKE 2</a:t>
            </a:r>
            <a:endParaRPr lang="de-DE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73952" y="20116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Fehlende Schadenhöhe ≠ 0 €</a:t>
            </a:r>
            <a:endParaRPr lang="de-DE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73952" y="23774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Drei Bewertungspopulationen im Holdout (135.603 Policen)</a:t>
            </a:r>
            <a:endParaRPr lang="de-DE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217152" y="27797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135.603 Policen</a:t>
            </a:r>
            <a:endParaRPr lang="de-DE" sz="1250" dirty="0"/>
          </a:p>
        </p:txBody>
      </p:sp>
      <p:sp>
        <p:nvSpPr>
          <p:cNvPr id="30" name="Shape 27"/>
          <p:cNvSpPr/>
          <p:nvPr/>
        </p:nvSpPr>
        <p:spPr>
          <a:xfrm>
            <a:off x="6473952" y="3081528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6473952" y="3081528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 txBox="1"/>
          <p:nvPr/>
        </p:nvSpPr>
        <p:spPr>
          <a:xfrm>
            <a:off x="6473952" y="33009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Holdout-Policen – Schadenanzahl ist immer bekannt</a:t>
            </a:r>
            <a:endParaRPr lang="de-DE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473952" y="3630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/ Schadenaufwand</a:t>
            </a:r>
            <a:endParaRPr lang="de-DE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9217152" y="3630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133.790 Policen</a:t>
            </a:r>
            <a:endParaRPr lang="de-DE" sz="1250" dirty="0"/>
          </a:p>
        </p:txBody>
      </p:sp>
      <p:sp>
        <p:nvSpPr>
          <p:cNvPr id="35" name="Shape 32"/>
          <p:cNvSpPr/>
          <p:nvPr/>
        </p:nvSpPr>
        <p:spPr>
          <a:xfrm>
            <a:off x="6473952" y="3931920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3"/>
          <p:cNvSpPr/>
          <p:nvPr/>
        </p:nvSpPr>
        <p:spPr>
          <a:xfrm>
            <a:off x="6473952" y="3931920"/>
            <a:ext cx="4826634" cy="1828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 txBox="1"/>
          <p:nvPr/>
        </p:nvSpPr>
        <p:spPr>
          <a:xfrm>
            <a:off x="6473952" y="415137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128.791 schadenfrei + 4.999 mit bekannter Schadenhöhe</a:t>
            </a:r>
            <a:endParaRPr lang="de-DE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473952" y="4480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9217152" y="4480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4.999 Policen</a:t>
            </a:r>
            <a:endParaRPr lang="de-DE" sz="1250" dirty="0"/>
          </a:p>
        </p:txBody>
      </p:sp>
      <p:sp>
        <p:nvSpPr>
          <p:cNvPr id="40" name="Shape 37"/>
          <p:cNvSpPr/>
          <p:nvPr/>
        </p:nvSpPr>
        <p:spPr>
          <a:xfrm>
            <a:off x="6473952" y="4782312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8"/>
          <p:cNvSpPr/>
          <p:nvPr/>
        </p:nvSpPr>
        <p:spPr>
          <a:xfrm>
            <a:off x="6473952" y="478231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39"/>
          <p:cNvSpPr txBox="1"/>
          <p:nvPr/>
        </p:nvSpPr>
        <p:spPr>
          <a:xfrm>
            <a:off x="6473952" y="500176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beobachtbare positive Schadenhöhen · ClaimNb-gewichtet</a:t>
            </a:r>
            <a:endParaRPr lang="de-DE" sz="10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5477256"/>
            <a:ext cx="256032" cy="256032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6839712" y="541324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Ausgeschlossen: 1.813 Holdout-Policen mit Schaden, aber unbekannter Schadenhöhe</a:t>
            </a:r>
            <a:endParaRPr lang="de-DE" sz="1050" dirty="0"/>
          </a:p>
        </p:txBody>
      </p:sp>
      <p:sp>
        <p:nvSpPr>
          <p:cNvPr id="45" name="Shape 41"/>
          <p:cNvSpPr/>
          <p:nvPr/>
        </p:nvSpPr>
        <p:spPr>
          <a:xfrm>
            <a:off x="548640" y="5989320"/>
            <a:ext cx="11091672" cy="292608"/>
          </a:xfrm>
          <a:prstGeom prst="roundRect">
            <a:avLst>
              <a:gd name="adj" fmla="val 25000"/>
            </a:avLst>
          </a:prstGeom>
          <a:solidFill>
            <a:srgbClr val="10213F">
              <a:alpha val="7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6025896"/>
            <a:ext cx="219456" cy="219456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105156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Split: 542.410 Train · 135.603 Holdout – einmal festgelegt und projektweit wiederverwendet</a:t>
            </a:r>
            <a:endParaRPr lang="de-DE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MODELLIERUNG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Vier Modellperspektiven – vier klare Rollen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19</a:t>
            </a:r>
            <a:endParaRPr lang="de-DE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ZWEISTUFIGER ANSATZ</a:t>
            </a:r>
            <a:endParaRPr lang="de-DE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15179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DIREKTER ANSATZ</a:t>
            </a:r>
            <a:endParaRPr lang="de-DE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749808" y="201168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13969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9888" y="19751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89888" y="2267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Poisson-GLM</a:t>
            </a:r>
            <a:endParaRPr lang="de-DE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26517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„Wie oft tritt ein Schaden auf?“</a:t>
            </a:r>
            <a:endParaRPr lang="de-DE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953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315468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Schadenhäufigkeit &amp; Portfolio-Kalibrierung</a:t>
            </a:r>
            <a:endParaRPr lang="de-DE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749808" y="397764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10565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89888" y="39410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389888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Gamma-GLM</a:t>
            </a:r>
            <a:endParaRPr lang="de-DE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" y="461772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„Wie teuer ist ein Schaden?“</a:t>
            </a:r>
            <a:endParaRPr lang="de-DE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49808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512064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Monetäre Schadenhöhen-Komponente</a:t>
            </a:r>
            <a:endParaRPr lang="de-DE" sz="1150" dirty="0"/>
          </a:p>
        </p:txBody>
      </p:sp>
      <p:sp>
        <p:nvSpPr>
          <p:cNvPr id="24" name="Shape 20"/>
          <p:cNvSpPr/>
          <p:nvPr/>
        </p:nvSpPr>
        <p:spPr>
          <a:xfrm>
            <a:off x="3977640" y="2720340"/>
            <a:ext cx="301752" cy="786384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1"/>
          <p:cNvSpPr/>
          <p:nvPr/>
        </p:nvSpPr>
        <p:spPr>
          <a:xfrm flipV="1">
            <a:off x="3977640" y="3899916"/>
            <a:ext cx="301752" cy="786384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2"/>
          <p:cNvSpPr/>
          <p:nvPr/>
        </p:nvSpPr>
        <p:spPr>
          <a:xfrm>
            <a:off x="4206240" y="3474720"/>
            <a:ext cx="457200" cy="457200"/>
          </a:xfrm>
          <a:prstGeom prst="ellipse">
            <a:avLst/>
          </a:prstGeom>
          <a:solidFill>
            <a:srgbClr val="0E2A47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3"/>
          <p:cNvSpPr txBox="1"/>
          <p:nvPr/>
        </p:nvSpPr>
        <p:spPr>
          <a:xfrm>
            <a:off x="4206240" y="34747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</a:t>
            </a:r>
            <a:endParaRPr lang="de-DE" sz="2000" dirty="0"/>
          </a:p>
        </p:txBody>
      </p:sp>
      <p:sp>
        <p:nvSpPr>
          <p:cNvPr id="28" name="Shape 24"/>
          <p:cNvSpPr/>
          <p:nvPr/>
        </p:nvSpPr>
        <p:spPr>
          <a:xfrm>
            <a:off x="4663440" y="3703320"/>
            <a:ext cx="228600" cy="0"/>
          </a:xfrm>
          <a:prstGeom prst="line">
            <a:avLst/>
          </a:prstGeom>
          <a:noFill/>
          <a:ln w="15875">
            <a:solidFill>
              <a:srgbClr val="7389A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5"/>
          <p:cNvSpPr/>
          <p:nvPr/>
        </p:nvSpPr>
        <p:spPr>
          <a:xfrm>
            <a:off x="4892040" y="26517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6"/>
          <p:cNvSpPr/>
          <p:nvPr/>
        </p:nvSpPr>
        <p:spPr>
          <a:xfrm>
            <a:off x="5093208" y="283464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224" y="2962656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733288" y="27980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</a:t>
            </a:r>
            <a:endParaRPr lang="de-DE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5733288" y="3090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× Severity</a:t>
            </a:r>
            <a:endParaRPr lang="de-DE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093208" y="3474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„Kommt das Risiko aus Häufigkeit oder aus Schadenhöhe?“</a:t>
            </a:r>
            <a:endParaRPr lang="de-DE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5093208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5093208" y="42976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Dekomposition &amp; fachliche Erklärung</a:t>
            </a:r>
            <a:endParaRPr lang="de-DE" sz="1150" dirty="0"/>
          </a:p>
        </p:txBody>
      </p:sp>
      <p:sp>
        <p:nvSpPr>
          <p:cNvPr id="37" name="Shape 32"/>
          <p:cNvSpPr/>
          <p:nvPr/>
        </p:nvSpPr>
        <p:spPr>
          <a:xfrm>
            <a:off x="8458200" y="1828800"/>
            <a:ext cx="3182112" cy="3749040"/>
          </a:xfrm>
          <a:prstGeom prst="roundRect">
            <a:avLst>
              <a:gd name="adj" fmla="val 3448"/>
            </a:avLst>
          </a:prstGeom>
          <a:solidFill>
            <a:srgbClr val="10213F">
              <a:alpha val="92000"/>
            </a:srgbClr>
          </a:solidFill>
          <a:ln w="15875">
            <a:solidFill>
              <a:srgbClr val="2DD4BF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3"/>
          <p:cNvSpPr/>
          <p:nvPr/>
        </p:nvSpPr>
        <p:spPr>
          <a:xfrm>
            <a:off x="8659368" y="2011680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7384" y="2139696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299448" y="19751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9299448" y="226771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Tweedie-GLM · Power 1,9</a:t>
            </a:r>
            <a:endParaRPr lang="de-DE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8659368" y="265176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50" i="1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„Wie hoch ist der Schadenbedarf direkt?“</a:t>
            </a:r>
            <a:endParaRPr lang="de-DE" sz="1250" dirty="0"/>
          </a:p>
        </p:txBody>
      </p:sp>
      <p:sp>
        <p:nvSpPr>
          <p:cNvPr id="43" name="Text 37"/>
          <p:cNvSpPr txBox="1"/>
          <p:nvPr/>
        </p:nvSpPr>
        <p:spPr>
          <a:xfrm>
            <a:off x="8659368" y="3154680"/>
            <a:ext cx="2779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Bildet viele Nullen und positive, stark schiefe Schadenbeträge in einem einzigen Modell ab.</a:t>
            </a:r>
            <a:endParaRPr lang="de-DE" sz="1100" dirty="0"/>
          </a:p>
          <a:p>
            <a:pPr marL="0" indent="0">
              <a:buNone/>
            </a:pPr>
            <a:endParaRPr lang="de-DE" sz="1100" dirty="0"/>
          </a:p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Ziel: Schadenaufwand ÷ Exposure</a:t>
            </a:r>
            <a:endParaRPr lang="de-DE" sz="1100" dirty="0"/>
          </a:p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Gewichtung: Exposure</a:t>
            </a:r>
            <a:endParaRPr lang="de-DE" sz="1100" dirty="0"/>
          </a:p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Basis: Policen mit beobachtbarem Schadenaufwand</a:t>
            </a:r>
            <a:endParaRPr lang="de-DE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8659368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850" b="1" kern="0" spc="2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</a:t>
            </a:r>
            <a:endParaRPr lang="de-DE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8659368" y="512064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Zentraler Risikoscore für Ranking, Deciles &amp; Segmentierung</a:t>
            </a:r>
            <a:endParaRPr lang="de-DE" sz="1150" dirty="0"/>
          </a:p>
        </p:txBody>
      </p:sp>
      <p:sp>
        <p:nvSpPr>
          <p:cNvPr id="46" name="Shape 40"/>
          <p:cNvSpPr/>
          <p:nvPr/>
        </p:nvSpPr>
        <p:spPr>
          <a:xfrm>
            <a:off x="548640" y="5760720"/>
            <a:ext cx="11091672" cy="521208"/>
          </a:xfrm>
          <a:prstGeom prst="roundRect">
            <a:avLst>
              <a:gd name="adj" fmla="val 21053"/>
            </a:avLst>
          </a:prstGeom>
          <a:solidFill>
            <a:srgbClr val="10213F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888736"/>
            <a:ext cx="256032" cy="256032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078992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Erklärbare GLMs mit Splines für nichtlineare Effekte</a:t>
            </a:r>
            <a:endParaRPr lang="de-DE" sz="105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696" y="5888736"/>
            <a:ext cx="256032" cy="256032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4773168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Wichtigste Treiber: Bonus-Malus, Fahrzeug- und Fahreralter</a:t>
            </a:r>
            <a:endParaRPr lang="de-DE" sz="105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9872" y="5888736"/>
            <a:ext cx="256032" cy="25603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467344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Winner-takes-all – klare Rollen</a:t>
            </a:r>
            <a:endParaRPr lang="de-DE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 überzeugt – Severity bleibt begrenzt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40680" cy="3639312"/>
          </a:xfrm>
          <a:prstGeom prst="roundRect">
            <a:avLst>
              <a:gd name="adj" fmla="val 301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9019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 · Poisson-GLM</a:t>
            </a:r>
            <a:endParaRPr lang="de-DE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Holdout: 135.603 Policen</a:t>
            </a:r>
            <a:endParaRPr lang="de-DE" sz="1050" dirty="0"/>
          </a:p>
        </p:txBody>
      </p:sp>
      <p:sp>
        <p:nvSpPr>
          <p:cNvPr id="11" name="Shape 8"/>
          <p:cNvSpPr/>
          <p:nvPr/>
        </p:nvSpPr>
        <p:spPr>
          <a:xfrm>
            <a:off x="4160520" y="184708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4160520" y="18470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Stabilste Komponente</a:t>
            </a:r>
            <a:endParaRPr lang="de-DE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 txBox="1"/>
          <p:nvPr/>
        </p:nvSpPr>
        <p:spPr>
          <a:xfrm>
            <a:off x="886968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−0,25 %</a:t>
            </a:r>
            <a:endParaRPr lang="de-DE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</a:t>
            </a:r>
            <a:endParaRPr lang="de-DE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86968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7.218 prognostiziert vs. 7.236 beobachtet</a:t>
            </a:r>
            <a:endParaRPr lang="de-DE" sz="950" dirty="0"/>
          </a:p>
        </p:txBody>
      </p:sp>
      <p:sp>
        <p:nvSpPr>
          <p:cNvPr id="17" name="Shape 14"/>
          <p:cNvSpPr/>
          <p:nvPr/>
        </p:nvSpPr>
        <p:spPr>
          <a:xfrm>
            <a:off x="2484120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 txBox="1"/>
          <p:nvPr/>
        </p:nvSpPr>
        <p:spPr>
          <a:xfrm>
            <a:off x="2593848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0,290</a:t>
            </a:r>
            <a:endParaRPr lang="de-DE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593848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</a:t>
            </a:r>
            <a:endParaRPr lang="de-DE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593848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brauchbare Risikorangfolge</a:t>
            </a:r>
            <a:endParaRPr lang="de-DE" sz="950" dirty="0"/>
          </a:p>
        </p:txBody>
      </p:sp>
      <p:sp>
        <p:nvSpPr>
          <p:cNvPr id="21" name="Shape 18"/>
          <p:cNvSpPr/>
          <p:nvPr/>
        </p:nvSpPr>
        <p:spPr>
          <a:xfrm>
            <a:off x="4191000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 txBox="1"/>
          <p:nvPr/>
        </p:nvSpPr>
        <p:spPr>
          <a:xfrm>
            <a:off x="4300728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5,3 %</a:t>
            </a:r>
            <a:endParaRPr lang="de-DE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4300728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besser als Baseline</a:t>
            </a:r>
            <a:endParaRPr lang="de-DE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300728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Deviance 0,593 vs. 0,626</a:t>
            </a:r>
            <a:endParaRPr lang="de-DE" sz="9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517136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07008" y="4315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Trifft das Portfolio-Niveau nahezu exakt und sortiert Risiken sinnvoll.</a:t>
            </a:r>
            <a:endParaRPr lang="de-DE" sz="1250" dirty="0"/>
          </a:p>
        </p:txBody>
      </p:sp>
      <p:sp>
        <p:nvSpPr>
          <p:cNvPr id="27" name="Shape 23"/>
          <p:cNvSpPr/>
          <p:nvPr/>
        </p:nvSpPr>
        <p:spPr>
          <a:xfrm>
            <a:off x="6199632" y="1572768"/>
            <a:ext cx="5440680" cy="3639312"/>
          </a:xfrm>
          <a:prstGeom prst="roundRect">
            <a:avLst>
              <a:gd name="adj" fmla="val 301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4"/>
          <p:cNvSpPr/>
          <p:nvPr/>
        </p:nvSpPr>
        <p:spPr>
          <a:xfrm>
            <a:off x="6428232" y="177393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1901952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068312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 · Gamma-GLM</a:t>
            </a:r>
            <a:endParaRPr lang="de-DE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7068312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Holdout: 4.999 Policen · ClaimNb-gewichtet</a:t>
            </a:r>
            <a:endParaRPr lang="de-DE" sz="1050" dirty="0"/>
          </a:p>
        </p:txBody>
      </p:sp>
      <p:sp>
        <p:nvSpPr>
          <p:cNvPr id="32" name="Shape 27"/>
          <p:cNvSpPr/>
          <p:nvPr/>
        </p:nvSpPr>
        <p:spPr>
          <a:xfrm>
            <a:off x="9811512" y="184708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28"/>
          <p:cNvSpPr txBox="1"/>
          <p:nvPr/>
        </p:nvSpPr>
        <p:spPr>
          <a:xfrm>
            <a:off x="9811512" y="18470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Begrenzt</a:t>
            </a:r>
            <a:endParaRPr lang="de-DE" sz="1000" dirty="0"/>
          </a:p>
        </p:txBody>
      </p:sp>
      <p:sp>
        <p:nvSpPr>
          <p:cNvPr id="34" name="Shape 29"/>
          <p:cNvSpPr/>
          <p:nvPr/>
        </p:nvSpPr>
        <p:spPr>
          <a:xfrm>
            <a:off x="6428232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0"/>
          <p:cNvSpPr txBox="1"/>
          <p:nvPr/>
        </p:nvSpPr>
        <p:spPr>
          <a:xfrm>
            <a:off x="6537960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+3,99 %</a:t>
            </a:r>
            <a:endParaRPr lang="de-DE" sz="2200" dirty="0"/>
          </a:p>
        </p:txBody>
      </p:sp>
      <p:sp>
        <p:nvSpPr>
          <p:cNvPr id="36" name="Text 31"/>
          <p:cNvSpPr txBox="1"/>
          <p:nvPr/>
        </p:nvSpPr>
        <p:spPr>
          <a:xfrm>
            <a:off x="6537960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</a:t>
            </a:r>
            <a:endParaRPr lang="de-DE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6537960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2.164 € vs. 2.081 € je Schaden</a:t>
            </a:r>
            <a:endParaRPr lang="de-DE" sz="950" dirty="0"/>
          </a:p>
        </p:txBody>
      </p:sp>
      <p:sp>
        <p:nvSpPr>
          <p:cNvPr id="38" name="Shape 33"/>
          <p:cNvSpPr/>
          <p:nvPr/>
        </p:nvSpPr>
        <p:spPr>
          <a:xfrm>
            <a:off x="8135112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4"/>
          <p:cNvSpPr txBox="1"/>
          <p:nvPr/>
        </p:nvSpPr>
        <p:spPr>
          <a:xfrm>
            <a:off x="8244840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0,003</a:t>
            </a:r>
            <a:endParaRPr lang="de-DE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8244840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</a:t>
            </a:r>
            <a:endParaRPr lang="de-DE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8244840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kaum Rangordnung</a:t>
            </a:r>
            <a:endParaRPr lang="de-DE" sz="950" dirty="0"/>
          </a:p>
        </p:txBody>
      </p:sp>
      <p:sp>
        <p:nvSpPr>
          <p:cNvPr id="42" name="Shape 37"/>
          <p:cNvSpPr/>
          <p:nvPr/>
        </p:nvSpPr>
        <p:spPr>
          <a:xfrm>
            <a:off x="9841992" y="2532888"/>
            <a:ext cx="1569720" cy="1627632"/>
          </a:xfrm>
          <a:prstGeom prst="roundRect">
            <a:avLst>
              <a:gd name="adj" fmla="val 58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8"/>
          <p:cNvSpPr txBox="1"/>
          <p:nvPr/>
        </p:nvSpPr>
        <p:spPr>
          <a:xfrm>
            <a:off x="9951720" y="2660904"/>
            <a:ext cx="1350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1,5 %</a:t>
            </a:r>
            <a:endParaRPr lang="de-DE" sz="2200" dirty="0"/>
          </a:p>
        </p:txBody>
      </p:sp>
      <p:sp>
        <p:nvSpPr>
          <p:cNvPr id="44" name="Text 39"/>
          <p:cNvSpPr txBox="1"/>
          <p:nvPr/>
        </p:nvSpPr>
        <p:spPr>
          <a:xfrm>
            <a:off x="9951720" y="3136392"/>
            <a:ext cx="1350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schlechter als Baseline</a:t>
            </a:r>
            <a:endParaRPr lang="de-DE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9951720" y="3401568"/>
            <a:ext cx="1350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Deviance 1,567 vs. 1,544</a:t>
            </a:r>
            <a:endParaRPr lang="de-DE" sz="95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4517136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6858000" y="4315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Trifft das Euro-Niveau, sortiert aber kaum: nur monetäre Komponente – kein eigenständiger Risikoscore.</a:t>
            </a:r>
            <a:endParaRPr lang="de-DE" sz="1250" dirty="0"/>
          </a:p>
        </p:txBody>
      </p:sp>
      <p:sp>
        <p:nvSpPr>
          <p:cNvPr id="48" name="Shape 42"/>
          <p:cNvSpPr/>
          <p:nvPr/>
        </p:nvSpPr>
        <p:spPr>
          <a:xfrm>
            <a:off x="548640" y="5376672"/>
            <a:ext cx="11091672" cy="905256"/>
          </a:xfrm>
          <a:prstGeom prst="roundRect">
            <a:avLst>
              <a:gd name="adj" fmla="val 12121"/>
            </a:avLst>
          </a:prstGeom>
          <a:solidFill>
            <a:srgbClr val="10213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3"/>
          <p:cNvSpPr txBox="1"/>
          <p:nvPr/>
        </p:nvSpPr>
        <p:spPr>
          <a:xfrm>
            <a:off x="777240" y="54681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LESE ICH DIE KENNZAHLEN</a:t>
            </a:r>
            <a:endParaRPr lang="de-DE" sz="950" dirty="0"/>
          </a:p>
        </p:txBody>
      </p:sp>
      <p:sp>
        <p:nvSpPr>
          <p:cNvPr id="50" name="Text 44"/>
          <p:cNvSpPr txBox="1"/>
          <p:nvPr/>
        </p:nvSpPr>
        <p:spPr>
          <a:xfrm>
            <a:off x="777240" y="5715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Deviance vs. Baseline 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Besser als ein Durchschnittswert für alle?</a:t>
            </a:r>
            <a:endParaRPr lang="de-DE" sz="1050" dirty="0"/>
          </a:p>
        </p:txBody>
      </p:sp>
      <p:sp>
        <p:nvSpPr>
          <p:cNvPr id="51" name="Text 45"/>
          <p:cNvSpPr txBox="1"/>
          <p:nvPr/>
        </p:nvSpPr>
        <p:spPr>
          <a:xfrm>
            <a:off x="4416552" y="5715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 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Trifft die Summe der Prognosen das beobachtete Niveau?</a:t>
            </a:r>
            <a:endParaRPr lang="de-DE" sz="1050" dirty="0"/>
          </a:p>
        </p:txBody>
      </p:sp>
      <p:sp>
        <p:nvSpPr>
          <p:cNvPr id="52" name="Text 46"/>
          <p:cNvSpPr txBox="1"/>
          <p:nvPr/>
        </p:nvSpPr>
        <p:spPr>
          <a:xfrm>
            <a:off x="8055864" y="5715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 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Bringt das Modell Risiken in die richtige Reihenfolge?</a:t>
            </a:r>
            <a:endParaRPr lang="de-DE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MODELLVERGLEICH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 und Tweedie: gleiche Basis, andere Stärken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9019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</a:t>
            </a:r>
            <a:endParaRPr lang="de-DE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029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× Severity</a:t>
            </a:r>
            <a:endParaRPr lang="de-DE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25054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24597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Zeigt, ob Risiko aus Häufigkeit oder aus Schadenhöhe entsteht</a:t>
            </a:r>
            <a:endParaRPr lang="de-DE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3255264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 txBox="1"/>
          <p:nvPr/>
        </p:nvSpPr>
        <p:spPr>
          <a:xfrm>
            <a:off x="777240" y="3255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 Erklären &amp; zerlegen</a:t>
            </a:r>
            <a:endParaRPr lang="de-DE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95928"/>
            <a:ext cx="3840480" cy="2267712"/>
          </a:xfrm>
          <a:prstGeom prst="roundRect">
            <a:avLst>
              <a:gd name="adj" fmla="val 48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DD4BF"/>
            </a:solidFill>
            <a:prstDash val="solid"/>
          </a:ln>
          <a:effectLst>
            <a:outerShdw blurRad="228600" dist="50800" dir="5400000" algn="bl" rotWithShape="0">
              <a:srgbClr val="2DD4BF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2511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60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4453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Direkte Schätzung · Power 1,9</a:t>
            </a:r>
            <a:endParaRPr lang="de-DE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9286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48828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 Nullen und schiefe Beträge in einem Modell</a:t>
            </a:r>
            <a:endParaRPr lang="de-DE" sz="1200" dirty="0"/>
          </a:p>
        </p:txBody>
      </p:sp>
      <p:sp>
        <p:nvSpPr>
          <p:cNvPr id="22" name="Shape 16"/>
          <p:cNvSpPr/>
          <p:nvPr/>
        </p:nvSpPr>
        <p:spPr>
          <a:xfrm>
            <a:off x="777240" y="5660136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7"/>
          <p:cNvSpPr txBox="1"/>
          <p:nvPr/>
        </p:nvSpPr>
        <p:spPr>
          <a:xfrm>
            <a:off x="777240" y="5660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 Ranking &amp; Segmentierung</a:t>
            </a:r>
            <a:endParaRPr lang="de-DE" sz="1150" dirty="0"/>
          </a:p>
        </p:txBody>
      </p:sp>
      <p:sp>
        <p:nvSpPr>
          <p:cNvPr id="24" name="Shape 18"/>
          <p:cNvSpPr/>
          <p:nvPr/>
        </p:nvSpPr>
        <p:spPr>
          <a:xfrm>
            <a:off x="4617720" y="1572768"/>
            <a:ext cx="7022592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19"/>
          <p:cNvSpPr txBox="1"/>
          <p:nvPr/>
        </p:nvSpPr>
        <p:spPr>
          <a:xfrm>
            <a:off x="489204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Vergleich auf identischer Basis</a:t>
            </a:r>
            <a:endParaRPr lang="de-DE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892040" y="20482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133.790 Holdout-Policen mit beobachtbarem Schadenaufwand</a:t>
            </a:r>
            <a:endParaRPr lang="de-DE" sz="1100" dirty="0"/>
          </a:p>
        </p:txBody>
      </p:sp>
      <p:sp>
        <p:nvSpPr>
          <p:cNvPr id="27" name="Shape 21"/>
          <p:cNvSpPr/>
          <p:nvPr/>
        </p:nvSpPr>
        <p:spPr>
          <a:xfrm>
            <a:off x="9308592" y="18470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2"/>
          <p:cNvSpPr txBox="1"/>
          <p:nvPr/>
        </p:nvSpPr>
        <p:spPr>
          <a:xfrm>
            <a:off x="9564624" y="1792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</a:t>
            </a:r>
            <a:endParaRPr lang="de-DE" sz="1100" dirty="0"/>
          </a:p>
        </p:txBody>
      </p:sp>
      <p:sp>
        <p:nvSpPr>
          <p:cNvPr id="29" name="Shape 23"/>
          <p:cNvSpPr/>
          <p:nvPr/>
        </p:nvSpPr>
        <p:spPr>
          <a:xfrm>
            <a:off x="10497312" y="18470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4"/>
          <p:cNvSpPr txBox="1"/>
          <p:nvPr/>
        </p:nvSpPr>
        <p:spPr>
          <a:xfrm>
            <a:off x="10753344" y="1792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</a:t>
            </a:r>
            <a:endParaRPr lang="de-DE" sz="1100" dirty="0"/>
          </a:p>
        </p:txBody>
      </p:sp>
      <p:sp>
        <p:nvSpPr>
          <p:cNvPr id="31" name="Shape 25"/>
          <p:cNvSpPr/>
          <p:nvPr/>
        </p:nvSpPr>
        <p:spPr>
          <a:xfrm>
            <a:off x="4892040" y="2487168"/>
            <a:ext cx="2066544" cy="2651760"/>
          </a:xfrm>
          <a:prstGeom prst="roundRect">
            <a:avLst>
              <a:gd name="adj" fmla="val 44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6"/>
          <p:cNvSpPr txBox="1"/>
          <p:nvPr/>
        </p:nvSpPr>
        <p:spPr>
          <a:xfrm>
            <a:off x="5029200" y="25968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Mean Tweedie Deviance</a:t>
            </a:r>
            <a:endParaRPr lang="de-DE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5029200" y="46360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praktisch gleichauf</a:t>
            </a:r>
            <a:endParaRPr lang="de-DE" sz="1050" dirty="0"/>
          </a:p>
        </p:txBody>
      </p:sp>
      <p:sp>
        <p:nvSpPr>
          <p:cNvPr id="34" name="Shape 28"/>
          <p:cNvSpPr/>
          <p:nvPr/>
        </p:nvSpPr>
        <p:spPr>
          <a:xfrm>
            <a:off x="7095744" y="2487168"/>
            <a:ext cx="2066544" cy="2651760"/>
          </a:xfrm>
          <a:prstGeom prst="roundRect">
            <a:avLst>
              <a:gd name="adj" fmla="val 44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29"/>
          <p:cNvSpPr txBox="1"/>
          <p:nvPr/>
        </p:nvSpPr>
        <p:spPr>
          <a:xfrm>
            <a:off x="7232904" y="25968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Portfolio-Abweichung</a:t>
            </a:r>
            <a:endParaRPr lang="de-DE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7232904" y="46360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näher am beobachteten Schaden</a:t>
            </a:r>
            <a:endParaRPr lang="de-DE" sz="1050" dirty="0"/>
          </a:p>
        </p:txBody>
      </p:sp>
      <p:sp>
        <p:nvSpPr>
          <p:cNvPr id="37" name="Shape 31"/>
          <p:cNvSpPr/>
          <p:nvPr/>
        </p:nvSpPr>
        <p:spPr>
          <a:xfrm>
            <a:off x="9299448" y="2487168"/>
            <a:ext cx="2066544" cy="2651760"/>
          </a:xfrm>
          <a:prstGeom prst="roundRect">
            <a:avLst>
              <a:gd name="adj" fmla="val 4425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2"/>
          <p:cNvSpPr txBox="1"/>
          <p:nvPr/>
        </p:nvSpPr>
        <p:spPr>
          <a:xfrm>
            <a:off x="9436608" y="25968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Gini (Ranking)</a:t>
            </a:r>
            <a:endParaRPr lang="de-DE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9436608" y="46360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sortiert besser</a:t>
            </a:r>
            <a:endParaRPr lang="de-DE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5029200" y="29900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34,357</a:t>
            </a:r>
            <a:endParaRPr lang="de-DE" sz="2200" dirty="0"/>
          </a:p>
        </p:txBody>
      </p:sp>
      <p:sp>
        <p:nvSpPr>
          <p:cNvPr id="41" name="Text 35"/>
          <p:cNvSpPr txBox="1"/>
          <p:nvPr/>
        </p:nvSpPr>
        <p:spPr>
          <a:xfrm>
            <a:off x="5029200" y="335584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</a:t>
            </a:r>
            <a:endParaRPr lang="de-DE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5029200" y="364845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34,364</a:t>
            </a:r>
            <a:endParaRPr lang="de-DE" sz="2200" dirty="0"/>
          </a:p>
        </p:txBody>
      </p:sp>
      <p:sp>
        <p:nvSpPr>
          <p:cNvPr id="43" name="Text 37"/>
          <p:cNvSpPr txBox="1"/>
          <p:nvPr/>
        </p:nvSpPr>
        <p:spPr>
          <a:xfrm>
            <a:off x="5029200" y="40142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</a:t>
            </a:r>
            <a:endParaRPr lang="de-DE" sz="950" dirty="0"/>
          </a:p>
        </p:txBody>
      </p:sp>
      <p:sp>
        <p:nvSpPr>
          <p:cNvPr id="44" name="Text 38"/>
          <p:cNvSpPr txBox="1"/>
          <p:nvPr/>
        </p:nvSpPr>
        <p:spPr>
          <a:xfrm>
            <a:off x="5029200" y="433425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Baseline: 34,602</a:t>
            </a:r>
            <a:endParaRPr lang="de-DE" sz="1000" dirty="0"/>
          </a:p>
        </p:txBody>
      </p:sp>
      <p:sp>
        <p:nvSpPr>
          <p:cNvPr id="45" name="Shape 39"/>
          <p:cNvSpPr/>
          <p:nvPr/>
        </p:nvSpPr>
        <p:spPr>
          <a:xfrm>
            <a:off x="7470648" y="3363620"/>
            <a:ext cx="566928" cy="11352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0"/>
          <p:cNvSpPr txBox="1"/>
          <p:nvPr/>
        </p:nvSpPr>
        <p:spPr>
          <a:xfrm>
            <a:off x="7242048" y="30527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+36,3 %</a:t>
            </a:r>
            <a:endParaRPr lang="de-DE" sz="1300" dirty="0"/>
          </a:p>
        </p:txBody>
      </p:sp>
      <p:sp>
        <p:nvSpPr>
          <p:cNvPr id="47" name="Shape 41"/>
          <p:cNvSpPr/>
          <p:nvPr/>
        </p:nvSpPr>
        <p:spPr>
          <a:xfrm>
            <a:off x="8220456" y="4298643"/>
            <a:ext cx="566928" cy="200205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2"/>
          <p:cNvSpPr txBox="1"/>
          <p:nvPr/>
        </p:nvSpPr>
        <p:spPr>
          <a:xfrm>
            <a:off x="7991856" y="398774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+6,4 %</a:t>
            </a:r>
            <a:endParaRPr lang="de-DE" sz="1300" dirty="0"/>
          </a:p>
        </p:txBody>
      </p:sp>
      <p:sp>
        <p:nvSpPr>
          <p:cNvPr id="49" name="Shape 43"/>
          <p:cNvSpPr/>
          <p:nvPr/>
        </p:nvSpPr>
        <p:spPr>
          <a:xfrm>
            <a:off x="7333488" y="4498848"/>
            <a:ext cx="1591056" cy="0"/>
          </a:xfrm>
          <a:prstGeom prst="line">
            <a:avLst/>
          </a:prstGeom>
          <a:noFill/>
          <a:ln w="12700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4"/>
          <p:cNvSpPr/>
          <p:nvPr/>
        </p:nvSpPr>
        <p:spPr>
          <a:xfrm>
            <a:off x="9674352" y="3564514"/>
            <a:ext cx="566928" cy="93433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5"/>
          <p:cNvSpPr txBox="1"/>
          <p:nvPr/>
        </p:nvSpPr>
        <p:spPr>
          <a:xfrm>
            <a:off x="9445752" y="325361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0,236</a:t>
            </a:r>
            <a:endParaRPr lang="de-DE" sz="1300" dirty="0"/>
          </a:p>
        </p:txBody>
      </p:sp>
      <p:sp>
        <p:nvSpPr>
          <p:cNvPr id="52" name="Shape 46"/>
          <p:cNvSpPr/>
          <p:nvPr/>
        </p:nvSpPr>
        <p:spPr>
          <a:xfrm>
            <a:off x="10424160" y="3438114"/>
            <a:ext cx="566928" cy="106073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47"/>
          <p:cNvSpPr txBox="1"/>
          <p:nvPr/>
        </p:nvSpPr>
        <p:spPr>
          <a:xfrm>
            <a:off x="10195560" y="312721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0,268</a:t>
            </a:r>
            <a:endParaRPr lang="de-DE" sz="1300" dirty="0"/>
          </a:p>
        </p:txBody>
      </p:sp>
      <p:sp>
        <p:nvSpPr>
          <p:cNvPr id="54" name="Shape 48"/>
          <p:cNvSpPr/>
          <p:nvPr/>
        </p:nvSpPr>
        <p:spPr>
          <a:xfrm>
            <a:off x="9537192" y="4498848"/>
            <a:ext cx="1591056" cy="0"/>
          </a:xfrm>
          <a:prstGeom prst="line">
            <a:avLst/>
          </a:prstGeom>
          <a:noFill/>
          <a:ln w="12700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5303520"/>
            <a:ext cx="237744" cy="237744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5239512" y="5230368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Einordnung: Die Two-Stage-Abweichung enthält teilweise einen Selektionseffekt – das Frequency-Modell hat auch aus Schäden ohne beobachtbare Schadenhöhe gelernt.</a:t>
            </a:r>
            <a:endParaRPr lang="de-DE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4892040" y="5733288"/>
            <a:ext cx="6473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35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Ergebnis: kein Winner-takes-all – Two-Stage erklärt, Tweedie priorisiert.</a:t>
            </a:r>
            <a:endParaRPr lang="de-DE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RISIKOSEGMENTIERUNG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 der Policen – 32 % des erwarteten Schadens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90372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SEGMENTLOGIK</a:t>
            </a:r>
            <a:endParaRPr lang="de-DE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933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Quantile des Tweedie-Schadenbedarfs</a:t>
            </a:r>
            <a:endParaRPr lang="de-DE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225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678.013 Policen nach modelliertem Risiko sortiert</a:t>
            </a:r>
            <a:endParaRPr lang="de-DE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niedriger Schadenbedarf</a:t>
            </a:r>
            <a:endParaRPr lang="de-DE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697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hoher Schadenbedarf  →</a:t>
            </a:r>
            <a:endParaRPr lang="de-DE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990088"/>
            <a:ext cx="3177540" cy="777240"/>
          </a:xfrm>
          <a:prstGeom prst="rect">
            <a:avLst/>
          </a:prstGeom>
          <a:solidFill>
            <a:srgbClr val="2F7FA3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822960" y="2990088"/>
            <a:ext cx="3177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50 %</a:t>
            </a:r>
            <a:endParaRPr lang="de-DE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87952"/>
            <a:ext cx="3177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339.008</a:t>
            </a:r>
            <a:endParaRPr lang="de-DE" sz="1000" dirty="0"/>
          </a:p>
        </p:txBody>
      </p:sp>
      <p:sp>
        <p:nvSpPr>
          <p:cNvPr id="15" name="Shape 13"/>
          <p:cNvSpPr/>
          <p:nvPr/>
        </p:nvSpPr>
        <p:spPr>
          <a:xfrm>
            <a:off x="4000500" y="2990088"/>
            <a:ext cx="1588770" cy="777240"/>
          </a:xfrm>
          <a:prstGeom prst="rect">
            <a:avLst/>
          </a:prstGeom>
          <a:solidFill>
            <a:srgbClr val="22D3EE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4000500" y="2990088"/>
            <a:ext cx="1588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25 %</a:t>
            </a:r>
            <a:endParaRPr lang="de-D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00500" y="4187952"/>
            <a:ext cx="158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169.508</a:t>
            </a:r>
            <a:endParaRPr lang="de-DE" sz="1000" dirty="0"/>
          </a:p>
        </p:txBody>
      </p:sp>
      <p:sp>
        <p:nvSpPr>
          <p:cNvPr id="18" name="Shape 16"/>
          <p:cNvSpPr/>
          <p:nvPr/>
        </p:nvSpPr>
        <p:spPr>
          <a:xfrm>
            <a:off x="5589270" y="2990088"/>
            <a:ext cx="953262" cy="777240"/>
          </a:xfrm>
          <a:prstGeom prst="rect">
            <a:avLst/>
          </a:prstGeom>
          <a:solidFill>
            <a:srgbClr val="FBBF24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5589270" y="2990088"/>
            <a:ext cx="9532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ELEVATED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15 %</a:t>
            </a:r>
            <a:endParaRPr lang="de-DE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89270" y="4187952"/>
            <a:ext cx="9532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101.695</a:t>
            </a:r>
            <a:endParaRPr lang="de-DE" sz="1000" dirty="0"/>
          </a:p>
        </p:txBody>
      </p:sp>
      <p:sp>
        <p:nvSpPr>
          <p:cNvPr id="21" name="Shape 19"/>
          <p:cNvSpPr/>
          <p:nvPr/>
        </p:nvSpPr>
        <p:spPr>
          <a:xfrm>
            <a:off x="6542532" y="2990088"/>
            <a:ext cx="635508" cy="777240"/>
          </a:xfrm>
          <a:prstGeom prst="rect">
            <a:avLst/>
          </a:prstGeom>
          <a:solidFill>
            <a:srgbClr val="F87171"/>
          </a:solidFill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6542532" y="2990088"/>
            <a:ext cx="6355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de-DE" sz="1400" dirty="0"/>
          </a:p>
          <a:p>
            <a:pPr marL="0" indent="0" algn="ctr">
              <a:buNone/>
            </a:pPr>
            <a:r>
              <a:rPr lang="de-DE" altLang="en-US" sz="14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</a:t>
            </a:r>
            <a:endParaRPr lang="de-DE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42532" y="4187952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67.802</a:t>
            </a:r>
            <a:endParaRPr lang="de-DE" sz="1000" dirty="0"/>
          </a:p>
        </p:txBody>
      </p:sp>
      <p:sp>
        <p:nvSpPr>
          <p:cNvPr id="24" name="Shape 22"/>
          <p:cNvSpPr/>
          <p:nvPr/>
        </p:nvSpPr>
        <p:spPr>
          <a:xfrm>
            <a:off x="4000500" y="3767328"/>
            <a:ext cx="0" cy="10972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3634740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119 €</a:t>
            </a:r>
            <a:endParaRPr lang="de-DE" sz="1000" dirty="0"/>
          </a:p>
        </p:txBody>
      </p:sp>
      <p:sp>
        <p:nvSpPr>
          <p:cNvPr id="26" name="Shape 24"/>
          <p:cNvSpPr/>
          <p:nvPr/>
        </p:nvSpPr>
        <p:spPr>
          <a:xfrm>
            <a:off x="5589270" y="3767328"/>
            <a:ext cx="0" cy="10972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5223510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188 €</a:t>
            </a:r>
            <a:endParaRPr lang="de-DE" sz="1000" dirty="0"/>
          </a:p>
        </p:txBody>
      </p:sp>
      <p:sp>
        <p:nvSpPr>
          <p:cNvPr id="28" name="Shape 26"/>
          <p:cNvSpPr/>
          <p:nvPr/>
        </p:nvSpPr>
        <p:spPr>
          <a:xfrm>
            <a:off x="6542532" y="3767328"/>
            <a:ext cx="0" cy="10972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6176772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328 €</a:t>
            </a:r>
            <a:endParaRPr lang="de-DE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480560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Grenzen P50 · P75 · P90 (Schadenbedarf pro Jahr) und Anzahl Policen je Segment</a:t>
            </a:r>
            <a:endParaRPr lang="de-DE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DECILES</a:t>
            </a:r>
            <a:endParaRPr lang="de-DE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12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822960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de-DE" sz="1200" dirty="0"/>
          </a:p>
        </p:txBody>
      </p:sp>
      <p:sp>
        <p:nvSpPr>
          <p:cNvPr id="34" name="Shape 32"/>
          <p:cNvSpPr/>
          <p:nvPr/>
        </p:nvSpPr>
        <p:spPr>
          <a:xfrm>
            <a:off x="1466088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1466088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de-DE" sz="1200" dirty="0"/>
          </a:p>
        </p:txBody>
      </p:sp>
      <p:sp>
        <p:nvSpPr>
          <p:cNvPr id="36" name="Shape 34"/>
          <p:cNvSpPr/>
          <p:nvPr/>
        </p:nvSpPr>
        <p:spPr>
          <a:xfrm>
            <a:off x="2109216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28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2109216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de-DE" sz="1200" dirty="0"/>
          </a:p>
        </p:txBody>
      </p:sp>
      <p:sp>
        <p:nvSpPr>
          <p:cNvPr id="38" name="Shape 36"/>
          <p:cNvSpPr/>
          <p:nvPr/>
        </p:nvSpPr>
        <p:spPr>
          <a:xfrm>
            <a:off x="2752344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36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 txBox="1"/>
          <p:nvPr/>
        </p:nvSpPr>
        <p:spPr>
          <a:xfrm>
            <a:off x="2752344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de-DE" sz="1200" dirty="0"/>
          </a:p>
        </p:txBody>
      </p:sp>
      <p:sp>
        <p:nvSpPr>
          <p:cNvPr id="40" name="Shape 38"/>
          <p:cNvSpPr/>
          <p:nvPr/>
        </p:nvSpPr>
        <p:spPr>
          <a:xfrm>
            <a:off x="3395472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44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 txBox="1"/>
          <p:nvPr/>
        </p:nvSpPr>
        <p:spPr>
          <a:xfrm>
            <a:off x="3395472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de-DE" sz="1200" dirty="0"/>
          </a:p>
        </p:txBody>
      </p:sp>
      <p:sp>
        <p:nvSpPr>
          <p:cNvPr id="42" name="Shape 40"/>
          <p:cNvSpPr/>
          <p:nvPr/>
        </p:nvSpPr>
        <p:spPr>
          <a:xfrm>
            <a:off x="4038600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52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 txBox="1"/>
          <p:nvPr/>
        </p:nvSpPr>
        <p:spPr>
          <a:xfrm>
            <a:off x="4038600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de-DE" sz="1200" dirty="0"/>
          </a:p>
        </p:txBody>
      </p:sp>
      <p:sp>
        <p:nvSpPr>
          <p:cNvPr id="44" name="Shape 42"/>
          <p:cNvSpPr/>
          <p:nvPr/>
        </p:nvSpPr>
        <p:spPr>
          <a:xfrm>
            <a:off x="4681728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6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 txBox="1"/>
          <p:nvPr/>
        </p:nvSpPr>
        <p:spPr>
          <a:xfrm>
            <a:off x="4681728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de-DE" sz="1200" dirty="0"/>
          </a:p>
        </p:txBody>
      </p:sp>
      <p:sp>
        <p:nvSpPr>
          <p:cNvPr id="46" name="Shape 44"/>
          <p:cNvSpPr/>
          <p:nvPr/>
        </p:nvSpPr>
        <p:spPr>
          <a:xfrm>
            <a:off x="5324856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68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 txBox="1"/>
          <p:nvPr/>
        </p:nvSpPr>
        <p:spPr>
          <a:xfrm>
            <a:off x="5324856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de-DE" sz="1200" dirty="0"/>
          </a:p>
        </p:txBody>
      </p:sp>
      <p:sp>
        <p:nvSpPr>
          <p:cNvPr id="48" name="Shape 46"/>
          <p:cNvSpPr/>
          <p:nvPr/>
        </p:nvSpPr>
        <p:spPr>
          <a:xfrm>
            <a:off x="5967984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76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 txBox="1"/>
          <p:nvPr/>
        </p:nvSpPr>
        <p:spPr>
          <a:xfrm>
            <a:off x="5967984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de-DE" sz="1200" dirty="0"/>
          </a:p>
        </p:txBody>
      </p:sp>
      <p:sp>
        <p:nvSpPr>
          <p:cNvPr id="50" name="Shape 48"/>
          <p:cNvSpPr/>
          <p:nvPr/>
        </p:nvSpPr>
        <p:spPr>
          <a:xfrm>
            <a:off x="6611112" y="515721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22D3EE">
              <a:alpha val="84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 txBox="1"/>
          <p:nvPr/>
        </p:nvSpPr>
        <p:spPr>
          <a:xfrm>
            <a:off x="6611112" y="51572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de-DE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" y="570585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Feinere Rangfolge: Decile 1 = niedrigstes, Decile 10 = höchstes modelliertes Risiko</a:t>
            </a:r>
            <a:endParaRPr lang="de-DE" sz="1050" dirty="0"/>
          </a:p>
        </p:txBody>
      </p:sp>
      <p:sp>
        <p:nvSpPr>
          <p:cNvPr id="53" name="Shape 51"/>
          <p:cNvSpPr/>
          <p:nvPr/>
        </p:nvSpPr>
        <p:spPr>
          <a:xfrm>
            <a:off x="7680960" y="1572768"/>
            <a:ext cx="3959352" cy="4690872"/>
          </a:xfrm>
          <a:prstGeom prst="roundRect">
            <a:avLst>
              <a:gd name="adj" fmla="val 2771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F87171"/>
            </a:solidFill>
            <a:prstDash val="solid"/>
          </a:ln>
          <a:effectLst>
            <a:outerShdw blurRad="228600" dist="50800" dir="5400000" algn="bl" rotWithShape="0">
              <a:srgbClr val="F87171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 txBox="1"/>
          <p:nvPr/>
        </p:nvSpPr>
        <p:spPr>
          <a:xfrm>
            <a:off x="7955280" y="1755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RISIKOKONZENTRATION</a:t>
            </a:r>
            <a:endParaRPr lang="de-DE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955280" y="20756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4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</a:t>
            </a:r>
            <a:endParaRPr lang="de-DE" sz="440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Policen liegen im HIGH-Segment</a:t>
            </a:r>
            <a:endParaRPr lang="de-DE" sz="1200" dirty="0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3200400"/>
            <a:ext cx="310896" cy="310896"/>
          </a:xfrm>
          <a:prstGeom prst="rect">
            <a:avLst/>
          </a:prstGeom>
        </p:spPr>
      </p:pic>
      <p:sp>
        <p:nvSpPr>
          <p:cNvPr id="58" name="Text 55"/>
          <p:cNvSpPr txBox="1"/>
          <p:nvPr/>
        </p:nvSpPr>
        <p:spPr>
          <a:xfrm>
            <a:off x="7955280" y="34930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54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32,1 %</a:t>
            </a:r>
            <a:endParaRPr lang="de-DE" sz="5400" dirty="0"/>
          </a:p>
        </p:txBody>
      </p:sp>
      <p:sp>
        <p:nvSpPr>
          <p:cNvPr id="59" name="Text 56"/>
          <p:cNvSpPr txBox="1"/>
          <p:nvPr/>
        </p:nvSpPr>
        <p:spPr>
          <a:xfrm>
            <a:off x="7955280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modellierten erwarteten Schadens (Tweedie)</a:t>
            </a:r>
            <a:endParaRPr lang="de-DE" sz="1200" dirty="0"/>
          </a:p>
        </p:txBody>
      </p:sp>
      <p:sp>
        <p:nvSpPr>
          <p:cNvPr id="60" name="Shape 57"/>
          <p:cNvSpPr/>
          <p:nvPr/>
        </p:nvSpPr>
        <p:spPr>
          <a:xfrm>
            <a:off x="7955280" y="5001768"/>
            <a:ext cx="3410712" cy="1005840"/>
          </a:xfrm>
          <a:prstGeom prst="roundRect">
            <a:avLst>
              <a:gd name="adj" fmla="val 727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8"/>
          <p:cNvSpPr txBox="1"/>
          <p:nvPr/>
        </p:nvSpPr>
        <p:spPr>
          <a:xfrm>
            <a:off x="8092440" y="50474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Faktor 3,2: </a:t>
            </a:r>
            <a:r>
              <a:rPr lang="de-DE" altLang="en-US" sz="11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HIGH-Segment trägt mehr als das Dreifache seines Policenanteils. Risiko ist nicht gleich verteilt.</a:t>
            </a:r>
            <a:endParaRPr lang="de-DE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2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Risikosegmentierung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2: Risikosegmentierung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F87171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HIGH-SEGMENT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9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10 % → 32,1 %</a:t>
            </a:r>
            <a:endParaRPr lang="de-DE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13432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Policenanteil vs. Anteil am erwarteten Schaden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HEATMAP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Alter × Bonus-Malus</a:t>
            </a:r>
            <a:endParaRPr lang="de-DE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zeigt, in welchen Profilen sich hohe Schadenbedarfe bündeln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DECILES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0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→ 10</a:t>
            </a:r>
            <a:endParaRPr lang="de-DE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stärkster Anstieg des Schadenbedarfs in den oberen Deciles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4085ABCB-74D6-A18F-39AD-52276412F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1523181"/>
                  </p:ext>
                </p:extLst>
              </p:nvPr>
            </p:nvGraphicFramePr>
            <p:xfrm>
              <a:off x="484554" y="1316735"/>
              <a:ext cx="8714154" cy="493776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4085ABCB-74D6-A18F-39AD-52276412FA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554" y="1316735"/>
                <a:ext cx="8714154" cy="493776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HANDLUNGSEMPFEHLUNGEN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Vom Risikoscore zur Entscheidungsunterstützung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76656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HANDLUNGSLOGIK</a:t>
            </a:r>
            <a:endParaRPr lang="de-DE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933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Segment → Priorität → Handlungshinweis</a:t>
            </a:r>
            <a:endParaRPr lang="de-DE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</a:t>
            </a:r>
            <a:endParaRPr lang="de-DE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PRIORITÄT</a:t>
            </a:r>
            <a:endParaRPr lang="de-DE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b="1" kern="0" spc="1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HANDLUNGSHINWEIS</a:t>
            </a:r>
            <a:endParaRPr lang="de-DE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76148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22960" y="291693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2F7FA3"/>
          </a:solidFill>
          <a:ln w="12700">
            <a:solidFill>
              <a:srgbClr val="2F7F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822960" y="29169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</a:t>
            </a:r>
            <a:endParaRPr lang="de-DE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7614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</a:t>
            </a:r>
            <a:endParaRPr lang="de-DE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7614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Standardprozess</a:t>
            </a:r>
            <a:endParaRPr lang="de-DE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49300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822960" y="364845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822960" y="3648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</a:t>
            </a:r>
            <a:endParaRPr lang="de-DE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4930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</a:t>
            </a:r>
            <a:endParaRPr lang="de-DE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3493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Standardprozess</a:t>
            </a:r>
            <a:endParaRPr lang="de-DE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22452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822960" y="437997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822960" y="43799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ELEVATED</a:t>
            </a:r>
            <a:endParaRPr lang="de-DE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2245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Hoch</a:t>
            </a:r>
            <a:endParaRPr lang="de-DE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2245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Zusätzliche fachliche Prüfung empfohlen</a:t>
            </a:r>
            <a:endParaRPr lang="de-DE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495604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822960" y="511149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822960" y="51114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100" dirty="0">
                <a:solidFill>
                  <a:srgbClr val="0A16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de-DE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49560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Sehr hoch</a:t>
            </a:r>
            <a:endParaRPr lang="de-DE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069080" y="49560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Manuelle Underwriting-Prüfung empfohlen</a:t>
            </a:r>
            <a:endParaRPr lang="de-DE" sz="12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79008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207008" y="56875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 Modell priorisiert, der Mensch entscheidet – keine automatische Ablehnung.</a:t>
            </a:r>
            <a:endParaRPr lang="de-DE" sz="1150" dirty="0"/>
          </a:p>
        </p:txBody>
      </p:sp>
      <p:sp>
        <p:nvSpPr>
          <p:cNvPr id="34" name="Shape 31"/>
          <p:cNvSpPr/>
          <p:nvPr/>
        </p:nvSpPr>
        <p:spPr>
          <a:xfrm>
            <a:off x="7543800" y="1572768"/>
            <a:ext cx="4096512" cy="4690872"/>
          </a:xfrm>
          <a:prstGeom prst="roundRect">
            <a:avLst>
              <a:gd name="adj" fmla="val 267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2"/>
          <p:cNvSpPr txBox="1"/>
          <p:nvPr/>
        </p:nvSpPr>
        <p:spPr>
          <a:xfrm>
            <a:off x="781812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</a:t>
            </a:r>
            <a:endParaRPr lang="de-DE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18120" y="1993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Intensität ≠ Volumen</a:t>
            </a:r>
            <a:endParaRPr lang="de-DE" sz="1600" dirty="0"/>
          </a:p>
        </p:txBody>
      </p:sp>
      <p:sp>
        <p:nvSpPr>
          <p:cNvPr id="37" name="Shape 34"/>
          <p:cNvSpPr/>
          <p:nvPr/>
        </p:nvSpPr>
        <p:spPr>
          <a:xfrm>
            <a:off x="8110728" y="2715768"/>
            <a:ext cx="548640" cy="548640"/>
          </a:xfrm>
          <a:prstGeom prst="ellipse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/>
            </a:solidFill>
            <a:prstDash val="solid"/>
          </a:ln>
          <a:effectLst>
            <a:outerShdw blurRad="177800" dist="50800" dir="5400000" algn="bl" rotWithShape="0">
              <a:srgbClr val="F87171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5"/>
          <p:cNvSpPr txBox="1"/>
          <p:nvPr/>
        </p:nvSpPr>
        <p:spPr>
          <a:xfrm>
            <a:off x="914400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Profil A</a:t>
            </a:r>
            <a:endParaRPr lang="de-DE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1440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wenige Policen, sehr hoher Schadenbedarf je Police</a:t>
            </a:r>
            <a:endParaRPr lang="de-DE" sz="1050" dirty="0"/>
          </a:p>
        </p:txBody>
      </p:sp>
      <p:sp>
        <p:nvSpPr>
          <p:cNvPr id="40" name="Shape 37"/>
          <p:cNvSpPr/>
          <p:nvPr/>
        </p:nvSpPr>
        <p:spPr>
          <a:xfrm>
            <a:off x="7799832" y="3675888"/>
            <a:ext cx="1188720" cy="1188720"/>
          </a:xfrm>
          <a:prstGeom prst="ellipse">
            <a:avLst/>
          </a:prstGeom>
          <a:solidFill>
            <a:srgbClr val="22D3EE">
              <a:alpha val="3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8"/>
          <p:cNvSpPr txBox="1"/>
          <p:nvPr/>
        </p:nvSpPr>
        <p:spPr>
          <a:xfrm>
            <a:off x="914400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Profil B</a:t>
            </a:r>
            <a:endParaRPr lang="de-DE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40873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 Policen, moderater Schadenbedarf – kann insgesamt mehr erwarteten Schaden tragen</a:t>
            </a:r>
            <a:endParaRPr lang="de-DE" sz="1050" dirty="0"/>
          </a:p>
        </p:txBody>
      </p:sp>
      <p:sp>
        <p:nvSpPr>
          <p:cNvPr id="43" name="Shape 40"/>
          <p:cNvSpPr/>
          <p:nvPr/>
        </p:nvSpPr>
        <p:spPr>
          <a:xfrm>
            <a:off x="7818120" y="5184648"/>
            <a:ext cx="3547872" cy="868680"/>
          </a:xfrm>
          <a:prstGeom prst="roundRect">
            <a:avLst>
              <a:gd name="adj" fmla="val 8421"/>
            </a:avLst>
          </a:prstGeom>
          <a:solidFill>
            <a:srgbClr val="0B2440"/>
          </a:solidFill>
          <a:ln w="9525">
            <a:solidFill>
              <a:srgbClr val="2F5F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1"/>
          <p:cNvSpPr txBox="1"/>
          <p:nvPr/>
        </p:nvSpPr>
        <p:spPr>
          <a:xfrm>
            <a:off x="8001000" y="518464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Für die Portfoliosteuerung zählen beide Blickwinkel: Risikointensität und Portfoliovolumen.</a:t>
            </a:r>
            <a:endParaRPr lang="de-DE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3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Erwarteter Schaden &amp; Schadenbedarf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3: Erwarteter Schaden &amp; Schadenbedarf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ERWARTETER SCHADEN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Two-Stage  ≈ 77,0 Mio. €</a:t>
            </a:r>
            <a:endParaRPr lang="de-DE" sz="1250" dirty="0"/>
          </a:p>
          <a:p>
            <a:pPr marL="0" indent="0">
              <a:buNone/>
            </a:pPr>
            <a:r>
              <a:rPr lang="de-DE" altLang="en-US" sz="12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  ≈ 59,6 Mio. €</a:t>
            </a:r>
            <a:endParaRPr lang="de-DE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77440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Portfolio-Prognosen – keine Kalibrierungskennzahl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DEKOMPOSITION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6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Frequenz × Höhe</a:t>
            </a:r>
            <a:endParaRPr lang="de-DE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zeigt je Segment, was den Schadenbedarf treibt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TOP-RISIKOPROFILE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Intensität ≠ Volumen</a:t>
            </a:r>
            <a:endParaRPr lang="de-DE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Hoher Gesamtschaden entsteht auch durch große Profile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90D25F83-57D7-D7CC-80F4-1384469598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320445"/>
                  </p:ext>
                </p:extLst>
              </p:nvPr>
            </p:nvGraphicFramePr>
            <p:xfrm>
              <a:off x="411284" y="1161288"/>
              <a:ext cx="8842444" cy="516135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90D25F83-57D7-D7CC-80F4-1384469598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1284" y="1161288"/>
                <a:ext cx="8842444" cy="516135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TECHNISCHE UMSETZUNG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Bereitstellung: PostgreSQL, Power BI und FastAPI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514344" cy="4114800"/>
          </a:xfrm>
          <a:prstGeom prst="roundRect">
            <a:avLst>
              <a:gd name="adj" fmla="val 312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1943100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81328" y="1792224"/>
            <a:ext cx="2417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</a:t>
            </a:r>
            <a:endParaRPr lang="de-DE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2121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Analytische Persistenzschicht</a:t>
            </a:r>
            <a:endParaRPr lang="de-DE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70048"/>
            <a:ext cx="31028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Staging- und Fact-Tabellen für Policen und Schäden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Modellprognosen mit Run-ID und Modellversion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DQ-Ergebnisse und Pipeline-Läufe als Historie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Analytische Views als Schnittstelle zu Power BI</a:t>
            </a:r>
            <a:endParaRPr lang="de-DE" sz="1350" dirty="0"/>
          </a:p>
        </p:txBody>
      </p:sp>
      <p:sp>
        <p:nvSpPr>
          <p:cNvPr id="12" name="Shape 9"/>
          <p:cNvSpPr/>
          <p:nvPr/>
        </p:nvSpPr>
        <p:spPr>
          <a:xfrm>
            <a:off x="4337304" y="1572768"/>
            <a:ext cx="3514344" cy="4114800"/>
          </a:xfrm>
          <a:prstGeom prst="roundRect">
            <a:avLst>
              <a:gd name="adj" fmla="val 312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FBBF24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565904" y="180136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FBBF2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636" y="194310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69992" y="1792224"/>
            <a:ext cx="2417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de-DE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269992" y="2121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Analyse- &amp; Managementebene</a:t>
            </a:r>
            <a:endParaRPr lang="de-DE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65904" y="2670048"/>
            <a:ext cx="31028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Dashboard-Seiten mit einheitlicher Navigation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Exposure-basierte KPI-Logik in DAX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für Region und DQ-Status, Reset-Buttons</a:t>
            </a:r>
            <a:endParaRPr lang="de-DE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de-DE" altLang="en-US" sz="135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Lesbare Regionsnamen über eigene Region-Dimension – Codes bleiben unverändert</a:t>
            </a:r>
            <a:endParaRPr lang="de-DE" sz="1350" dirty="0"/>
          </a:p>
        </p:txBody>
      </p:sp>
      <p:sp>
        <p:nvSpPr>
          <p:cNvPr id="18" name="Shape 14"/>
          <p:cNvSpPr/>
          <p:nvPr/>
        </p:nvSpPr>
        <p:spPr>
          <a:xfrm>
            <a:off x="8125968" y="1572768"/>
            <a:ext cx="3514344" cy="4114800"/>
          </a:xfrm>
          <a:prstGeom prst="roundRect">
            <a:avLst>
              <a:gd name="adj" fmla="val 3122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DD4BF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8354568" y="1801368"/>
            <a:ext cx="566928" cy="56692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0" y="194310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58656" y="1792224"/>
            <a:ext cx="2417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7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de-DE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9058656" y="2121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Prototypische Schnittstelle</a:t>
            </a:r>
            <a:endParaRPr lang="de-DE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400288" y="262432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de-DE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400288" y="295351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/risk-score</a:t>
            </a:r>
            <a:endParaRPr lang="de-DE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8400288" y="328269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/pure-premium</a:t>
            </a:r>
            <a:endParaRPr lang="de-DE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400288" y="36118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</a:t>
            </a:r>
            <a:r>
              <a:rPr lang="de-DE" altLang="en-US" sz="1150" dirty="0">
                <a:solidFill>
                  <a:srgbClr val="EE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/data-quality-summary</a:t>
            </a:r>
            <a:endParaRPr lang="de-DE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8400288" y="4041648"/>
            <a:ext cx="301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Validierte Eingaben, z. B. Exposure &gt; 0; unbekannte Felder werden abgelehnt</a:t>
            </a:r>
            <a:endParaRPr lang="de-DE" sz="1100" dirty="0"/>
          </a:p>
        </p:txBody>
      </p:sp>
      <p:sp>
        <p:nvSpPr>
          <p:cNvPr id="28" name="Shape 23"/>
          <p:cNvSpPr/>
          <p:nvPr/>
        </p:nvSpPr>
        <p:spPr>
          <a:xfrm>
            <a:off x="8354568" y="4663440"/>
            <a:ext cx="3057144" cy="777240"/>
          </a:xfrm>
          <a:prstGeom prst="roundRect">
            <a:avLst>
              <a:gd name="adj" fmla="val 9412"/>
            </a:avLst>
          </a:prstGeom>
          <a:solidFill>
            <a:srgbClr val="0B244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4"/>
          <p:cNvSpPr txBox="1"/>
          <p:nvPr/>
        </p:nvSpPr>
        <p:spPr>
          <a:xfrm>
            <a:off x="8537448" y="4663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26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6/6</a:t>
            </a:r>
            <a:endParaRPr lang="de-DE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9451848" y="4663440"/>
            <a:ext cx="1868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Tests bestanden</a:t>
            </a:r>
            <a:endParaRPr lang="de-DE" sz="1200" dirty="0"/>
          </a:p>
        </p:txBody>
      </p:sp>
      <p:sp>
        <p:nvSpPr>
          <p:cNvPr id="31" name="Shape 26"/>
          <p:cNvSpPr/>
          <p:nvPr/>
        </p:nvSpPr>
        <p:spPr>
          <a:xfrm>
            <a:off x="4090416" y="3493008"/>
            <a:ext cx="219456" cy="274320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7"/>
          <p:cNvSpPr/>
          <p:nvPr/>
        </p:nvSpPr>
        <p:spPr>
          <a:xfrm>
            <a:off x="548640" y="5852160"/>
            <a:ext cx="11091672" cy="429768"/>
          </a:xfrm>
          <a:prstGeom prst="roundRect">
            <a:avLst>
              <a:gd name="adj" fmla="val 25532"/>
            </a:avLst>
          </a:prstGeom>
          <a:solidFill>
            <a:srgbClr val="10213F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939028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97280" y="5852160"/>
            <a:ext cx="10332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 für Analyse und Integration – kein produktiver Versicherungsservice (keine Authentifizierung, kein Echtzeit-Betrieb)</a:t>
            </a:r>
            <a:endParaRPr lang="de-DE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DASHBOARD-SEITE 4 VON 4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Datenqualität &amp; Modellvalidierung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595360" cy="4837176"/>
          </a:xfrm>
          <a:prstGeom prst="roundRect">
            <a:avLst>
              <a:gd name="adj" fmla="val 1890"/>
            </a:avLst>
          </a:prstGeom>
          <a:solidFill>
            <a:srgbClr val="0B1A31"/>
          </a:solidFill>
          <a:ln w="19050">
            <a:solidFill>
              <a:srgbClr val="22D3EE">
                <a:alpha val="75000"/>
              </a:srgbClr>
            </a:solidFill>
            <a:prstDash val="dash"/>
          </a:ln>
          <a:effectLst>
            <a:outerShdw blurRad="279400" dist="50800" dir="5400000" algn="bl" rotWithShape="0">
              <a:srgbClr val="22D3E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34840" y="2784348"/>
            <a:ext cx="822960" cy="822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9900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0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2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[POWER-BI-SCREENSHOT HIER EINFÜGEN]</a:t>
            </a:r>
            <a:endParaRPr lang="de-D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48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altLang="en-US" sz="12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Dashboard-Seite 4: Datenqualität &amp; Modellvalidierung · Screenshot im Format 16:9 auf diese Fläche legen</a:t>
            </a:r>
            <a:endParaRPr lang="de-DE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17320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9582912" y="155448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DQ-STATUS</a:t>
            </a:r>
            <a:endParaRPr lang="de-DE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80136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PASS</a:t>
            </a:r>
            <a:r>
              <a:rPr lang="de-DE" altLang="en-US" sz="1200" dirty="0">
                <a:solidFill>
                  <a:srgbClr val="738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</a:t>
            </a:r>
            <a:r>
              <a:rPr lang="de-DE" altLang="en-US" sz="12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WARN</a:t>
            </a:r>
            <a:r>
              <a:rPr lang="de-DE" altLang="en-US" sz="1200" dirty="0">
                <a:solidFill>
                  <a:srgbClr val="738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</a:t>
            </a:r>
            <a:r>
              <a:rPr lang="de-DE" altLang="en-US" sz="12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FAIL</a:t>
            </a:r>
            <a:endParaRPr lang="de-DE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582912" y="2313432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Befunde der Rohdatenprüfung – im Curated Layer behandelt</a:t>
            </a:r>
            <a:endParaRPr lang="de-DE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095244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582912" y="323240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MODELLMETRIKEN</a:t>
            </a:r>
            <a:endParaRPr lang="de-DE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34792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 vs. Baseline</a:t>
            </a:r>
            <a:endParaRPr lang="de-DE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82912" y="3991356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Deviance nie zwischen Modellen vergleichen – andere Ziele und Populationen</a:t>
            </a:r>
            <a:endParaRPr lang="de-DE" sz="1050" dirty="0"/>
          </a:p>
        </p:txBody>
      </p:sp>
      <p:sp>
        <p:nvSpPr>
          <p:cNvPr id="19" name="Shape 16"/>
          <p:cNvSpPr/>
          <p:nvPr/>
        </p:nvSpPr>
        <p:spPr>
          <a:xfrm>
            <a:off x="9418320" y="4773168"/>
            <a:ext cx="2221992" cy="1481328"/>
          </a:xfrm>
          <a:prstGeom prst="roundRect">
            <a:avLst>
              <a:gd name="adj" fmla="val 7407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9582912" y="491032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b="1" kern="0" spc="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de-DE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582912" y="51572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2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de-DE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582912" y="566928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Letzter Lauf: Manifest, Größe, SHA256 und Schema bestätigt</a:t>
            </a:r>
            <a:endParaRPr lang="de-DE" sz="105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F61C6EC7-2FA1-8510-B5E5-68BA9B64B6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7649039"/>
                  </p:ext>
                </p:extLst>
              </p:nvPr>
            </p:nvGraphicFramePr>
            <p:xfrm>
              <a:off x="484555" y="1316736"/>
              <a:ext cx="8659446" cy="496976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3" name="Add-In 22" title="Microsoft Power BI">
                <a:extLst>
                  <a:ext uri="{FF2B5EF4-FFF2-40B4-BE49-F238E27FC236}">
                    <a16:creationId xmlns:a16="http://schemas.microsoft.com/office/drawing/2014/main" id="{F61C6EC7-2FA1-8510-B5E5-68BA9B64B6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555" y="1316736"/>
                <a:ext cx="8659446" cy="496976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SUBGRUPPEN-DIAGNOSTIK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Gute Gesamtperformance ≠ gute Performance überall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722376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3736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Relative Abweichung Prognose vs. Beobachtung nach Fahreralter</a:t>
            </a:r>
            <a:endParaRPr lang="de-DE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4825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Holdout · positive Werte = Überschätzung, negative Werte = Unterschätzung</a:t>
            </a:r>
            <a:endParaRPr lang="de-DE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1078992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</a:t>
            </a:r>
            <a:endParaRPr lang="de-DE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2404872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de-DE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3730752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Tweedie</a:t>
            </a:r>
            <a:endParaRPr lang="de-DE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" y="2688336"/>
          <a:ext cx="69494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22960" y="5870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5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nur 4.999 Policen mit beobachtbarer Schadenhöhe · Randgruppen mit wenigen Schäden vorsichtig interpretieren</a:t>
            </a:r>
            <a:endParaRPr lang="de-DE" sz="950" dirty="0"/>
          </a:p>
        </p:txBody>
      </p:sp>
      <p:sp>
        <p:nvSpPr>
          <p:cNvPr id="17" name="Shape 14"/>
          <p:cNvSpPr/>
          <p:nvPr/>
        </p:nvSpPr>
        <p:spPr>
          <a:xfrm>
            <a:off x="8001000" y="1572768"/>
            <a:ext cx="3639312" cy="1216152"/>
          </a:xfrm>
          <a:prstGeom prst="roundRect">
            <a:avLst>
              <a:gd name="adj" fmla="val 902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 txBox="1"/>
          <p:nvPr/>
        </p:nvSpPr>
        <p:spPr>
          <a:xfrm>
            <a:off x="8229600" y="1700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de-DE" sz="1400" dirty="0"/>
          </a:p>
        </p:txBody>
      </p:sp>
      <p:sp>
        <p:nvSpPr>
          <p:cNvPr id="19" name="Shape 16"/>
          <p:cNvSpPr/>
          <p:nvPr/>
        </p:nvSpPr>
        <p:spPr>
          <a:xfrm>
            <a:off x="10405872" y="17190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10405872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stabil</a:t>
            </a:r>
            <a:endParaRPr lang="de-DE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075688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Meist im einstelligen Bereich – größte Abweichung bei 75+: −11,6 %</a:t>
            </a:r>
            <a:endParaRPr lang="de-DE" sz="1100" dirty="0"/>
          </a:p>
        </p:txBody>
      </p:sp>
      <p:sp>
        <p:nvSpPr>
          <p:cNvPr id="22" name="Shape 19"/>
          <p:cNvSpPr/>
          <p:nvPr/>
        </p:nvSpPr>
        <p:spPr>
          <a:xfrm>
            <a:off x="8001000" y="2916936"/>
            <a:ext cx="3639312" cy="1216152"/>
          </a:xfrm>
          <a:prstGeom prst="roundRect">
            <a:avLst>
              <a:gd name="adj" fmla="val 902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 txBox="1"/>
          <p:nvPr/>
        </p:nvSpPr>
        <p:spPr>
          <a:xfrm>
            <a:off x="8229600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de-DE" sz="1400" dirty="0"/>
          </a:p>
        </p:txBody>
      </p:sp>
      <p:sp>
        <p:nvSpPr>
          <p:cNvPr id="24" name="Shape 21"/>
          <p:cNvSpPr/>
          <p:nvPr/>
        </p:nvSpPr>
        <p:spPr>
          <a:xfrm>
            <a:off x="10405872" y="3063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 txBox="1"/>
          <p:nvPr/>
        </p:nvSpPr>
        <p:spPr>
          <a:xfrm>
            <a:off x="1040587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heterogen</a:t>
            </a:r>
            <a:endParaRPr lang="de-DE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419856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18–24: +74 % · 75+: −45 % – stark von Großschäden beeinflusst</a:t>
            </a:r>
            <a:endParaRPr lang="de-DE" sz="1100" dirty="0"/>
          </a:p>
        </p:txBody>
      </p:sp>
      <p:sp>
        <p:nvSpPr>
          <p:cNvPr id="27" name="Shape 24"/>
          <p:cNvSpPr/>
          <p:nvPr/>
        </p:nvSpPr>
        <p:spPr>
          <a:xfrm>
            <a:off x="8001000" y="4261104"/>
            <a:ext cx="3639312" cy="1216152"/>
          </a:xfrm>
          <a:prstGeom prst="roundRect">
            <a:avLst>
              <a:gd name="adj" fmla="val 9023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 txBox="1"/>
          <p:nvPr/>
        </p:nvSpPr>
        <p:spPr>
          <a:xfrm>
            <a:off x="822960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4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Tweedie</a:t>
            </a:r>
            <a:endParaRPr lang="de-DE" sz="1400" dirty="0"/>
          </a:p>
        </p:txBody>
      </p:sp>
      <p:sp>
        <p:nvSpPr>
          <p:cNvPr id="29" name="Shape 26"/>
          <p:cNvSpPr/>
          <p:nvPr/>
        </p:nvSpPr>
        <p:spPr>
          <a:xfrm>
            <a:off x="10405872" y="440740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 txBox="1"/>
          <p:nvPr/>
        </p:nvSpPr>
        <p:spPr>
          <a:xfrm>
            <a:off x="10405872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00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heterogen</a:t>
            </a:r>
            <a:endParaRPr lang="de-DE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4764024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25–44 nahe an der Beobachtung · 18–24: +114 % · 75+: −47,5 %</a:t>
            </a:r>
            <a:endParaRPr lang="de-DE" sz="1100" dirty="0"/>
          </a:p>
        </p:txBody>
      </p:sp>
      <p:sp>
        <p:nvSpPr>
          <p:cNvPr id="32" name="Shape 29"/>
          <p:cNvSpPr/>
          <p:nvPr/>
        </p:nvSpPr>
        <p:spPr>
          <a:xfrm>
            <a:off x="8001000" y="5605272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10213F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 txBox="1"/>
          <p:nvPr/>
        </p:nvSpPr>
        <p:spPr>
          <a:xfrm>
            <a:off x="8229600" y="5605272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Ebenso untersucht: </a:t>
            </a: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 · Area · Density – z. B. Area F: Frequency +7,1 %, Tweedie +73 %</a:t>
            </a:r>
            <a:endParaRPr lang="de-DE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GRENZEN &amp; VERANTWORTUNG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Grenzen offen benennen – verantwortungsvoll nutzen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806440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LIMITATIONEN</a:t>
            </a:r>
            <a:endParaRPr lang="de-DE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9514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35024" y="224942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Severity-Modell</a:t>
            </a:r>
            <a:endParaRPr lang="de-DE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35024" y="254203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eigenständiger Ranking-Score (Gini 0,003)</a:t>
            </a:r>
            <a:endParaRPr lang="de-DE" sz="1000" dirty="0"/>
          </a:p>
        </p:txBody>
      </p:sp>
      <p:sp>
        <p:nvSpPr>
          <p:cNvPr id="12" name="Shape 9"/>
          <p:cNvSpPr/>
          <p:nvPr/>
        </p:nvSpPr>
        <p:spPr>
          <a:xfrm>
            <a:off x="3566160" y="213969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229514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78224" y="224942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Holdout-Historie</a:t>
            </a:r>
            <a:endParaRPr lang="de-DE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078224" y="254203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früher bereits eingesehen – kein unberührter Blind-Test</a:t>
            </a:r>
            <a:endParaRPr lang="de-DE" sz="1000" dirty="0"/>
          </a:p>
        </p:txBody>
      </p:sp>
      <p:sp>
        <p:nvSpPr>
          <p:cNvPr id="16" name="Shape 12"/>
          <p:cNvSpPr/>
          <p:nvPr/>
        </p:nvSpPr>
        <p:spPr>
          <a:xfrm>
            <a:off x="822960" y="314553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33009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35024" y="32552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Subgruppen</a:t>
            </a:r>
            <a:endParaRPr lang="de-DE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35024" y="354787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ungleichmäßige Kalibrierung nach Alter, Region, Area, Density</a:t>
            </a:r>
            <a:endParaRPr lang="de-DE" sz="1000" dirty="0"/>
          </a:p>
        </p:txBody>
      </p:sp>
      <p:sp>
        <p:nvSpPr>
          <p:cNvPr id="20" name="Shape 15"/>
          <p:cNvSpPr/>
          <p:nvPr/>
        </p:nvSpPr>
        <p:spPr>
          <a:xfrm>
            <a:off x="3566160" y="314553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330098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78224" y="32552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Fehlende Schadenhöhen</a:t>
            </a:r>
            <a:endParaRPr lang="de-DE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078224" y="354787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26,8 % der Schadenpolicen ohne beobachtbaren Betrag</a:t>
            </a:r>
            <a:endParaRPr lang="de-DE" sz="1000" dirty="0"/>
          </a:p>
        </p:txBody>
      </p:sp>
      <p:sp>
        <p:nvSpPr>
          <p:cNvPr id="24" name="Shape 18"/>
          <p:cNvSpPr/>
          <p:nvPr/>
        </p:nvSpPr>
        <p:spPr>
          <a:xfrm>
            <a:off x="822960" y="415137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" y="430682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35024" y="4261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Historische Daten</a:t>
            </a:r>
            <a:endParaRPr lang="de-DE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335024" y="455371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öffentlicher Datensatz, keine aktuelle Schadeninflation</a:t>
            </a:r>
            <a:endParaRPr lang="de-DE" sz="1000" dirty="0"/>
          </a:p>
        </p:txBody>
      </p:sp>
      <p:sp>
        <p:nvSpPr>
          <p:cNvPr id="28" name="Shape 21"/>
          <p:cNvSpPr/>
          <p:nvPr/>
        </p:nvSpPr>
        <p:spPr>
          <a:xfrm>
            <a:off x="3566160" y="415137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2464" y="430682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078224" y="4261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Keine Kausalität</a:t>
            </a:r>
            <a:endParaRPr lang="de-DE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4078224" y="455371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Modelle zeigen Zusammenhänge, keine Ursachen</a:t>
            </a:r>
            <a:endParaRPr lang="de-DE" sz="1000" dirty="0"/>
          </a:p>
        </p:txBody>
      </p:sp>
      <p:sp>
        <p:nvSpPr>
          <p:cNvPr id="32" name="Shape 24"/>
          <p:cNvSpPr/>
          <p:nvPr/>
        </p:nvSpPr>
        <p:spPr>
          <a:xfrm>
            <a:off x="822960" y="515721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" y="5312664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335024" y="526694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Prototyp</a:t>
            </a:r>
            <a:endParaRPr lang="de-DE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335024" y="55595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produktives Versicherungssystem</a:t>
            </a:r>
            <a:endParaRPr lang="de-DE" sz="1000" dirty="0"/>
          </a:p>
        </p:txBody>
      </p:sp>
      <p:sp>
        <p:nvSpPr>
          <p:cNvPr id="36" name="Shape 27"/>
          <p:cNvSpPr/>
          <p:nvPr/>
        </p:nvSpPr>
        <p:spPr>
          <a:xfrm>
            <a:off x="3566160" y="5157216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2464" y="5312664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078224" y="526694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Produktiver Einsatz</a:t>
            </a:r>
            <a:endParaRPr lang="de-DE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4078224" y="55595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erfordert Monitoring, Governance und Rekalibrierung</a:t>
            </a:r>
            <a:endParaRPr lang="de-DE" sz="1000" dirty="0"/>
          </a:p>
        </p:txBody>
      </p:sp>
      <p:sp>
        <p:nvSpPr>
          <p:cNvPr id="40" name="Shape 30"/>
          <p:cNvSpPr/>
          <p:nvPr/>
        </p:nvSpPr>
        <p:spPr>
          <a:xfrm>
            <a:off x="6583680" y="1572768"/>
            <a:ext cx="5056632" cy="4690872"/>
          </a:xfrm>
          <a:prstGeom prst="roundRect">
            <a:avLst>
              <a:gd name="adj" fmla="val 2339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1"/>
          <p:cNvSpPr txBox="1"/>
          <p:nvPr/>
        </p:nvSpPr>
        <p:spPr>
          <a:xfrm>
            <a:off x="6858000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RESPONSIBLE USE</a:t>
            </a:r>
            <a:endParaRPr lang="de-DE" sz="1000" dirty="0"/>
          </a:p>
        </p:txBody>
      </p:sp>
      <p:sp>
        <p:nvSpPr>
          <p:cNvPr id="42" name="Shape 32"/>
          <p:cNvSpPr/>
          <p:nvPr/>
        </p:nvSpPr>
        <p:spPr>
          <a:xfrm>
            <a:off x="6858000" y="2139696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3"/>
          <p:cNvSpPr txBox="1"/>
          <p:nvPr/>
        </p:nvSpPr>
        <p:spPr>
          <a:xfrm>
            <a:off x="6995160" y="213969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HIGH-Risk</a:t>
            </a:r>
            <a:endParaRPr lang="de-DE" sz="1200" dirty="0"/>
          </a:p>
        </p:txBody>
      </p:sp>
      <p:sp>
        <p:nvSpPr>
          <p:cNvPr id="44" name="Shape 34"/>
          <p:cNvSpPr/>
          <p:nvPr/>
        </p:nvSpPr>
        <p:spPr>
          <a:xfrm>
            <a:off x="8961120" y="2313432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35"/>
          <p:cNvSpPr txBox="1"/>
          <p:nvPr/>
        </p:nvSpPr>
        <p:spPr>
          <a:xfrm>
            <a:off x="8961120" y="23134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9509760" y="2139696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 Ablehnung</a:t>
            </a:r>
            <a:endParaRPr lang="de-DE" sz="1200" dirty="0"/>
          </a:p>
        </p:txBody>
      </p:sp>
      <p:sp>
        <p:nvSpPr>
          <p:cNvPr id="47" name="Shape 37"/>
          <p:cNvSpPr/>
          <p:nvPr/>
        </p:nvSpPr>
        <p:spPr>
          <a:xfrm>
            <a:off x="6858000" y="3035808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38"/>
          <p:cNvSpPr txBox="1"/>
          <p:nvPr/>
        </p:nvSpPr>
        <p:spPr>
          <a:xfrm>
            <a:off x="6995160" y="3035808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Schadenbedarf</a:t>
            </a:r>
            <a:endParaRPr lang="de-DE" sz="1200" dirty="0"/>
          </a:p>
        </p:txBody>
      </p:sp>
      <p:sp>
        <p:nvSpPr>
          <p:cNvPr id="49" name="Shape 39"/>
          <p:cNvSpPr/>
          <p:nvPr/>
        </p:nvSpPr>
        <p:spPr>
          <a:xfrm>
            <a:off x="8961120" y="3209544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0"/>
          <p:cNvSpPr txBox="1"/>
          <p:nvPr/>
        </p:nvSpPr>
        <p:spPr>
          <a:xfrm>
            <a:off x="8961120" y="320954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51" name="Text 41"/>
          <p:cNvSpPr txBox="1"/>
          <p:nvPr/>
        </p:nvSpPr>
        <p:spPr>
          <a:xfrm>
            <a:off x="9509760" y="3035808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Kundenprämie</a:t>
            </a:r>
            <a:endParaRPr lang="de-DE" sz="1200" dirty="0"/>
          </a:p>
        </p:txBody>
      </p:sp>
      <p:sp>
        <p:nvSpPr>
          <p:cNvPr id="52" name="Shape 42"/>
          <p:cNvSpPr/>
          <p:nvPr/>
        </p:nvSpPr>
        <p:spPr>
          <a:xfrm>
            <a:off x="6858000" y="3931920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43"/>
          <p:cNvSpPr txBox="1"/>
          <p:nvPr/>
        </p:nvSpPr>
        <p:spPr>
          <a:xfrm>
            <a:off x="6995160" y="3931920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Modellprognose</a:t>
            </a:r>
            <a:endParaRPr lang="de-DE" sz="1200" dirty="0"/>
          </a:p>
        </p:txBody>
      </p:sp>
      <p:sp>
        <p:nvSpPr>
          <p:cNvPr id="54" name="Shape 44"/>
          <p:cNvSpPr/>
          <p:nvPr/>
        </p:nvSpPr>
        <p:spPr>
          <a:xfrm>
            <a:off x="8961120" y="4105656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45"/>
          <p:cNvSpPr txBox="1"/>
          <p:nvPr/>
        </p:nvSpPr>
        <p:spPr>
          <a:xfrm>
            <a:off x="8961120" y="410565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56" name="Text 46"/>
          <p:cNvSpPr txBox="1"/>
          <p:nvPr/>
        </p:nvSpPr>
        <p:spPr>
          <a:xfrm>
            <a:off x="9509760" y="393192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Underwriting-Entscheidung</a:t>
            </a:r>
            <a:endParaRPr lang="de-DE" sz="1200" dirty="0"/>
          </a:p>
        </p:txBody>
      </p:sp>
      <p:sp>
        <p:nvSpPr>
          <p:cNvPr id="57" name="Shape 47"/>
          <p:cNvSpPr/>
          <p:nvPr/>
        </p:nvSpPr>
        <p:spPr>
          <a:xfrm>
            <a:off x="6858000" y="4828032"/>
            <a:ext cx="4507992" cy="768096"/>
          </a:xfrm>
          <a:prstGeom prst="roundRect">
            <a:avLst>
              <a:gd name="adj" fmla="val 9524"/>
            </a:avLst>
          </a:prstGeom>
          <a:solidFill>
            <a:srgbClr val="0B24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48"/>
          <p:cNvSpPr txBox="1"/>
          <p:nvPr/>
        </p:nvSpPr>
        <p:spPr>
          <a:xfrm>
            <a:off x="6995160" y="482803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Subgruppen-Diagnostik</a:t>
            </a:r>
            <a:endParaRPr lang="de-DE" sz="1200" dirty="0"/>
          </a:p>
        </p:txBody>
      </p:sp>
      <p:sp>
        <p:nvSpPr>
          <p:cNvPr id="59" name="Shape 49"/>
          <p:cNvSpPr/>
          <p:nvPr/>
        </p:nvSpPr>
        <p:spPr>
          <a:xfrm>
            <a:off x="8961120" y="5001768"/>
            <a:ext cx="420624" cy="420624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0"/>
          <p:cNvSpPr txBox="1"/>
          <p:nvPr/>
        </p:nvSpPr>
        <p:spPr>
          <a:xfrm>
            <a:off x="8961120" y="500176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8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≠</a:t>
            </a:r>
            <a:endParaRPr lang="de-DE" sz="1800" dirty="0"/>
          </a:p>
        </p:txBody>
      </p:sp>
      <p:sp>
        <p:nvSpPr>
          <p:cNvPr id="61" name="Text 51"/>
          <p:cNvSpPr txBox="1"/>
          <p:nvPr/>
        </p:nvSpPr>
        <p:spPr>
          <a:xfrm>
            <a:off x="9509760" y="482803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200" dirty="0">
                <a:solidFill>
                  <a:srgbClr val="EEF4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vollständiger Fairness-Nachweis</a:t>
            </a:r>
            <a:endParaRPr lang="de-DE" sz="1200" dirty="0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5779008"/>
            <a:ext cx="274320" cy="274320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7242048" y="5687568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05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Merkmale wie Alter und Region vor produktiver Nutzung fachlich und regulatorisch prüfen.</a:t>
            </a:r>
            <a:endParaRPr lang="de-DE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10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FAZIT</a:t>
            </a:r>
            <a:endParaRPr lang="de-DE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de-DE" altLang="en-US" sz="28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 die Plattform leistet</a:t>
            </a:r>
            <a:endParaRPr lang="de-D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Kfz Insurance Risk &amp; Pure Premium Intelligence Platform</a:t>
            </a:r>
            <a:endParaRPr lang="de-DE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altLang="en-US" sz="900" dirty="0">
                <a:solidFill>
                  <a:srgbClr val="7389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19</a:t>
            </a:r>
            <a:endParaRPr lang="de-DE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77240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020824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 transparent quantifizieren</a:t>
            </a:r>
            <a:endParaRPr lang="de-DE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Erwarteter Schaden je Police – zerlegbar in Häufigkeit und Schadenhöhe</a:t>
            </a:r>
            <a:endParaRPr lang="de-DE" sz="1300" dirty="0"/>
          </a:p>
        </p:txBody>
      </p:sp>
      <p:sp>
        <p:nvSpPr>
          <p:cNvPr id="11" name="Shape 8"/>
          <p:cNvSpPr/>
          <p:nvPr/>
        </p:nvSpPr>
        <p:spPr>
          <a:xfrm>
            <a:off x="3378708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228600" dist="50800" dir="5400000" algn="bl" rotWithShape="0">
              <a:srgbClr val="F87171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3607308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F8717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202082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07308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Gezielt priorisieren</a:t>
            </a:r>
            <a:endParaRPr lang="de-DE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607308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10 % der Policen tragen 32,1 % des erwarteten Schadens</a:t>
            </a:r>
            <a:endParaRPr lang="de-DE" sz="1300" dirty="0"/>
          </a:p>
        </p:txBody>
      </p:sp>
      <p:sp>
        <p:nvSpPr>
          <p:cNvPr id="16" name="Shape 12"/>
          <p:cNvSpPr/>
          <p:nvPr/>
        </p:nvSpPr>
        <p:spPr>
          <a:xfrm>
            <a:off x="6208776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6437376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02082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37376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Belastbare Datenbasis</a:t>
            </a:r>
            <a:endParaRPr lang="de-DE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37376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Verifizierte Rohdaten, dokumentierte DQ-Entscheidungen, keine Null-Imputation</a:t>
            </a:r>
            <a:endParaRPr lang="de-DE" sz="1300" dirty="0"/>
          </a:p>
        </p:txBody>
      </p:sp>
      <p:sp>
        <p:nvSpPr>
          <p:cNvPr id="21" name="Shape 16"/>
          <p:cNvSpPr/>
          <p:nvPr/>
        </p:nvSpPr>
        <p:spPr>
          <a:xfrm>
            <a:off x="9038844" y="1600200"/>
            <a:ext cx="2601468" cy="2971800"/>
          </a:xfrm>
          <a:prstGeom prst="roundRect">
            <a:avLst>
              <a:gd name="adj" fmla="val 4218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9267444" y="1856232"/>
            <a:ext cx="658368" cy="658368"/>
          </a:xfrm>
          <a:prstGeom prst="ellipse">
            <a:avLst/>
          </a:prstGeom>
          <a:solidFill>
            <a:srgbClr val="0E2A47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036" y="202082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7444" y="2697480"/>
            <a:ext cx="21442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5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Nutzbar statt nur analysiert</a:t>
            </a:r>
            <a:endParaRPr lang="de-DE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267444" y="3383280"/>
            <a:ext cx="21442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altLang="en-US" sz="1300" dirty="0">
                <a:solidFill>
                  <a:srgbClr val="A9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PostgreSQL, Power-BI-Dashboard und prototypische API</a:t>
            </a:r>
            <a:endParaRPr lang="de-DE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482803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10213F">
              <a:alpha val="92000"/>
            </a:srgbClr>
          </a:solidFill>
          <a:ln w="12700">
            <a:solidFill>
              <a:srgbClr val="22D3EE"/>
            </a:solidFill>
            <a:prstDash val="solid"/>
          </a:ln>
          <a:effectLst>
            <a:outerShdw blurRad="228600" dist="50800" dir="5400000" algn="bl" rotWithShape="0">
              <a:srgbClr val="22D3EE">
                <a:alpha val="3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1"/>
          <p:cNvSpPr txBox="1"/>
          <p:nvPr/>
        </p:nvSpPr>
        <p:spPr>
          <a:xfrm>
            <a:off x="731520" y="4828032"/>
            <a:ext cx="10725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2100" dirty="0">
                <a:solidFill>
                  <a:srgbClr val="EEF4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Risiko transparent quantifizieren – Entscheidungen unterstützen, nicht ersetzen.</a:t>
            </a:r>
            <a:endParaRPr lang="de-DE" sz="21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altLang="en-US" sz="1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Vielen Dank für Ihre Aufmerksamkeit – ich freue mich auf Ihre Fragen.</a:t>
            </a:r>
            <a:endParaRPr lang="de-DE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22B0C37D-773D-4850-B4BF-CA291B561914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+1a227cNhD9FUMveTGK4Z3MW+K0QIE0desgfSgCg5eRrUArbXVx4gT77x1Jaztxd72OHNsJ0BfDS1LDmTPDwzPa/ZSlol2W/vyVX2D2NHuJLX7EIp5itaey/ayahq0C5lPOTWQGQFptE9JsveyKumqzp5+yzjcn2L0p2t6Xgy0a/PvtfrZsyGBzhq/w/TRHf4tQlEV3nj3tmh73M1+Wh/5keCD3ZUsDS2zauvJl8RGnZ9pp6Wo/ww/Lsm78sOtR5zscdj6j5fSZvGQ/CXLKx644wyOM3TRqGKQYk4wapeQQhQhDZO20YHR+45LB9Lj9QV11vqhom2EMgDGHPqEQKSmmrJIwjOdF2a2XhPOfPywbAoBgOV8O+D1LZ76KmLIxBMJk8vhT9hv6tm/GOH7+YuKo7puIf2I+TlXdCFh2vF7fZitC47CpCatx4vcwwpz2DkpfLPaeLeq+6sZFp/X7gwYJq5Q9hdVbGmmL6qRcQ3sV5evJ0+ibtJ6i/IZ3hNIQEz1WNwmb5+djWC+K5gJfvn/N8/sOiWKghcCs0kz4IJW3QQIPJu5MwwHBcFI3RRyj+zITB3XZL6rben1Yl0U8v+7yGZ4WscRjKufjk6bulxsysP8IRfFLg//0WK0d/tqKKPuWIMU0IXRw6pvulrXBrtfGfYG8entx7mnhu89O9jrjk2f3tTsV5FCROgqWyxysVQoc54KPFXkjuB1+6EL94Us8R2shaQYhh5hckAjG8rDTWnvql/hfW0wwAXn01hJ1R49SBZjvGZMmiVyZyKVGjopH7mZ7FjgHxZkJKjgMwaogd9oqFgT+BluR8WQdxYoRudYG9Gy/uDDa21yEgE46zxObLoRHZZdQV317vPB0Ho9bPFngRob/n1/uBeaHY5jN+08cwyNLzhtISQijNDAX0va6XIs3oAOfe+R0SSpphE4Ig056qCp5XXe+3CMT9WhuY8WuPRVeyoQeIRFVBeQRpb7y9HW9fEWfpliHvd9cKD/SIL809WIMei1k2z5QSVJarpfI0cUE/f/HxT83WRqQuYzyRbH4E0+GpfvZVL+j/+ulx58vvQLkaikV0RGWVD23r5bpw+jHNWAnR8ataWLtQl5gSStpo9+/qV67dON4Z36HzSlXdDxhLNopeP4ZTjshJQt/neLg1AhTlYpu7dSv1/BqvzWSo/c+lLj9+cvaWq1GOXo3sr+K/yav5tPqc998Dafem57fWCffmlJvB+ZEpoKZBCEIBk7ESNRjuJ8viwRPKdqckZ6xSUOw1EbewZpAS402yGS9IMekkngHawgaog0ITuZGG2TBzpVGApkmCamTwsgYN94wPteWlCyZPDoSgEi3GVoWZ0s2iYqR4gPQiMJplTDNjpE6Sy7QMbqEQiBT4IOebcshJ+XNwAhEZJ5bsbst2CJxVVDScxE5Cy454Q31BTtl6eNf8D/QS4cNJDUCj84wywydQgdMJB0m4G+Myo/OPu+7brzbruVSQ64CB2otHFMh+cBCePxcXkr6Q5rdO2xwUfSLHzul20KaMqtZLqTiwisfmTBSSKHmE63WweV0r4CLAZiEIGA3CW21ZpgiPrNA1CjAS++JkObSkOEOIzcKLBfMSSYln02PJjBqKBT1/z6AQMOJ1+ZSmuUuaqL9aDAqRWGatPsNwFbErE984OzceMEYcDS3eDl73317akjiNP+/FLzPpn0Dxg/XsW/YfFKYTucuyWiZt8ZrF3mcdMQDleM9dRYtYUAN+OfZzhbYnIy1mXznx2iW03YFTvN1GqdxDPZT9rIgACbbb3zZD2afvKAnUv2+enLRV622JHB84isav1ndgSPCTZIBOMuNUPmg4B6dSqbR9Tciwzdgffu4bHLh0Nyvm1Jd9d130Z5ei+Th2GNzTqci9FozZEZTqwWQrJZ0ec+/Hb0JJsYg0SsdmJHK3OJt+xYN4InKbM41OEVHBIZOaXe7u8VWZNKrRConDTc2DJ3b7BYpGsVJhKWopUHqlTxzN7wh/VGOyfejpv9zTCbQqZeJ4BipOCBtSWmc/WVVEnRp5lx6CTbx6IRSd3grQ12yYJ5BAKUYd0wLM7uTTznT5BMA05i4Bc/57pLfUqZojUSkoxg1iXEQVsndJb/FL8QIUiBL4FMSTlsF31MneTed+d0U/sZ4pvLHPOmUEwUKFcAoKrlb/BbhgX8Sskkn/IjoXwYz3pDDqk0qtO67dukjHvoKN6hRAtxXCdMORTr+HulSjK5W/wIzHZUELSUAAA==&quot;"/>
    <we:property name="creatorSessionId" value="&quot;ec8bb250-8ac5-4a95-8659-a687eb971f44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2/UyBL+K5Ff9iU6qr538waBlY52gRyC2IcVivpSTrzy2HN8CWTR/Pct25MEwkwmOCQBaV+ScXe5uuqr6uqvbH/KUtEuS3/+yi8we5L9ji3+jUU8xWpPZftZNQ0/e/36t5dP3/x2/Orpyxc0XC+7oq7a7MmnrPPNCXbvirb35aCEBv98v58tG9LUnOEr/DDN0d8iFGXRnWdPuqbH/cyX5aE/GW7IfdnSwBKbtq58WfyN0z3tJLraz/DjsqwbP6x61PkOh5XPSJyuyTz2H0FG+dgVZ3iEsZtGDYMUY5JRo5QcohBhcKmdBEbjN4oMqsflD+qq80VFywxjAIw59AmFSEkxZZWEYTwvym4tEs5ffFw2BADBcr4cgHuaznwVMWWjC4TJZPGn7CX6tm9GP158MXFU903EN5iPU1U3ApYdr+XbbEVoHDY1YTVOvA4jzGnvoPTFYu/pou6rbhQ6rT8cNEhYpewJrN7TSFtUJ+Ua2isv306WRt+k9RTFN/xFKA0+0W11k7B5dj669bxoLvDl+9csv2+XyAcSBGaVZsIHqbwNEngwcWcYDgiGk7op4ujdl5E4qMt+Ud3W6sO6LOL5dZPP8LSIJR5TOh+fNHW/3BCB/UdIil8b/H+P1drgb82Ism8JUkwTQgenvulumRvsem7cF8ir9xf7ngT/+mxnryM+WXZfq1NCDhmpo2C5zMFapcBxLviYkTeC2+HHLtQfv8Rz1BaSZhByiMkFiWAsDzu1taee/n+liwkmII/eWpA2epQqwHzLmDRJ5MpELjVyVDxyN9uywDkozkxQwWEIVgW5U1exIPA36IqMJ+vIV4zItTagZ9vFhdHe5iIEdNJ5nth0IDxqdQl11bfHC0/78bjFkwVurPD/1pd7gfnhKszm9acawyNLzhtISQijNDAX0va8XLM2oA2fe+R0SCpphE4IA096qCx5W3e+3CMV9ahuY8auLRVeyoQeIVGpCsgjSn1l6dt6+YquJl+Htd9dMD/iIL829WJ0es1g2z5QSlJYrqfI0cUE/f7fxY+bNA3IXHr5vFi8wZNBdD+b8ne0fy16/LnoFSBXopRER1hS9tw+W6aL0Y5rwE6GjEvTxNqEvMCSJGmh19+Vr12acbwzvsPiFCvanjAm7eQ8/wynnZCShj9OcTBqhKlKRbc26r/X8Gq/N5Kj9T6UuP3+y9xarUY6erdif+X/TVbNL6vPfPMtNfXe+PzGPPneJfV2YE7FVDCTIATBwIkYqfQY7ufTIsFTijZnxGds0hAstZF30CbQAkiQyXpBhkkl8Q7aEDREGxCczI02yIKdS40EMk0UUieFkTFuvGF8ri4pWTJ5dEQAkU4ztCzOpmwSFSPGB6ARhdMqYZrtI3WWXKBjdAiFQKrABz1bl0NOzJuBEYjIPLdid1uwheKqoKTnInIWXHLCG+oLdtLSxz/gf6KHDhuK1Ag8OsMsM7QLHTCRdJiAv9ErPxr7rO+68Wy7FksNuQocqLVwTIXkAwvh8WN5SekPaXbvsMFF0S9+7pBuc2mKrGa5kIoLr3xkwkghhZpfaLUOLqdzBVwMwCQEAbuL0FZthimqZxaoNArw0nsqSHPLkOEOIzcKLBfMSSYln10eTWDUUCjq/30AgYZTXZtb0ix3UVPZjwajUuSmSbufAGxFzPrEh5qdGy8YA47mFg9n77tvTw1RnObfh4L32bRvwPjhOvYNi08M0+ncJRkt89Z47SKPE494oHS8p86iJQyoAf882tkCm5MxN5Pv/OjNclquwGm+TuM0js5+yn4vCIBJ9ztf9oPaX57THan+UP1y0VettgRwvOMbGr9Z3YGjgpskA3CWG6HygcE9eimZRtdvRIY3YH37uNXkwqC5r5tSXfXdD9GeXvPk4arH5phOSei1ZsiMplYLIFkt6fCefzp6E0yMQaJXOjAjlbnF0/YtHMBTKbM51+AUbREYOqXd7e4WXZFJrxKxnDSc2DB0brNbpGgUJxKWopYGqVfyzN3whPRn2SY/Dpv+aptMoFMvE8ExYnFA3JLCOPtlVRJ0aOZcegk28eiEUnd4KkNdsmCeQQClGHdMCzO7k08502QTANOYuAXP+e6U35KmaI1EpK0YNZFxEFbJ3Sm/xS7ECFIgS+BTEk5bBT9SJ3k3nvnDJP5Gf6b0xzzplFMJFCqAUZRyt/gW4YE/CdnEE35G9C+dGU/IQWoTC637rl36iIe+wg1slAD3VcK0g5GO3yNl4yJnw2dL5S4KO3yldEleV6t/AEH4f6dWJQAA&quot;"/>
    <we:property name="isFiltersActionButtonVisible" value="true"/>
    <we:property name="isVisualContainerHeaderHidden" value="false"/>
    <we:property name="pageDisplayName" value="&quot;Bestandsüberblick&quot;"/>
    <we:property name="pageName" value="&quot;710dccd4c6e4420c33b5&quot;"/>
    <we:property name="reportEmbeddedTime" value="&quot;2026-09-28T07:53:38.684Z&quot;"/>
    <we:property name="reportName" value="&quot;kfz_insurance_risk_dashboard&quot;"/>
    <we:property name="reportState" value="&quot;CONNECTED&quot;"/>
    <we:property name="reportUrl" value="&quot;/groups/me/reports/29d88c2f-6609-42bf-8b21-1f4633a2c345/710dccd4c6e4420c33b5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9D33258-525B-4C27-9739-60FD5F070E5A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91aWXPbyBH+Kyy87AsrNfehN1t2slvlOIrl2jxsqVQ9Mw0JuyDBAKBkrUv/PY1DlkSTpoy1ZMUv9nCOnj6/7h7oY5aKZlXC1VtYYHaQvcEG/8QinuNyprN5thymPec2Mu0QvRUMmPXoaLVatUW1bLKDj1kL9Rm2vxbNGsqOFk3+djLPVjURrC/wLV4Oa/RvEYqyaK+yg7Ze4zyDsjyCs+5ADmVDEyusm2oJZfEnDmeaYev1PMMPq7Kqobv1uIUWu5svaDv9Ji753yQxBbEtLvAYYzvMChaZA22MgxQj5M7pjvdm2NAzv3VLR7q//rBatlAs6ZpujpmUYrJWGGO1FtEmrbv5vCjbcUu4ev1hVZMCSC1Xq05/L9IFLCOmrBeBdDJw/DH7J0Kzrns5Xt9bOK7WdcR3mPdLy7ZXWHY67m+ya9LGUV2RrvqFn3/5x8+zo6os4tXs+ByIYrfhvLo8rJH0lLIDdn1CM02xPCtHtd5K+H7gMkKdxiWybfidNNTJQ8eqOmH98qoX6VVR3+hWzDe4fkxxiH/axBwm4S0qzlwwQjGyWUfzi4I150D/35Opo8U1w+QAvUPPDPcsOT6ZFrmNBAdSs0hO4SLz6pm4BVEgTjHN3lRN88N4x3apBicRSXrlpZYMtPbaOhpONazkIYDE3IAwyNAKUGYyLcHyhEypyDhwmxL4/c7b4oc2VB+2UCMoZgx1jCYYZsCIgJM5S1FqlcfoIzMoVQpO7aVVLAi3P6elmJNISYL7aEzwFKicTeVLc5JSccOU0UZIpPiarH0tQ0JEFyA6VD6HEPcj9yHFx1lVF7F3+/tReliV68Xyoe78rmj+eDHmnA2HpqXij6rBswUu29mr11vCc/50oHEXd2eBBgNf35epLeH+Zd7241m5bsjumAYzHhLJ9oHIxjeR7TE94frkpqahfb/fqVpG1xy4e0wOTobwQZai1jnFM9MA0Yqkp0KEMUTFcW259bnmTGPg07PlN5O9pqXThLEot2XIJ/T2F1TUkuJm7y8RU4GzI9o0O6pxUawX39vXn0jGJ3b7+6Y/Gb0UggsuF1KC0TEwwcwzqelGjD6s1hPB73kVcxviDFWcYz55lhvvmXXcGpZ4mpr7HZkwiZxT48CE4IxLZZ8w978qFu/wrNuyibb9bN98T7BiQ1rD+p602QKpEe8GCVropVkN1xU4rFepX8Ze2I/Zm4IUMND+Fcp1R/anV3QiVZfLnzpbjNbYGov9iWZCJD5MIUMYOqu0SVJrQ1nCIY2jf0LbDb65yWeoluvmdEHyN6fNAwqkx+Yn1WSd+pQA9fSsrtarHyt/rYqLqn0PocSpcPVIOt6dpfr7poTG1/gb3f6uuvx2t2yR8CYGAU3UQkBySoChBjZMxWIvg2JcMG09SicVJrO/p9tRSHolMObc60hdp8o5BIRnkqLvdSw/QI7elGdIC97FJJkV0gWZVAQw8BeeNMh8QvNIjsF0FJEJafdT2+EagCxYco4UFagYlLV2/5PGDpcNOlmqGxIzSceUtLQuPGEK+n97OphcliZCufZrupNHc/nPKtLn0YQH8mbvTEKkLtwYL0LcXxPvDDcKNOOii0FEIy2nADaTQyQG4NYyAz4w5j2FWxJ7aUEv/st125KiPieZB6WMlDKmQJnHMe4mNwBJOqdTZMowprlEFtnkBJYQcs+DZSC4BSpMWdwv6k4jpJw7o03wwWjKqknbB5h0B2eoc8UIiHUwSksTnWX7ae3AT0TDObGkpdNaeKEoW0/lK1cQcp24Dqx7jU8BBNuNn+NHx0SJJUnkCGCVSIJAvPtwN2LZ+2r1ln4NFPpe5OY7IGHC3+tq0ZMaP2s26/DfNVKUbsLF8c0Cjf99M/gSpVVHYqOImmeD9D3UjvtO7+67RZnbrQQox1iSkh6OHMOPnonN14uxl5rfXJ8XWKasu+Rf3xQ4P7Fw+rBPdvPOTtkBZ70bDLKLO2r6sjrp+H/OsWOqV9EyFe3I1C8buvqKEni/Fnu2+2Zj59lPDjU2yI/R0tW3DfLdNMo79Y0hwgnQfK6sksY7ygkJvLwNkWfx1fmWWedZV+xLZZ1RQSvhqSB7Omb31Ca3fEZFWAWkWdCRK8aE0fE7KXU/s0IG54HnKjHOWDRBArtl9tm/YH16mH4J9bOo+3bB2Lcu/h7+ANYj57YHvmrdNiuIeARL3PLQR9aGZcI0jnc99vV/dPPpne/6+n8jvFQ6EiQAAA==&quot;"/>
    <we:property name="creatorSessionId" value="&quot;0712a871-3042-49a9-a729-c6e7002baea1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91aWVPcRhD+K1t6yctWam7N8Iaxc1R8EHAlDylqq2emBUq0q42kBRMX/z2tAwPrXS9WDCZ+AWmOnj6/7h7t+yTm9bKAy9cwx2QveYk1/oN5OMPFRCfTZNEPP3vz5pdX+0e/zF7vv3pBw+WyyctFney9TxqoTrH5La9XULREaPCPk2myrIhSdY6v8aKfo7+5z4u8uUz2mmqF0wSK4hBO2w0ZFDUNLLGqywUU+T/Y76n7pVfTBN8ti7KC9tTjBhpsTz6n5fRO7PHvJTEFocnP8RhD048KFpgFbYyFGAJk1mpLy+p+Qcf8xiUt6e74g3LRQL6gY9oxZmIMMU2FManWIqRR63Y8y4tmWOIvX7xbVqQAUsvlslXcfjyHRcCYdCKQTnqO3yevEOpV1cnx4s7EcbmqAh5h1k0tmk5hyWxYXydXpI3DqiRddRM//fzjT5PDssjD5eT4DIhiu+CsvDiokPQUkz12dUIjdb44LQa13kj4tucyQBWHKbKt/5M01MpD28oqYvXsshPpeV5d61ZM17h+SHGIf1rELEbhUlScWW+EYmSzluYnBavPgP7fkamlxTXDaAGdRccMdyxaPpoWuY0EC1KzQE5hA3PqibgFUSBOMU5elnX9zXjHZql6JxFROuWklgy0djq19DjWsJJ7DxIzA8Igw1SAMqNpCZZFZEoFxoGnMYLb7bwNvmt8+W4DtVQwxlCHYLxhBozwOJqzGKRWWQguMINSRW/VTlr5nHD7Y1qKWYkMGHfBGO8oUDkby5fmJKXihimjjZBI8TVa+1r6iIjWQ7CoXAY+7EbuA4qP07LKQ+f2d6P0oCxW88V93fkor//aH3LOmkPTVP5XWePpHBfN5PmLDeE5fTzQuI27E08PPV9fl6kN4f5p3nbjWbGqye4YezMeEMnmnsjG15HtIT3h6uS6pqF1f96qWgbX7Ll7SA5O+vBBFoPWGcUz0wAhFVGPhQhjiIrlOuWpyzRnGj0fny2/mOwVTc0ihrzYlCEf0dv3qaglxU3eXiDGHCeHtGhyWOE8X82/tq8/koyP7PZ3TX8yeCl4620mpASjg2eCmSdS0w0YfVCuRoLf0yrm1sTpqzjLXHQsM86x1PLUsMjj2NxvyYRRZJwaByYEZ1yq9BFz//N8foSn7ZJ1tO1Gu657hBVr0hpWd6RN5kiNePsQoYFOmmV/XI79fBm7aeyEfZ+8zEkBPe3foFi1ZL97TjtiebH4rrXFYI2NsdjtqEdE4v0U0oehTZU2UWptKEtYpOfgHtF2vW+u8+nLxaqezUn+elbfo0B6aH5iRdapZgSos9OqXC2/rfy1zM/L5i34AsfC1QPpeHuW6s4bExqf4290+lF58eVO2SDhdQwCmqCFgGiVAEMNrB+LxU56xbhgOnUorVQYze6ebksh6ZTAkHGnA3WdKuPgEZ5Iir7TsXwDOXpdnj4tOBuiZKmQ1suoAoCB/3ClQeYTmgdyDKaDCEzIdDe1La4ByHxKzhGDAhW8StN095XGFpf1OqZUN0Rmog4xapla/4gp6P92dTC6LI2Ecs3ndCcP5vIfVaRPown35M3OmohIXbgxTviwuybeGm4UaMYGG7wIRqacAtiMDpHggacpM+A8Y85RuEWxkxZ04j9bNQ0p6mOSmVfKSClD9JR5LON2dAMQpbU6BqYMY5pLZIGNTmARIXPcpwwET4EKUxZ2i7rVCDHj1mjjnTeasmrU6T1MuoUz1JliBMTaG6WlCTZlu2ltwU9EwzmxpKXVWjihKFuP5StT4DMdufasvY2PHgTbjp/D18ZIiSVK5AiQKhEFgXj74W7Asrfl8jW99RS6XuT6OyBhwg9VOe9IDd8z65X/e4UUpetwcXw9Qc+/Xj98itKyJbFWRE2TXvoOaod1s9vrblDmZikByjEWpKT7I0f/0jGxfnsx9FLT6+OzHIuYtIe8+aLA+YGF2f0+2U1bOyV7nHVu0Msubqnp0+qk7b+fYctUp6JFzJuBqZ/XdPUZJfBuLXZsd83G1r0fHGpokB+ipatuGuTbaZS36htChBOguUylShpnKSdEcPImRJ7EV+cbZq1jbbEvVWqN8loJRwXZ4zG7oza54TMowiogzYIOXDEmjA5fSam7mRXSWwc8U5FxxoLxEtgNs0/+BuvDxfQzqJ5E3bcNxr508Xf/C7AOOTdd8JWrpl5CwENY4IaLPrI2LCLG4XnbZV/3o5ukO+S8/W1Oset2sP0pzod7waurfwHL4ESfOyQAAA==&quot;"/>
    <we:property name="isFiltersActionButtonVisible" value="true"/>
    <we:property name="isVisualContainerHeaderHidden" value="false"/>
    <we:property name="pageDisplayName" value="&quot;Risikosegmentierung&quot;"/>
    <we:property name="pageName" value="&quot;20c08a5668adccaf8858&quot;"/>
    <we:property name="reportEmbeddedTime" value="&quot;2026-09-28T07:55:10.397Z&quot;"/>
    <we:property name="reportName" value="&quot;kfz_insurance_risk_dashboard&quot;"/>
    <we:property name="reportState" value="&quot;CONNECTED&quot;"/>
    <we:property name="reportUrl" value="&quot;/groups/me/reports/29d88c2f-6609-42bf-8b21-1f4633a2c345/20c08a5668adccaf8858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1EE04BE-A9FF-43CC-A507-FA8645B0FB8B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+1abW/bSA7+K4a+7BfvYd5f+q11u4cDer1cU+x9OBQFZ4ZKtJUtnyQ3zRb570tJTtOmduUqSZPdKxAE1syI4pAPyUccfchS0axLOH8BS8weZc+xwd+xiKe4mulsnq2GYedszmLwjHMXbeLeOKTZat0W1arJHn3IWqhPsP21aDZQdrJo8L+v59m6JoH1O3yBZ8Mc/S9CURbtefaorTc4z6Asj+CkuyGHsqGBNdZNtYKy+B2He5ph6cU8w/frsqqhe+pxCy12T35Hy+matOR/k6QUxLZ4h8cY22E0BIeeuZQz4N5B9CgELWuGBb3yO5d0ovvHL6pVC8WKHtONMSlcLnXOLDiZdIIUUzfeFKuTcqvw1b2vzted/ZpTWPcGC7/RYzs5Fxe0HaaVSRpUSlxI5pQWyEdltfi+DdX7HdJy7nW0zmklhWUqSOW6u/OibLfKh/Nn79c1uYYcNkh7nN7BKmLKeuOStwZbfsgWVblZ9r+efTZ+XG3qiC8x76dWbe/J7GXRvH28NWiny1FdkRv7qZqm3iSMRYn91Gl1tqiRnEdmYxfzcU3+idBsajxUlTfb9V8o8uoMMRU4IyFkNkyz51XT3K9Ki81yU0KH18+1mh2fQr3LXK9p5KvoKAmoi3LTkMcxDT5cVMtQLUhg+zlm6KJOWD857/HwtKgvQ4bPr+3qrj1w8foybGnxb58E5oL2fVLVg4Z3hMjXffBwBgls4CoqZizkMjL7I3i+PXhGARqvgfMHLr+OS8W0YZJ3fx689ABharnhxrBERUuCdlw6Kwjso7KKJRXnHbJsrr0XJibrlHGMFDTT4+W2HHlEuCp6Dx5VdZtXZVHNjmjhjCaWxWY5CbBQp+3UYTAVdwXTA3bXoWaeCe44sGQSkMtTslqBn84rBKKMkittBZfWGDSRTYWglAYY6ROZFlwL4ZmRUyEoia+5QISNI1PKcmkSTtVLSRbzxCwmdJwiLm3T/zSLKVA8JmLK0rrkuA/Ri9Hg2OaUIvZAu6N6QlPF26rBkyWu2tnTZ/dbVK4AfYxE47vVD0SfqwD7pcb/bXAVd6l2u2zsO1aaHTAYyo3mlgmAqHxCEMny4NUP5H6JlMcEV0pKs1dn1c/0Jkq/RsrMveg2sJqbFsAexDehabdLkLYQ+P70bH/QCEbFx+aYILFEJU3IeP9c6AqaN+fsD4YC7d/UwHy0Fo6L5KUJDGNIEpn+jvnrabF8iSfdkuvY6Uf7JtsE+zdlEbH+zPbZEuuT3p4JWuh3sx4eV+AwXw1sCPvNfsieF2SAQfavUG46sT89pTtSdbb6qbPf1oI7A6q/o5kQTocZZBtG0TmhFAcwUnmvGHg3lc8ZhoHqWB4dVTRg9DavxznrXj5nuAmJCS0oygOEPOWe70fVtmdqbBSO7gjOOxMlRA9dsG8x96pav6CrQUJv4ss2JsXOL3W17EVtu7LNJhAHoXx2PayOLyfo978vf3xNUgeinblung1G6CvVdvGbTxdfheTVUsq/x1iSpQ5HxnDRa/Jlen1LZarK+9ff+aUSeYFlyrpH/etWc81HRd58SzeA3EYFjvWoGKwgPjHYAdYlGf85xU673mKrVLRb7f5xzXTfEG6HGrXfAYQS90v4CLVtRrhLPvepZn+p1tYTqL+FMN1htXwQfa3rIBxyqgGUmCg/eqY4vS8bD5OzPSXXXHtlWWTJQVAgJ3cCrONE5QxIHzUkqzlj4x2KfbK8ytEI76wQXhtL5FBPleUCl1HmGk2kV7PAhOHjzbu9Fc3lUclgWVdlgVtFZc1M1cxrCc5JkuFC12vyKY6fYu2TZcCQKFCBs0DkTTLF7p9K33pf4OEQ6rGtbUmhzInFoHfaseB4QMDJcAEKity5nKUomEhOEXCmAxnQWZUHA84rHmwQAscbd3saikEKFWQuolXgJdcyqfGUtFezIIOh6GIscI3A0Ec5OfhDQG6tiInCgSvWnVc/gLC4vcL5YMJhf8Xs3RCDsylwmxgHZ1RCNRlsUXEvTDKcp8RYsi7YG/Too1M5p+rQ9f2prEqpzA3O/m/bmn/Fw5jRvQ2QiZF7y2N0zJOLwQSL45+L7HdzzG1KyJAlTD56Fg84itkrLTGjZaSirbURvPtiBMbhDL1hn2zalsz2pUgZo0UjNfeomSb5OJk9JcWZFyqXJgnOg3ZmOPp8KFxgUUKxnC2qTd+M/BNDed+WBgSj9pyqoRQumRQxz5OTo274PzwSuLVq2NaIS1gfdDz097rarL9TmztnlCe4Ddo7Y03SVArHK9ae6pcLIkTKRie4V1HTexGb+BVdL25XX7TatM0aIh7BCnf0RwkEsEpDMv5Kj7T/JvFje/Ti4g/66eu5MSkAAA==&quot;"/>
    <we:property name="creatorSessionId" value="&quot;22c7b7d5-1ced-481c-900b-2d1c3e0e0aca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2/cxg7+K4Ze+uJTzP2SN2eTFkVzceOg56EIDM4MZavRrraS1o4b+L8fSlrHibMbObIduz0BAkc7M6I45EfyE0fvs1Q0yxLOXsAcs0fZM2zwbyziMS52dLabLYbhxy9f/vp879Wvhy/2nj+l4WrZFtWiyR69z1qoj7D9vWhWUHZCaPCPN7vZsiZJ9Qm+wNNhjv4WoSiL9ix71NYr3M2gLPfhqLshh7KhgSXWTbWAsvgbh3uaYen5bobvlmVVQ/fUgxZa7J58QsvpN6nHf5SkFMS2OMEDjO0wGoJDz1zKGXDvIHoUgpY1w4Je+Y1LOtH942fVooViQY/pxpgULpc6ZxacTDpBiqkbb4rFUblW+PLe12fLznDNMdD/ZLDwJz22k3N+TtthWpmkQaXEhWROaYF8VFaL79pQvdsgLedeR+ucVlJYpoJUrrs7L8p2rXw4e/puWZNryGGDtL10AouIKeuNS94abPk+m1Xlat5fPf1k/KBa1RFfYd5PLdrek9mronm7tzZop8t+XZEb+6mapg4TxqLEfuq4Op3VSM4js7Hz3XFNniM0qxqvq8rhev1nirw+RUwF7pAQMhumnWdV09yvSrPVfFVCh9dPtdo5OIZ6k7ne0MgX0VESUGflqiGPYxp8OKvmoZqRwPZTzNCPOmH9+KzHw5OivggZvntlV3ftgfM3F2FLi//8KDBntO+jqh40vCNEvumDhzNIYANXUTFjIZeR2e/B8/XBMwrQeAWc33H5ZVwqpg2TvPvnwUsPEKaWG24MS1S0JGjHpbOCwD4qq5hTcd4gy+bae2Fisk4Zx0hBMz1ebsuR+4SrovfgflW3eVUW1c4+LdyhiXmxmk8CLNRpPXU9mIq7guk1dtehZjcT3HFgySQgl6dktQI/nVcIRBklV9oKLq0xaCKbCkEpDTDSJzItuBbCMyOnQlASX3OBCBtHppTl0iScqpeSLOaJWUzoOEVcWqf/aRZToHhMLlppXXLch+jFaHCsc0oRe6DdUT2hqeJt1eDRHBftzpOn91tULgF9gETju9UPRJ/LAPupxr9WuIibVLtdNvYNK80GGAzlRnPLBEBUPiGIZHnw6jtyP0fKHsGVktLO69PqP/QmSlcjZeZedBtYzU0LYA/im9C02yVIawh8e3q2PWgEo+Jjc0yQWKKSJmS8fy50Cc2bc/YHQ4G2b2pgPloLx0Xy0gSGMSSJTH/D/PWkmL/Co27JVez0o313bYL9m7KIWH9i+2yO9VFvzwQt9LtZDo8rcJivBjaE/WbfZ88KMsAg+3coV53YH57QHak6XfzQ2W9twY0B1d/RTAin6xlkHUbROaEUBzBSea8YeDeVzxmGgepYHh1VNGD0Nq/HOetWPme4CYkJLSjKA4Q85Z5vR9W6WWpsFI7uCM47EyVED12wrzH3ulq+oF+DhN7EF21Mip2f6mrei1q3Y5tVIA5C+exqWB1cTND1bxcXX5LUgWhjrtvNBiP0lWq9+PDjxZchebmU8u8BlmSp6yNj+NFr8nl6fUtlqsr719/dCyXyAsuUdY96eau55oMih1/TDSC3UYFjPSoGK4iPDHYN65KM/x5jp11vsUUq2rV2v1wx3VeE23WN2u8AQonbJXyA2joj3CWf+1izf1Vr6zHUX0OY7rBaPoi+1lUQDjnVAEpMlB89U5zel42HydmekmuuvbIssuQgKJCTOwHWcaJyBqSPGpLVnLHxDsU2WV7laIR3VgivjSVyqKfKcoHLKHONJtKrWWDC8PHm3daK5vKoZLCsq7LAraKyZqZq5rUE5yTJcKHrNfkUx0+xtskyYEgUqMBZIPImmWL3T6VvvS/wcAj12NbWpFDmxGLQO+1YcDwg4GS4AAVF7lzOUhRMJKcIONOBDOisyoMB5xUPNgiB4427LQ3FIIUKMhfRKvCSa5nUeEraqlmQwVB0MRa4RmDoo5wc/CEgt1bEROHAFevOqx9AWNxe4Xww4bC9YvZuiMHZFLhNjIMzKqGaDLaouBcmGc5TYixZF+wNevTRqZxTdej6/lRWpVTmBmf/t23Nf+NhzOjeBsjEyL3lMTrmycVggsXxz0W2uznmNiVkyBImHz2L1ziK2SotMaNlpKKttRG8+2IExuEMvWEfr9qWzPa5SBmjRSM196iZJvk4mT0lxZkXKpcmCc6DdmY4+nwoXGBWQjHfmVWrvhn5D4byti0NCEbtOVVDKVwyKWKeJydH3fB/eCRwa9WwrRHnsLzW8dDPdbVafqM2d84oT3AbtHfGmqSpFI5XrC3VLxdEiJSNTnCvoqb3IjbxK7pe3Ka+aLVqmyVE3IcFbuiPEghgkYZk/IUeaf9NYtY/5KT7dLEca6p2Xyp+aKeen/8P+kW7JFopAAA=&quot;"/>
    <we:property name="isFiltersActionButtonVisible" value="true"/>
    <we:property name="isVisualContainerHeaderHidden" value="false"/>
    <we:property name="pageDisplayName" value="&quot;Erwarteter Schaden &amp; Schadenbedarf&quot;"/>
    <we:property name="pageName" value="&quot;bb8e908df0a198ac9e22&quot;"/>
    <we:property name="reportEmbeddedTime" value="&quot;2026-09-28T07:56:29.991Z&quot;"/>
    <we:property name="reportName" value="&quot;kfz_insurance_risk_dashboard&quot;"/>
    <we:property name="reportState" value="&quot;CONNECTED&quot;"/>
    <we:property name="reportUrl" value="&quot;/groups/me/reports/29d88c2f-6609-42bf-8b21-1f4633a2c345/bb8e908df0a198ac9e22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8DB6695A-2585-48F1-B0C4-49EBB1662543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71B2A&quot;"/>
    <we:property name="bookmark" value="&quot;H4sIAAAAAAAAA91ZWW/cRhL+KwMCi7wIi74Pv8myvVisYiiebPKwMIzq7uKIWYockBxZiqH/niI5siNpxiMzOiZ+maO7WfzqPvpTlop2WcLlWzjD7EV2jC3+jkU8xWqms4OsGpeFYIknzjhywSVwxpij3XrZFXXVZi8+ZR00C+x+KdoVlD0tWvzf+4Ns2RDB5hzf4sdxjz6LUJRFd5m96JoVHmRQliew6B/IoWxpYYlNW1dQFr/j+Ew7Hr06yPBiWdYN9G+dd9Bh/+ZzOk7/CSX/pyRQELviHOcYu3EVJCYucrSGOSmsBJcrOtaOBwbwG4/0pIfXH9VVB0VFr+nXWHKAOaK2HCAlYYOS/XpelN36SLh8fbFsSAAklstlL78jwrqomyJCmQ1ckFhG0J+yo7pcnQ2/Xt9Yn9erJuI7zIetqhtElv1YJyx/IeGkQQrZFUnlpKlJZl+2h8XT+uNRg/TelL1gVwefoRymc6gird7GcbhYNLgYqd4B86AgT+qmy+uyqGev8Lz4cuTNqlorjd3l4D2ttEW1KNdG8UU/P4+MxXLVkgYwvYTm6BSarjfQ8BupuVcKPV03CZuXl4NeXhXNtYGIg1s87Zkgrt5f2zQ9+dufrHZtVCNDj2JF76/6DYbJ8giMM2MYQNTaQk/tq9poT4G+b2igp8WD9BCF98pCoCgC3uJOWjDw/HLVdQT1DknBjcsTqCS8sM4Gr1WcCk9YbmXgLEUdvY+BOZ+m0wqgnMiNdNzYQFSjmUwLTPLAU2I+9cIz8h5i6/CiC/XFXWpKSOOi04lzzTgI4QKbisyYpGKSTGqmmIsS1F+gZS1n2ieHVlOEciGB3xlat8azHxHaVYP3dYkP6/PtbWd49dPs6BTj/2dH9arqNsTW3ZEJmrTemhiSHo2X3sUPMit57h0no7LcSyUYOeleCP7N4b+PvxO532BlLXab2xgxN+QzTufWWpeeX+zHJN+2m72CDmbjow8p+4HvkOe55xy9ZZqJELz8ip+vS1B0aFDnPmpAr7wF0ECkH7zA6vn+iWD3/25JpqWSc9VOkUZbFhGbG5LIzpAq5v4H5WAYOF2Orypw3Kck3H/jIIhP2XFBwhlpU+Ze9WR/eAltEX/oDWooE1osr035Drm2I+l08wHlfDi3g/hQja9JX233GX7bZx5e3FsroAFqO6H+uc9bx+LHpqgkmRszSDWQ1JFzPzW/WTQhmJgnxkwuo4gmhelZ3FGUNjnPWUzKCO29cOz5owdFul8P3739ToL2DVZGN/AuBBRa9LErItXDCHK6EqmWS1okbamhJnrRB7RTzctjjyhGZxKLzClEtwdZfJ1OToolltREz+aTg+jXUgoYMMqFXAQRmdbRBDa5CQAfTIpglVI8CREwmt0lbXEGi020UhDacHCcSWtccsrubgK20UKtgfom2XcC9Ellt9s//b5bVbP//nz0JK5/J/c8PlNjEIA8YK5t3xHHnBmQ1APtVMXfYQj0oDioOhnFN0w3qo2F5FNjGrb3CdC2GdDzovpXURVTXLiDUOLri6mp+1HcYHTZoFIehZPSW2ENj4y73Xl7S4YIGqIxDJmnJCsQrYq7J2Jba4DgIlWDXqOg3M2kZBzN88d1qn5ODufz76SQu8HK2iACQ/AiaBsE54wFh5PHmoF62JhiBCOTFEIxFtVkWskIZyUXFhg4IZEobjeH6+6YChXDUn8rkbwMQiShvnTHfzKWkcrQPF3fm5Dc3zT12UBufQ3Un9zYLB1kI3jW92S/nmKvnaH7qlLRfXbisyU0RXv733+KKg05+xjzofn864P29XyiB3xL55DnJFRMH5r6Y7vpduFdsTjttrS+7Pi6733ES5Kv9KA7wW9LDk8yBvk8RDyG0OfS15Oiwx7e1kzXyGPc0XyjBsZxRTSUjsAwZhOPiSdp9e5AtDUzxSA8AlF0wodoLBdeTO1eEmNaMY9cusAhWiXZ7nC7jZYGznyQTGn00VDi3IdOd47n2NAZyjP0g4DP/vH3zpubGRqzZ/JMGiMDOuaMZoDiHnOxrYaGzqBnjtvglKDkyYzbbWhb8ieGXCMLjEwErE0qKtzdJu9N4HziWN7PnlvsPgxlxLOj2Tpgf2oca8N/ikbsm5LOHmBZxkndwJM2ht/og2NEy8GnmCuPqBxEpxTayWO/POa5MNYLikSCaUu5bvI4MkflI0/M2AQuMZlUmo6LYEkRknQ8aKE1dRkTb+sHcptus+pV1y4h4glUuOEaiswTqoRp/ft+l09XV38AbQR7GagmAAA=&quot;"/>
    <we:property name="creatorSessionId" value="&quot;bfb1aaa2-5089-4687-87ef-de3d6a53c734&quot;"/>
    <we:property name="creatorTenantId" value="&quot;7db25319-c04d-4699-88f4-84306cdd3f56&quot;"/>
    <we:property name="creatorUserId" value="&quot;1003200556EECD41&quot;"/>
    <we:property name="datasetId" value="&quot;c91504ef-a815-4e8f-900a-74b9f81dc22c&quot;"/>
    <we:property name="embedUrl" value="&quot;/reportEmbed?reportId=29d88c2f-6609-42bf-8b21-1f4633a2c34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91aW2/bRhb+KwKBRV+ExdwvebMdp1jESV2r2z4UQXBm5lBmlxYFknLsBv7ve0jKSX1RlLC+qHmRqOHw8Dv3y+hjlopmWcLlWzjD7EV2hA3+iUU8xcVEZ9NsMSzv//TT6zd7J6/fv917c0jL1bItqkWTvfiYtVDPsf21aFZQdkRo8fd302xZE6X6HN/ih+EefRahKIv2MnvR1iucZlCWxzDvHsihbGhhiXVTLaAs/sThmWbYejXN8GJZVjV0b5210GL35nPaTr8JHv+3JFAQ2+IcZxjbYRUkJi5ytIY5KawElyva1gwbevD3bulI968/qBYtFAt6TbfGkgPMEbXlACkJG5Ts1vOibNdbwuXhxbImAZBYLped4A4I67yqiwhl1nNBYhlAf8wOqnJ11l8d3lifVas64gnm/a1F24sse1MlLH8l4aReCtkVSeW4rkhmn2/3i6fVh4Ma6b0pe8Gupp+g7KVzWERavY1jbz6vcT5QvQPmQUEeV3WbV2VRTV7iefF5y6vVYq00dpeDd7TSFIt5uTaKz/r5ZWAslquGNIBpH+qDU6jbzkDDH6TmTin0dFUnrPcve728LOprAxHTWzztmCCu3l3bND35x1+sdm1UA0OPYkXvrrobDJPlERhnxjCAqLWFjtoXtdGcAn3f0EBHiwfpIQrvlYXAGANvcSst6HneX7UtQb1DUnDj8gQqCS+ss8FrFcfCE5ZbGThLUUfvY2DOp/G0AignciMdNzYQ1WhG0wKTPPCUmE+d8Iz8CrG1eNGG6uIuNSWkcdHpxLlmHIRwgY1FZkxSMUkmNVPMRQnqb9CyljPtk0OrKUK5kMBvDa0b49kbhGZV49e6xPv1/ua2M7z8eXJwivF/k4NqtWjvia3bIxPUaX1rZEh6NF46F59mVvLcO05GZbmXSjBy0p0Q/Ku9/xx9J3K/wcpa7Da3MWJuyGeczq21Lj2/2I9Ivk07eQktTIZHH1L2Pd8hz3PPOXrLNBMhePkFP1/XnujQoM591IBeeQuggUg/eIHV8f0zwe5+3ZJMQyXnqhkjjaYsItY3JJGdIVXM3QXlYOg5XQ6vKnC4T0m4+8ZeEB+zo4KEM9CmzL3qyP6wD00Rf+gMqi8TGiyvTfkOuaYl6bSzHuWs37eFeF+Nr0lfbfYZfttnHl7cGyugHmozov75mrcOxY9NUUkyN2aQaiCpI+d+bH6zaEIwMU+MmVxGEU0K47O4oyhtcp6zmJQR2nvh2PNHD4p0v+2dvP1OgvYNVgY38C4EFFp0sSsi1cMIcrwSqZZLWiRtGXNEL/qAdqx5eewQxehMYpE5heh2IIuv08lxscSSmujJbHQQ/VJKAQNGuZCLICLTOprARjcB4INJEaxSiichAkazvaQtzmB+H60UhDYcHGfSGpecstubgE20UGugvkl2nQB9Utntdk+/J6vF5L+/HDyJ69/JPY/P1BAEIA+Ya9t1xDFnBiT1QFtV8U8YAj0oDqpOBvH1043FvYXkU2Pqb+8SoE0zoOdF9WOxKMa4cAuhxMOLsan7UdxgcNmgUh6Fk9JbYQ2PjLvteXtDhggaojEMmackKxCtitsnYhtrgOAiVYNeo6DczaRkHM3zx3Wqfo73ZrPvpJC7wcraIAJD8CJoGwTnjAWHo8eagXrYmGIEI5MUQjEW1WhayQhnJRcWGDghkShuNofr7pgKFcNSdyqRvAxCJKE+d8d/MZaBSt88XZ+bkNxf1dVZT259/tPtvLdZmmYDeNb1ZL+dYqedvvtapKL95MRnS6iL5vav18Ui9Tn7CPO++fz7g/b1fKIDfEvnkOckVEzv6+pDc9/pwkkxP203tL7s6LrvfcRDki/0oFvBb0oOTzIG+TREPILQ5dLDUdFhB09rxmvkMc5ovlEDw7giGkpHYBizicfEk7R6eyDamJliEB6BKDrhQzSWCy/Gdi+JMa2YRy5d4BCtkmx7uN1ESwNnPkimNPpoKHHuQqc7w3OsaQ/lGbog4JN//bPz5v0MDdkzeSaNkQEdc0YzQPEVc7GNhobOoGeO2+CUoOTJjNtuaBvyJ4ZcIwuMTASsTSoq3N4m70zgfOJY3s2eG2zf92XEs6PZOGB/ahxrw3+KRuybks4OYFnGUd3AkzaG3+iDQ0TLwaeYK4+oHESnFNrRY7885rkw1guKRIJpS7lu9DgyR+UjT8zYBC4xmVQaj4tgSRGSdDxooTV1GSNP63ty951mVau2WULEY1jgPcdQZJ6wSJjW11sPn6YdloJsZ8sD3R/EPh1WXV39H16LFcXRJgAA&quot;"/>
    <we:property name="isFiltersActionButtonVisible" value="true"/>
    <we:property name="isVisualContainerHeaderHidden" value="false"/>
    <we:property name="pageDisplayName" value="&quot;Datenqualität &amp; Modellvalidierung&quot;"/>
    <we:property name="pageName" value="&quot;a3ed12fe76083273a8f4&quot;"/>
    <we:property name="reportEmbeddedTime" value="&quot;2026-09-28T07:58:27.916Z&quot;"/>
    <we:property name="reportName" value="&quot;kfz_insurance_risk_dashboard&quot;"/>
    <we:property name="reportState" value="&quot;CONNECTED&quot;"/>
    <we:property name="reportUrl" value="&quot;/groups/me/reports/29d88c2f-6609-42bf-8b21-1f4633a2c345/a3ed12fe76083273a8f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2171</Words>
  <Application>Microsoft Office PowerPoint</Application>
  <PresentationFormat>Breitbild</PresentationFormat>
  <Paragraphs>521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Arial</vt:lpstr>
      <vt:lpstr>Consolas</vt:lpstr>
      <vt:lpstr>Segoe UI</vt:lpstr>
      <vt:lpstr>Segoe UI Semibold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Kfz Insurance Risk &amp; Pure Premium Intelligence Platform – Abschlusspräsentation</dc:title>
  <dc:subject>Abschlusspräsentation</dc:subject>
  <dc:creator>Mesut Karagöz</dc:creator>
  <cp:lastModifiedBy>Mesut Karagöz</cp:lastModifiedBy>
  <cp:revision>9</cp:revision>
  <dcterms:created xsi:type="dcterms:W3CDTF">2026-09-17T11:11:13Z</dcterms:created>
  <dcterms:modified xsi:type="dcterms:W3CDTF">2026-10-11T09:18:51Z</dcterms:modified>
</cp:coreProperties>
</file>